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prototipos/00-sistema-diseno/identidad-visual.md; información académica T04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docs/00-definicion/01-problema-objetivos.md; docs/00-definicion/02-alcance-supuestos.md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docs/00-definicion/01-problema-objetivos.md; docs/02-procesos/00-flujo-general.md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docs/00-definicion/02-alcance-supuestos.md; docs/03-requisitos/01-requisitos-funcionales.md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docs/01-negocio/02-actores-responsabilidades.md; diagramas/01-casos-uso-actores/UC-01 a UC-04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docs/02-procesos/00-flujo-general.md; diagramas/02-casos-uso-procesos/UC-05 a UC-10; diagramas/04-secuencias-automaticas/AUT-01-matching.puml; AUT-02-ingesta-externa.puml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docs/01-negocio/03-reglas-negocio.md; docs/05-analisis/02-estados-transiciones.md; diagramas/03-secuencias-casos-uso/ong/CU-ONG-06-autorizar-salida.puml; brigada/CU-BRI-04-confirmar-retiro.puml; comuna/CU-COM-04-recepcion-discrepante.puml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docs/07-datos/00-diagrama-er-global.md; docs/07-datos/01-identity.md; 02-shelter.md; 03-inventory.md; 04-logistics.md; 05-territory.md; diagramas/05-estructura/EST-01-clases-dominio.puml
Se omiten entidades de detalle, catálogos y campos para conservar legibilidad. Las cardinalidades proceden del ER global, no del diagrama conceptual de clases. Usuario-Comunidad: una comunidad puede tener 0..1 jefe en configuración; funcionalmente cada comunidad operativa tiene un jefe. Referencias entre módulos son UUID lógicos sin FK física.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docs/07-datos/06-integridad-transaccional.md; prototipos/00-sistema-diseno/escenario-demostracion.md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docs/06-arquitectura/01-arquitectura-logica.md; docs/06-arquitectura/02-decisiones-arquitectonicas.md; diagramas/05-estructura/EST-02-paquetes.puml; EST-03-componentes.puml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docs/12-infraestructura/01-topologia-cloud.md; docs/12-infraestructura/03-servidor-web-cloud.md; diagramas/05-estructura/EST-04-despliegue.puml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docs/12-infraestructura/02-base-datos-cloud.md; docs/07-datos/README.md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docs/08-comunicaciones/01-navegador-servidor.md; docs/08-comunicaciones/02-contratos-api.md; docs/08-comunicaciones/03-seguridad-comunicaciones.md; diagramas/03-secuencias-casos-uso/comuna/CU-COM-01-registrar-solicitud.puml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docs/09-interfaz/01-navegacion-roles.md; docs/09-interfaz/02-especificacion-interfaces.md; docs/09-interfaz/03-visualizacion-cartografica.md; prototipos/00-sistema-diseno/identidad-visual.md; MK-02; MK-09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prototipos/01-solicitud/MK-02-registro-solicitud.png; prototipos/00-sistema-diseno/escenario-demostracion.md; docs/09-interfaz/02-especificacion-interfaces.md
El PNG se utiliza sin editar controles ni datos. Se recorta el área de trabajo para mejorar su legibilidad. Anotaciones nativas editables.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prototipos/02-matching/MK-04-propuesta.png; prototipos/00-sistema-diseno/escenario-demostracion.md; docs/09-interfaz/02-especificacion-interfaces.md
El PNG se utiliza sin editar controles ni datos. Se recorta el área de trabajo para mejorar su legibilidad. Anotaciones nativas editables.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prototipos/03-autorizacion/MK-05-autorizacion.png; prototipos/00-sistema-diseno/escenario-demostracion.md; docs/09-interfaz/02-especificacion-interfaces.md
El PNG se utiliza sin editar controles ni datos. Se recorta el área de trabajo para mejorar su legibilidad. Anotaciones nativas editables.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prototipos/04-traslado/MK-07-ruta-traslado.png; prototipos/00-sistema-diseno/escenario-demostracion.md; docs/09-interfaz/02-especificacion-interfaces.md
Cartografía del prototipo: esquema por sectores sin escala, sin GPS en vivo ni coordenadas reales. La llegada se explica como el paso posterior al corte capturado.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prototipos/06-supervision/MK-09-mapa-territorial.png; prototipos/00-sistema-diseno/escenario-demostracion.md; docs/09-interfaz/02-especificacion-interfaces.md
El PNG se utiliza sin editar controles ni datos. Se recorta el área de trabajo para mejorar su legibilidad. Anotaciones nativas editables.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locales: prototipos/06-supervision/MK-10-informe-final.png; prototipos/00-sistema-diseno/escenario-demostracion.md; docs/09-interfaz/02-especificacion-interfaces.md
Informe publicado tras el evento preconfigurado del 20 de octubre de 2026 a las 18:00; publicación 18:01. No es un cierre ejecutado desde Defensa Civil. Una recepción conforme y otra con observaciones, 118 bidones recibidos/conformes, 80 frazadas físicas y 78 conformes. La brecha de satisfacción es 2 por producto, distinta de demanda nunca autorizada (0) y compromisos pendientes (0).
Presentación académica de diseño. Los registros de demostración son ficticios. Fecha académica solicitada: 13 de octubre de 2026; los cortes operativos de los mockups corresponden al 18 y 20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01</a:t>
            </a:r>
            <a:endParaRPr lang="en-US" sz="1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4632" y="1417320"/>
            <a:ext cx="585216" cy="643738"/>
          </a:xfrm>
          <a:prstGeom prst="rect">
            <a:avLst/>
          </a:prstGeom>
        </p:spPr>
      </p:pic>
      <p:sp>
        <p:nvSpPr>
          <p:cNvPr id="6" name="Text 2"/>
          <p:cNvSpPr/>
          <p:nvPr/>
        </p:nvSpPr>
        <p:spPr>
          <a:xfrm>
            <a:off x="457200" y="402336"/>
            <a:ext cx="10789920" cy="457200"/>
          </a:xfrm>
          <a:prstGeom prst="rect">
            <a:avLst/>
          </a:prstGeom>
          <a:noFill/>
          <a:ln/>
        </p:spPr>
        <p:txBody>
          <a:bodyPr wrap="square" lIns="0" tIns="0" rIns="0" bIns="0" rtlCol="0" anchor="ctr"/>
          <a:lstStyle/>
          <a:p>
            <a:pPr indent="0" marL="0">
              <a:buNone/>
            </a:pPr>
            <a:r>
              <a:rPr lang="en-US" sz="2300" b="1" dirty="0">
                <a:solidFill>
                  <a:srgbClr val="123D4B"/>
                </a:solidFill>
                <a:latin typeface="Segoe UI" pitchFamily="34" charset="0"/>
                <a:ea typeface="Segoe UI" pitchFamily="34" charset="-122"/>
                <a:cs typeface="Segoe UI" pitchFamily="34" charset="-120"/>
              </a:rPr>
              <a:t>Universidad Nacional de Piura (UNP)</a:t>
            </a:r>
            <a:endParaRPr lang="en-US" sz="2300" dirty="0"/>
          </a:p>
        </p:txBody>
      </p:sp>
      <p:sp>
        <p:nvSpPr>
          <p:cNvPr id="7" name="Text 3"/>
          <p:cNvSpPr/>
          <p:nvPr/>
        </p:nvSpPr>
        <p:spPr>
          <a:xfrm>
            <a:off x="457200" y="914400"/>
            <a:ext cx="10789920" cy="365760"/>
          </a:xfrm>
          <a:prstGeom prst="rect">
            <a:avLst/>
          </a:prstGeom>
          <a:noFill/>
          <a:ln/>
        </p:spPr>
        <p:txBody>
          <a:bodyPr wrap="square" lIns="0" tIns="0" rIns="0" bIns="0" rtlCol="0" anchor="ctr"/>
          <a:lstStyle/>
          <a:p>
            <a:pPr indent="0" marL="0">
              <a:buNone/>
            </a:pPr>
            <a:r>
              <a:rPr lang="en-US" sz="1900" dirty="0">
                <a:solidFill>
                  <a:srgbClr val="4B6673"/>
                </a:solidFill>
                <a:latin typeface="Segoe UI" pitchFamily="34" charset="0"/>
                <a:ea typeface="Segoe UI" pitchFamily="34" charset="-122"/>
                <a:cs typeface="Segoe UI" pitchFamily="34" charset="-120"/>
              </a:rPr>
              <a:t>Curso: Ingeniería de Software</a:t>
            </a:r>
            <a:endParaRPr lang="en-US" sz="1900" dirty="0"/>
          </a:p>
        </p:txBody>
      </p:sp>
      <p:sp>
        <p:nvSpPr>
          <p:cNvPr id="8" name="Text 4"/>
          <p:cNvSpPr/>
          <p:nvPr/>
        </p:nvSpPr>
        <p:spPr>
          <a:xfrm>
            <a:off x="1261872" y="1371600"/>
            <a:ext cx="9875520" cy="749808"/>
          </a:xfrm>
          <a:prstGeom prst="rect">
            <a:avLst/>
          </a:prstGeom>
          <a:noFill/>
          <a:ln/>
        </p:spPr>
        <p:txBody>
          <a:bodyPr wrap="square" lIns="0" tIns="0" rIns="0" bIns="0" rtlCol="0" anchor="ctr"/>
          <a:lstStyle/>
          <a:p>
            <a:pPr indent="0" marL="0">
              <a:buNone/>
            </a:pPr>
            <a:r>
              <a:rPr lang="en-US" sz="4400" b="1" dirty="0">
                <a:solidFill>
                  <a:srgbClr val="123D4B"/>
                </a:solidFill>
                <a:latin typeface="Segoe UI" pitchFamily="34" charset="0"/>
                <a:ea typeface="Segoe UI" pitchFamily="34" charset="-122"/>
                <a:cs typeface="Segoe UI" pitchFamily="34" charset="-120"/>
              </a:rPr>
              <a:t>Alivía</a:t>
            </a:r>
            <a:endParaRPr lang="en-US" sz="4400" dirty="0"/>
          </a:p>
        </p:txBody>
      </p:sp>
      <p:sp>
        <p:nvSpPr>
          <p:cNvPr id="9" name="Text 5"/>
          <p:cNvSpPr/>
          <p:nvPr/>
        </p:nvSpPr>
        <p:spPr>
          <a:xfrm>
            <a:off x="457200" y="2350008"/>
            <a:ext cx="10789920" cy="1060704"/>
          </a:xfrm>
          <a:prstGeom prst="rect">
            <a:avLst/>
          </a:prstGeom>
          <a:noFill/>
          <a:ln/>
        </p:spPr>
        <p:txBody>
          <a:bodyPr wrap="square" lIns="0" tIns="0" rIns="0" bIns="0" rtlCol="0" anchor="ctr"/>
          <a:lstStyle/>
          <a:p>
            <a:pPr indent="0" marL="0">
              <a:buNone/>
            </a:pPr>
            <a:r>
              <a:rPr lang="en-US" sz="2900" dirty="0">
                <a:solidFill>
                  <a:srgbClr val="123D4B"/>
                </a:solidFill>
                <a:latin typeface="Segoe UI" pitchFamily="34" charset="0"/>
                <a:ea typeface="Segoe UI" pitchFamily="34" charset="-122"/>
                <a:cs typeface="Segoe UI" pitchFamily="34" charset="-120"/>
              </a:rPr>
              <a:t>Análisis y diseño de un sistema de coordinación</a:t>
            </a:r>
            <a:endParaRPr lang="en-US" sz="2900" dirty="0"/>
          </a:p>
          <a:p>
            <a:pPr indent="0" marL="0">
              <a:buNone/>
            </a:pPr>
            <a:r>
              <a:rPr lang="en-US" sz="2900" dirty="0">
                <a:solidFill>
                  <a:srgbClr val="123D4B"/>
                </a:solidFill>
                <a:latin typeface="Segoe UI" pitchFamily="34" charset="0"/>
                <a:ea typeface="Segoe UI" pitchFamily="34" charset="-122"/>
                <a:cs typeface="Segoe UI" pitchFamily="34" charset="-120"/>
              </a:rPr>
              <a:t>y trazabilidad de ayuda humanitaria</a:t>
            </a:r>
            <a:endParaRPr lang="en-US" sz="2900" dirty="0"/>
          </a:p>
        </p:txBody>
      </p:sp>
      <p:sp>
        <p:nvSpPr>
          <p:cNvPr id="10" name="Shape 6"/>
          <p:cNvSpPr/>
          <p:nvPr/>
        </p:nvSpPr>
        <p:spPr>
          <a:xfrm>
            <a:off x="457200" y="3694176"/>
            <a:ext cx="11247120" cy="0"/>
          </a:xfrm>
          <a:prstGeom prst="line">
            <a:avLst/>
          </a:prstGeom>
          <a:noFill/>
          <a:ln w="12700">
            <a:solidFill>
              <a:srgbClr val="D6E3E9"/>
            </a:solidFill>
            <a:prstDash val="solid"/>
            <a:headEnd type="none"/>
            <a:tailEnd type="none"/>
          </a:ln>
        </p:spPr>
      </p:sp>
      <p:sp>
        <p:nvSpPr>
          <p:cNvPr id="11" name="Text 7"/>
          <p:cNvSpPr/>
          <p:nvPr/>
        </p:nvSpPr>
        <p:spPr>
          <a:xfrm>
            <a:off x="457200" y="3995928"/>
            <a:ext cx="1078992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Tarea grupal — Análisis y diseño del sistema</a:t>
            </a:r>
            <a:endParaRPr lang="en-US" sz="2000" dirty="0"/>
          </a:p>
        </p:txBody>
      </p:sp>
      <p:sp>
        <p:nvSpPr>
          <p:cNvPr id="12" name="Text 8"/>
          <p:cNvSpPr/>
          <p:nvPr/>
        </p:nvSpPr>
        <p:spPr>
          <a:xfrm>
            <a:off x="457200" y="4617720"/>
            <a:ext cx="1965960" cy="274320"/>
          </a:xfrm>
          <a:prstGeom prst="rect">
            <a:avLst/>
          </a:prstGeom>
          <a:noFill/>
          <a:ln/>
        </p:spPr>
        <p:txBody>
          <a:bodyPr wrap="square" lIns="0" tIns="0" rIns="0" bIns="0" rtlCol="0" anchor="ctr"/>
          <a:lstStyle/>
          <a:p>
            <a:pPr indent="0" marL="0">
              <a:buNone/>
            </a:pPr>
            <a:r>
              <a:rPr lang="en-US" sz="1700" b="1" dirty="0">
                <a:solidFill>
                  <a:srgbClr val="4B6673"/>
                </a:solidFill>
                <a:latin typeface="Segoe UI" pitchFamily="34" charset="0"/>
                <a:ea typeface="Segoe UI" pitchFamily="34" charset="-122"/>
                <a:cs typeface="Segoe UI" pitchFamily="34" charset="-120"/>
              </a:rPr>
              <a:t>Integrantes</a:t>
            </a:r>
            <a:endParaRPr lang="en-US" sz="1700" dirty="0"/>
          </a:p>
        </p:txBody>
      </p:sp>
      <p:sp>
        <p:nvSpPr>
          <p:cNvPr id="13" name="Text 9"/>
          <p:cNvSpPr/>
          <p:nvPr/>
        </p:nvSpPr>
        <p:spPr>
          <a:xfrm>
            <a:off x="2743200" y="4562856"/>
            <a:ext cx="8778240" cy="1508760"/>
          </a:xfrm>
          <a:prstGeom prst="rect">
            <a:avLst/>
          </a:prstGeom>
          <a:noFill/>
          <a:ln/>
        </p:spPr>
        <p:txBody>
          <a:bodyPr wrap="square" lIns="0" tIns="0" rIns="0" bIns="0" rtlCol="0" anchor="ctr"/>
          <a:lstStyle/>
          <a:p>
            <a:pPr indent="0" marL="0">
              <a:lnSpc>
                <a:spcPct val="115000"/>
              </a:lnSpc>
              <a:buNone/>
            </a:pPr>
            <a:r>
              <a:rPr lang="en-US" sz="2000" dirty="0">
                <a:solidFill>
                  <a:srgbClr val="183B4A"/>
                </a:solidFill>
                <a:latin typeface="Segoe UI" pitchFamily="34" charset="0"/>
                <a:ea typeface="Segoe UI" pitchFamily="34" charset="-122"/>
                <a:cs typeface="Segoe UI" pitchFamily="34" charset="-120"/>
              </a:rPr>
              <a:t>Paucar Campoverder Kenyi Yair</a:t>
            </a:r>
            <a:endParaRPr lang="en-US" sz="2000" dirty="0"/>
          </a:p>
          <a:p>
            <a:pPr indent="0" marL="0">
              <a:lnSpc>
                <a:spcPct val="115000"/>
              </a:lnSpc>
              <a:buNone/>
            </a:pPr>
            <a:r>
              <a:rPr lang="en-US" sz="2000" dirty="0">
                <a:solidFill>
                  <a:srgbClr val="183B4A"/>
                </a:solidFill>
                <a:latin typeface="Segoe UI" pitchFamily="34" charset="0"/>
                <a:ea typeface="Segoe UI" pitchFamily="34" charset="-122"/>
                <a:cs typeface="Segoe UI" pitchFamily="34" charset="-120"/>
              </a:rPr>
              <a:t>Villegas Saavedra Axel Alberto</a:t>
            </a:r>
            <a:endParaRPr lang="en-US" sz="2000" dirty="0"/>
          </a:p>
          <a:p>
            <a:pPr indent="0" marL="0">
              <a:lnSpc>
                <a:spcPct val="115000"/>
              </a:lnSpc>
              <a:buNone/>
            </a:pPr>
            <a:r>
              <a:rPr lang="en-US" sz="2000" dirty="0">
                <a:solidFill>
                  <a:srgbClr val="183B4A"/>
                </a:solidFill>
                <a:latin typeface="Segoe UI" pitchFamily="34" charset="0"/>
                <a:ea typeface="Segoe UI" pitchFamily="34" charset="-122"/>
                <a:cs typeface="Segoe UI" pitchFamily="34" charset="-120"/>
              </a:rPr>
              <a:t>Panta Sanchez Eder Daniel</a:t>
            </a:r>
            <a:endParaRPr lang="en-US" sz="2000" dirty="0"/>
          </a:p>
          <a:p>
            <a:pPr indent="0" marL="0">
              <a:lnSpc>
                <a:spcPct val="115000"/>
              </a:lnSpc>
              <a:buNone/>
            </a:pPr>
            <a:r>
              <a:rPr lang="en-US" sz="2000" dirty="0">
                <a:solidFill>
                  <a:srgbClr val="183B4A"/>
                </a:solidFill>
                <a:latin typeface="Segoe UI" pitchFamily="34" charset="0"/>
                <a:ea typeface="Segoe UI" pitchFamily="34" charset="-122"/>
                <a:cs typeface="Segoe UI" pitchFamily="34" charset="-120"/>
              </a:rPr>
              <a:t>Inoñan González Justin Hafid</a:t>
            </a:r>
            <a:endParaRPr lang="en-US" sz="2000" dirty="0"/>
          </a:p>
        </p:txBody>
      </p:sp>
      <p:sp>
        <p:nvSpPr>
          <p:cNvPr id="14" name="Text 10"/>
          <p:cNvSpPr/>
          <p:nvPr/>
        </p:nvSpPr>
        <p:spPr>
          <a:xfrm>
            <a:off x="457200" y="6263640"/>
            <a:ext cx="7315200" cy="320040"/>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13 de octubre de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Problemática: atención ante desastres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02</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Lluvias intensas asociadas a El Niño en Piura</a:t>
            </a:r>
            <a:endParaRPr lang="en-US" sz="1800" dirty="0"/>
          </a:p>
        </p:txBody>
      </p:sp>
      <p:sp>
        <p:nvSpPr>
          <p:cNvPr id="6" name="Text 3"/>
          <p:cNvSpPr/>
          <p:nvPr/>
        </p:nvSpPr>
        <p:spPr>
          <a:xfrm>
            <a:off x="457200" y="1618488"/>
            <a:ext cx="4709160" cy="1143000"/>
          </a:xfrm>
          <a:prstGeom prst="rect">
            <a:avLst/>
          </a:prstGeom>
          <a:noFill/>
          <a:ln/>
        </p:spPr>
        <p:txBody>
          <a:bodyPr wrap="square" lIns="0" tIns="0" rIns="0" bIns="0" rtlCol="0" anchor="ctr"/>
          <a:lstStyle/>
          <a:p>
            <a:pPr indent="0" marL="0">
              <a:buNone/>
            </a:pPr>
            <a:r>
              <a:rPr lang="en-US" sz="2500" b="1" dirty="0">
                <a:solidFill>
                  <a:srgbClr val="123D4B"/>
                </a:solidFill>
                <a:latin typeface="Segoe UI" pitchFamily="34" charset="0"/>
                <a:ea typeface="Segoe UI" pitchFamily="34" charset="-122"/>
                <a:cs typeface="Segoe UI" pitchFamily="34" charset="-120"/>
              </a:rPr>
              <a:t>La ayuda requiere una visión compartida de necesidades, recursos y entregas.</a:t>
            </a:r>
            <a:endParaRPr lang="en-US" sz="2500" dirty="0"/>
          </a:p>
        </p:txBody>
      </p:sp>
      <p:sp>
        <p:nvSpPr>
          <p:cNvPr id="7" name="Text 4"/>
          <p:cNvSpPr/>
          <p:nvPr/>
        </p:nvSpPr>
        <p:spPr>
          <a:xfrm>
            <a:off x="457200" y="3072384"/>
            <a:ext cx="4709160" cy="1554480"/>
          </a:xfrm>
          <a:prstGeom prst="rect">
            <a:avLst/>
          </a:prstGeom>
          <a:noFill/>
          <a:ln/>
        </p:spPr>
        <p:txBody>
          <a:bodyPr wrap="square" lIns="0" tIns="0" rIns="0" bIns="0" rtlCol="0" anchor="ctr"/>
          <a:lstStyle/>
          <a:p>
            <a:pPr indent="0" marL="0">
              <a:buNone/>
            </a:pPr>
            <a:r>
              <a:rPr lang="en-US" sz="2100" dirty="0">
                <a:solidFill>
                  <a:srgbClr val="183B4A"/>
                </a:solidFill>
                <a:latin typeface="Segoe UI" pitchFamily="34" charset="0"/>
                <a:ea typeface="Segoe UI" pitchFamily="34" charset="-122"/>
                <a:cs typeface="Segoe UI" pitchFamily="34" charset="-120"/>
              </a:rPr>
              <a:t>Cuando los registros están dispersos, resulta difícil decidir qué atender, evitar aportes duplicados y saber qué recibió realmente cada comunidad.</a:t>
            </a:r>
            <a:endParaRPr lang="en-US" sz="2100" dirty="0"/>
          </a:p>
        </p:txBody>
      </p:sp>
      <p:sp>
        <p:nvSpPr>
          <p:cNvPr id="8" name="Text 5"/>
          <p:cNvSpPr/>
          <p:nvPr/>
        </p:nvSpPr>
        <p:spPr>
          <a:xfrm>
            <a:off x="5605272" y="1600200"/>
            <a:ext cx="5998464"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Necesidades dispersas</a:t>
            </a:r>
            <a:endParaRPr lang="en-US" sz="2000" dirty="0"/>
          </a:p>
        </p:txBody>
      </p:sp>
      <p:sp>
        <p:nvSpPr>
          <p:cNvPr id="9" name="Text 6"/>
          <p:cNvSpPr/>
          <p:nvPr/>
        </p:nvSpPr>
        <p:spPr>
          <a:xfrm>
            <a:off x="5605272" y="1920240"/>
            <a:ext cx="5998464" cy="43891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La demanda comunitaria pierde visibilidad.</a:t>
            </a:r>
            <a:endParaRPr lang="en-US" sz="1800" dirty="0"/>
          </a:p>
        </p:txBody>
      </p:sp>
      <p:sp>
        <p:nvSpPr>
          <p:cNvPr id="10" name="Shape 7"/>
          <p:cNvSpPr/>
          <p:nvPr/>
        </p:nvSpPr>
        <p:spPr>
          <a:xfrm>
            <a:off x="5605272" y="2322576"/>
            <a:ext cx="6099048" cy="0"/>
          </a:xfrm>
          <a:prstGeom prst="line">
            <a:avLst/>
          </a:prstGeom>
          <a:noFill/>
          <a:ln w="7620">
            <a:solidFill>
              <a:srgbClr val="D6E3E9"/>
            </a:solidFill>
            <a:prstDash val="solid"/>
            <a:headEnd type="none"/>
            <a:tailEnd type="none"/>
          </a:ln>
        </p:spPr>
      </p:sp>
      <p:sp>
        <p:nvSpPr>
          <p:cNvPr id="11" name="Text 8"/>
          <p:cNvSpPr/>
          <p:nvPr/>
        </p:nvSpPr>
        <p:spPr>
          <a:xfrm>
            <a:off x="5605272" y="2459736"/>
            <a:ext cx="5998464"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Recursos sin coordinación</a:t>
            </a:r>
            <a:endParaRPr lang="en-US" sz="2000" dirty="0"/>
          </a:p>
        </p:txBody>
      </p:sp>
      <p:sp>
        <p:nvSpPr>
          <p:cNvPr id="12" name="Text 9"/>
          <p:cNvSpPr/>
          <p:nvPr/>
        </p:nvSpPr>
        <p:spPr>
          <a:xfrm>
            <a:off x="5605272" y="2779776"/>
            <a:ext cx="5998464" cy="43891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Las ONG no cuentan con una visión común.</a:t>
            </a:r>
            <a:endParaRPr lang="en-US" sz="1800" dirty="0"/>
          </a:p>
        </p:txBody>
      </p:sp>
      <p:sp>
        <p:nvSpPr>
          <p:cNvPr id="13" name="Shape 10"/>
          <p:cNvSpPr/>
          <p:nvPr/>
        </p:nvSpPr>
        <p:spPr>
          <a:xfrm>
            <a:off x="5605272" y="3182112"/>
            <a:ext cx="6099048" cy="0"/>
          </a:xfrm>
          <a:prstGeom prst="line">
            <a:avLst/>
          </a:prstGeom>
          <a:noFill/>
          <a:ln w="7620">
            <a:solidFill>
              <a:srgbClr val="D6E3E9"/>
            </a:solidFill>
            <a:prstDash val="solid"/>
            <a:headEnd type="none"/>
            <a:tailEnd type="none"/>
          </a:ln>
        </p:spPr>
      </p:sp>
      <p:sp>
        <p:nvSpPr>
          <p:cNvPr id="14" name="Text 11"/>
          <p:cNvSpPr/>
          <p:nvPr/>
        </p:nvSpPr>
        <p:spPr>
          <a:xfrm>
            <a:off x="5605272" y="3319272"/>
            <a:ext cx="5998464"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Entregas inciertas</a:t>
            </a:r>
            <a:endParaRPr lang="en-US" sz="2000" dirty="0"/>
          </a:p>
        </p:txBody>
      </p:sp>
      <p:sp>
        <p:nvSpPr>
          <p:cNvPr id="15" name="Text 12"/>
          <p:cNvSpPr/>
          <p:nvPr/>
        </p:nvSpPr>
        <p:spPr>
          <a:xfrm>
            <a:off x="5605272" y="3639312"/>
            <a:ext cx="5998464" cy="43891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El arribo no acredita cantidades conformes.</a:t>
            </a:r>
            <a:endParaRPr lang="en-US" sz="1800" dirty="0"/>
          </a:p>
        </p:txBody>
      </p:sp>
      <p:sp>
        <p:nvSpPr>
          <p:cNvPr id="16" name="Shape 13"/>
          <p:cNvSpPr/>
          <p:nvPr/>
        </p:nvSpPr>
        <p:spPr>
          <a:xfrm>
            <a:off x="5605272" y="4041648"/>
            <a:ext cx="6099048" cy="0"/>
          </a:xfrm>
          <a:prstGeom prst="line">
            <a:avLst/>
          </a:prstGeom>
          <a:noFill/>
          <a:ln w="7620">
            <a:solidFill>
              <a:srgbClr val="D6E3E9"/>
            </a:solidFill>
            <a:prstDash val="solid"/>
            <a:headEnd type="none"/>
            <a:tailEnd type="none"/>
          </a:ln>
        </p:spPr>
      </p:sp>
      <p:sp>
        <p:nvSpPr>
          <p:cNvPr id="17" name="Text 14"/>
          <p:cNvSpPr/>
          <p:nvPr/>
        </p:nvSpPr>
        <p:spPr>
          <a:xfrm>
            <a:off x="5605272" y="4178808"/>
            <a:ext cx="5998464"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Accesos restringidos</a:t>
            </a:r>
            <a:endParaRPr lang="en-US" sz="2000" dirty="0"/>
          </a:p>
        </p:txBody>
      </p:sp>
      <p:sp>
        <p:nvSpPr>
          <p:cNvPr id="18" name="Text 15"/>
          <p:cNvSpPr/>
          <p:nvPr/>
        </p:nvSpPr>
        <p:spPr>
          <a:xfrm>
            <a:off x="5605272" y="4498848"/>
            <a:ext cx="5998464" cy="43891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Las lluvias alteran los recorridos posibles.</a:t>
            </a:r>
            <a:endParaRPr lang="en-US" sz="1800" dirty="0"/>
          </a:p>
        </p:txBody>
      </p:sp>
      <p:sp>
        <p:nvSpPr>
          <p:cNvPr id="19" name="Shape 16"/>
          <p:cNvSpPr/>
          <p:nvPr/>
        </p:nvSpPr>
        <p:spPr>
          <a:xfrm>
            <a:off x="5605272" y="4901184"/>
            <a:ext cx="6099048" cy="0"/>
          </a:xfrm>
          <a:prstGeom prst="line">
            <a:avLst/>
          </a:prstGeom>
          <a:noFill/>
          <a:ln w="7620">
            <a:solidFill>
              <a:srgbClr val="D6E3E9"/>
            </a:solidFill>
            <a:prstDash val="solid"/>
            <a:headEnd type="none"/>
            <a:tailEnd type="none"/>
          </a:ln>
        </p:spPr>
      </p:sp>
      <p:sp>
        <p:nvSpPr>
          <p:cNvPr id="20" name="Text 17"/>
          <p:cNvSpPr/>
          <p:nvPr/>
        </p:nvSpPr>
        <p:spPr>
          <a:xfrm>
            <a:off x="5605272" y="5038344"/>
            <a:ext cx="5998464"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Trazabilidad insuficiente</a:t>
            </a:r>
            <a:endParaRPr lang="en-US" sz="2000" dirty="0"/>
          </a:p>
        </p:txBody>
      </p:sp>
      <p:sp>
        <p:nvSpPr>
          <p:cNvPr id="21" name="Text 18"/>
          <p:cNvSpPr/>
          <p:nvPr/>
        </p:nvSpPr>
        <p:spPr>
          <a:xfrm>
            <a:off x="5605272" y="5358384"/>
            <a:ext cx="5998464" cy="43891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Cuesta reconstruir responsables y resultados.</a:t>
            </a:r>
            <a:endParaRPr lang="en-US" sz="1800" dirty="0"/>
          </a:p>
        </p:txBody>
      </p:sp>
      <p:sp>
        <p:nvSpPr>
          <p:cNvPr id="22" name="Text 19"/>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Contexto de diseño: escenario académico ficticio, sin atribuir cifras de daños a un evento real.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Solución propuesta: ¿qué es Alivía?</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03</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Una plataforma web para coordinar la ayuda y conservar su historia</a:t>
            </a:r>
            <a:endParaRPr lang="en-US" sz="1800" dirty="0"/>
          </a:p>
        </p:txBody>
      </p:sp>
      <p:sp>
        <p:nvSpPr>
          <p:cNvPr id="6" name="Text 3"/>
          <p:cNvSpPr/>
          <p:nvPr/>
        </p:nvSpPr>
        <p:spPr>
          <a:xfrm>
            <a:off x="457200" y="1600200"/>
            <a:ext cx="11064240" cy="822960"/>
          </a:xfrm>
          <a:prstGeom prst="rect">
            <a:avLst/>
          </a:prstGeom>
          <a:noFill/>
          <a:ln/>
        </p:spPr>
        <p:txBody>
          <a:bodyPr wrap="square" lIns="0" tIns="0" rIns="0" bIns="0" rtlCol="0" anchor="ctr"/>
          <a:lstStyle/>
          <a:p>
            <a:pPr indent="0" marL="0">
              <a:buNone/>
            </a:pPr>
            <a:r>
              <a:rPr lang="en-US" sz="2300" b="1" dirty="0">
                <a:solidFill>
                  <a:srgbClr val="123D4B"/>
                </a:solidFill>
                <a:latin typeface="Segoe UI" pitchFamily="34" charset="0"/>
                <a:ea typeface="Segoe UI" pitchFamily="34" charset="-122"/>
                <a:cs typeface="Segoe UI" pitchFamily="34" charset="-120"/>
              </a:rPr>
              <a:t>Alivía centraliza solicitudes comunitarias, inventarios de ONG, decisiones de aporte, autorizaciones y evidencias de entrega.</a:t>
            </a:r>
            <a:endParaRPr lang="en-US" sz="2300" dirty="0"/>
          </a:p>
        </p:txBody>
      </p:sp>
      <p:sp>
        <p:nvSpPr>
          <p:cNvPr id="7" name="Shape 4"/>
          <p:cNvSpPr/>
          <p:nvPr/>
        </p:nvSpPr>
        <p:spPr>
          <a:xfrm>
            <a:off x="457200" y="2852928"/>
            <a:ext cx="3429000" cy="1417320"/>
          </a:xfrm>
          <a:prstGeom prst="rect">
            <a:avLst/>
          </a:prstGeom>
          <a:solidFill>
            <a:srgbClr val="E4F5FA"/>
          </a:solidFill>
          <a:ln w="10160">
            <a:solidFill>
              <a:srgbClr val="D6E3E9"/>
            </a:solidFill>
            <a:prstDash val="solid"/>
          </a:ln>
        </p:spPr>
      </p:sp>
      <p:sp>
        <p:nvSpPr>
          <p:cNvPr id="8" name="Text 5"/>
          <p:cNvSpPr/>
          <p:nvPr/>
        </p:nvSpPr>
        <p:spPr>
          <a:xfrm>
            <a:off x="594360" y="2971800"/>
            <a:ext cx="315468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Necesidad registrada</a:t>
            </a:r>
            <a:endParaRPr lang="en-US" sz="1900" dirty="0"/>
          </a:p>
        </p:txBody>
      </p:sp>
      <p:sp>
        <p:nvSpPr>
          <p:cNvPr id="9" name="Text 6"/>
          <p:cNvSpPr/>
          <p:nvPr/>
        </p:nvSpPr>
        <p:spPr>
          <a:xfrm>
            <a:off x="594360" y="3456432"/>
            <a:ext cx="3154680"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Producto, cantidad y comunidad destinataria.</a:t>
            </a:r>
            <a:endParaRPr lang="en-US" sz="1600" dirty="0"/>
          </a:p>
        </p:txBody>
      </p:sp>
      <p:sp>
        <p:nvSpPr>
          <p:cNvPr id="10" name="Shape 7"/>
          <p:cNvSpPr/>
          <p:nvPr/>
        </p:nvSpPr>
        <p:spPr>
          <a:xfrm>
            <a:off x="4379976" y="2852928"/>
            <a:ext cx="3429000" cy="1417320"/>
          </a:xfrm>
          <a:prstGeom prst="rect">
            <a:avLst/>
          </a:prstGeom>
          <a:solidFill>
            <a:srgbClr val="E4F5FA"/>
          </a:solidFill>
          <a:ln w="10160">
            <a:solidFill>
              <a:srgbClr val="D6E3E9"/>
            </a:solidFill>
            <a:prstDash val="solid"/>
          </a:ln>
        </p:spPr>
      </p:sp>
      <p:sp>
        <p:nvSpPr>
          <p:cNvPr id="11" name="Text 8"/>
          <p:cNvSpPr/>
          <p:nvPr/>
        </p:nvSpPr>
        <p:spPr>
          <a:xfrm>
            <a:off x="4517136" y="2971800"/>
            <a:ext cx="315468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Coordinación entre actores</a:t>
            </a:r>
            <a:endParaRPr lang="en-US" sz="1900" dirty="0"/>
          </a:p>
        </p:txBody>
      </p:sp>
      <p:sp>
        <p:nvSpPr>
          <p:cNvPr id="12" name="Text 9"/>
          <p:cNvSpPr/>
          <p:nvPr/>
        </p:nvSpPr>
        <p:spPr>
          <a:xfrm>
            <a:off x="4517136" y="3456432"/>
            <a:ext cx="3154680"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Quién propone, autoriza y transporta cada aporte.</a:t>
            </a:r>
            <a:endParaRPr lang="en-US" sz="1600" dirty="0"/>
          </a:p>
        </p:txBody>
      </p:sp>
      <p:sp>
        <p:nvSpPr>
          <p:cNvPr id="13" name="Shape 10"/>
          <p:cNvSpPr/>
          <p:nvPr/>
        </p:nvSpPr>
        <p:spPr>
          <a:xfrm>
            <a:off x="8302752" y="2852928"/>
            <a:ext cx="3429000" cy="1417320"/>
          </a:xfrm>
          <a:prstGeom prst="rect">
            <a:avLst/>
          </a:prstGeom>
          <a:solidFill>
            <a:srgbClr val="E4F5FA"/>
          </a:solidFill>
          <a:ln w="10160">
            <a:solidFill>
              <a:srgbClr val="D6E3E9"/>
            </a:solidFill>
            <a:prstDash val="solid"/>
          </a:ln>
        </p:spPr>
      </p:sp>
      <p:sp>
        <p:nvSpPr>
          <p:cNvPr id="14" name="Text 11"/>
          <p:cNvSpPr/>
          <p:nvPr/>
        </p:nvSpPr>
        <p:spPr>
          <a:xfrm>
            <a:off x="8439912" y="2971800"/>
            <a:ext cx="315468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Resultado verificable</a:t>
            </a:r>
            <a:endParaRPr lang="en-US" sz="1900" dirty="0"/>
          </a:p>
        </p:txBody>
      </p:sp>
      <p:sp>
        <p:nvSpPr>
          <p:cNvPr id="15" name="Text 12"/>
          <p:cNvSpPr/>
          <p:nvPr/>
        </p:nvSpPr>
        <p:spPr>
          <a:xfrm>
            <a:off x="8439912" y="3456432"/>
            <a:ext cx="3154680"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Qué llegó conforme y qué diferencias quedaron.</a:t>
            </a:r>
            <a:endParaRPr lang="en-US" sz="1600" dirty="0"/>
          </a:p>
        </p:txBody>
      </p:sp>
      <p:sp>
        <p:nvSpPr>
          <p:cNvPr id="16" name="Shape 13"/>
          <p:cNvSpPr/>
          <p:nvPr/>
        </p:nvSpPr>
        <p:spPr>
          <a:xfrm>
            <a:off x="3931920" y="3566160"/>
            <a:ext cx="365760" cy="0"/>
          </a:xfrm>
          <a:prstGeom prst="line">
            <a:avLst/>
          </a:prstGeom>
          <a:noFill/>
          <a:ln w="19050">
            <a:solidFill>
              <a:srgbClr val="007F99"/>
            </a:solidFill>
            <a:prstDash val="solid"/>
            <a:headEnd type="none"/>
            <a:tailEnd type="triangle"/>
          </a:ln>
        </p:spPr>
      </p:sp>
      <p:sp>
        <p:nvSpPr>
          <p:cNvPr id="17" name="Shape 14"/>
          <p:cNvSpPr/>
          <p:nvPr/>
        </p:nvSpPr>
        <p:spPr>
          <a:xfrm>
            <a:off x="7854696" y="3566160"/>
            <a:ext cx="365760" cy="0"/>
          </a:xfrm>
          <a:prstGeom prst="line">
            <a:avLst/>
          </a:prstGeom>
          <a:noFill/>
          <a:ln w="19050">
            <a:solidFill>
              <a:srgbClr val="007F99"/>
            </a:solidFill>
            <a:prstDash val="solid"/>
            <a:headEnd type="none"/>
            <a:tailEnd type="triangle"/>
          </a:ln>
        </p:spPr>
      </p:sp>
      <p:sp>
        <p:nvSpPr>
          <p:cNvPr id="18" name="Text 15"/>
          <p:cNvSpPr/>
          <p:nvPr/>
        </p:nvSpPr>
        <p:spPr>
          <a:xfrm>
            <a:off x="457200" y="4846320"/>
            <a:ext cx="11201400" cy="822960"/>
          </a:xfrm>
          <a:prstGeom prst="rect">
            <a:avLst/>
          </a:prstGeom>
          <a:noFill/>
          <a:ln/>
        </p:spPr>
        <p:txBody>
          <a:bodyPr wrap="square" lIns="0" tIns="0" rIns="0" bIns="0" rtlCol="0" anchor="ctr"/>
          <a:lstStyle/>
          <a:p>
            <a:pPr indent="0" marL="0">
              <a:buNone/>
            </a:pPr>
            <a:r>
              <a:rPr lang="en-US" sz="2100" dirty="0">
                <a:solidFill>
                  <a:srgbClr val="183B4A"/>
                </a:solidFill>
                <a:latin typeface="Segoe UI" pitchFamily="34" charset="0"/>
                <a:ea typeface="Segoe UI" pitchFamily="34" charset="-122"/>
                <a:cs typeface="Segoe UI" pitchFamily="34" charset="-120"/>
              </a:rPr>
              <a:t>Cada actor consulta el estado que le corresponde. Las alertas aportan contexto; la plataforma no declara oficialmente emergencias.</a:t>
            </a:r>
            <a:endParaRPr lang="en-US" sz="2100" dirty="0"/>
          </a:p>
        </p:txBody>
      </p:sp>
      <p:sp>
        <p:nvSpPr>
          <p:cNvPr id="19" name="Text 16"/>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Se presentan especificaciones y prototipos locales. Las integraciones de producción son parte del diseño.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Alcance y capacidades principales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04</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Seis responsabilidades delimitan la coordinación</a:t>
            </a:r>
            <a:endParaRPr lang="en-US" sz="1800" dirty="0"/>
          </a:p>
        </p:txBody>
      </p:sp>
      <p:sp>
        <p:nvSpPr>
          <p:cNvPr id="6" name="Text 3"/>
          <p:cNvSpPr/>
          <p:nvPr/>
        </p:nvSpPr>
        <p:spPr>
          <a:xfrm>
            <a:off x="457200" y="169164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01</a:t>
            </a:r>
            <a:endParaRPr lang="en-US" sz="2000" dirty="0"/>
          </a:p>
        </p:txBody>
      </p:sp>
      <p:sp>
        <p:nvSpPr>
          <p:cNvPr id="7" name="Text 4"/>
          <p:cNvSpPr/>
          <p:nvPr/>
        </p:nvSpPr>
        <p:spPr>
          <a:xfrm>
            <a:off x="1051560" y="169164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Registrar necesidades</a:t>
            </a:r>
            <a:endParaRPr lang="en-US" sz="2000" dirty="0"/>
          </a:p>
        </p:txBody>
      </p:sp>
      <p:sp>
        <p:nvSpPr>
          <p:cNvPr id="8" name="Text 5"/>
          <p:cNvSpPr/>
          <p:nvPr/>
        </p:nvSpPr>
        <p:spPr>
          <a:xfrm>
            <a:off x="1051560" y="208483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Productos, cantidades y contexto de afectación.</a:t>
            </a:r>
            <a:endParaRPr lang="en-US" sz="1800" dirty="0"/>
          </a:p>
        </p:txBody>
      </p:sp>
      <p:sp>
        <p:nvSpPr>
          <p:cNvPr id="9" name="Text 6"/>
          <p:cNvSpPr/>
          <p:nvPr/>
        </p:nvSpPr>
        <p:spPr>
          <a:xfrm>
            <a:off x="457200" y="288036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02</a:t>
            </a:r>
            <a:endParaRPr lang="en-US" sz="2000" dirty="0"/>
          </a:p>
        </p:txBody>
      </p:sp>
      <p:sp>
        <p:nvSpPr>
          <p:cNvPr id="10" name="Text 7"/>
          <p:cNvSpPr/>
          <p:nvPr/>
        </p:nvSpPr>
        <p:spPr>
          <a:xfrm>
            <a:off x="1051560" y="288036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Relacionar demanda y oferta</a:t>
            </a:r>
            <a:endParaRPr lang="en-US" sz="2000" dirty="0"/>
          </a:p>
        </p:txBody>
      </p:sp>
      <p:sp>
        <p:nvSpPr>
          <p:cNvPr id="11" name="Text 8"/>
          <p:cNvSpPr/>
          <p:nvPr/>
        </p:nvSpPr>
        <p:spPr>
          <a:xfrm>
            <a:off x="1051560" y="327355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Inventario apto y propuestas automáticas de aporte.</a:t>
            </a:r>
            <a:endParaRPr lang="en-US" sz="1800" dirty="0"/>
          </a:p>
        </p:txBody>
      </p:sp>
      <p:sp>
        <p:nvSpPr>
          <p:cNvPr id="12" name="Text 9"/>
          <p:cNvSpPr/>
          <p:nvPr/>
        </p:nvSpPr>
        <p:spPr>
          <a:xfrm>
            <a:off x="457200" y="406908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03</a:t>
            </a:r>
            <a:endParaRPr lang="en-US" sz="2000" dirty="0"/>
          </a:p>
        </p:txBody>
      </p:sp>
      <p:sp>
        <p:nvSpPr>
          <p:cNvPr id="13" name="Text 10"/>
          <p:cNvSpPr/>
          <p:nvPr/>
        </p:nvSpPr>
        <p:spPr>
          <a:xfrm>
            <a:off x="1051560" y="406908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Confirmar y autorizar</a:t>
            </a:r>
            <a:endParaRPr lang="en-US" sz="2000" dirty="0"/>
          </a:p>
        </p:txBody>
      </p:sp>
      <p:sp>
        <p:nvSpPr>
          <p:cNvPr id="14" name="Text 11"/>
          <p:cNvSpPr/>
          <p:nvPr/>
        </p:nvSpPr>
        <p:spPr>
          <a:xfrm>
            <a:off x="1051560" y="446227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Decisión de ONG y compromiso explícito de recursos.</a:t>
            </a:r>
            <a:endParaRPr lang="en-US" sz="1800" dirty="0"/>
          </a:p>
        </p:txBody>
      </p:sp>
      <p:sp>
        <p:nvSpPr>
          <p:cNvPr id="15" name="Text 12"/>
          <p:cNvSpPr/>
          <p:nvPr/>
        </p:nvSpPr>
        <p:spPr>
          <a:xfrm>
            <a:off x="6309360" y="169164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04</a:t>
            </a:r>
            <a:endParaRPr lang="en-US" sz="2000" dirty="0"/>
          </a:p>
        </p:txBody>
      </p:sp>
      <p:sp>
        <p:nvSpPr>
          <p:cNvPr id="16" name="Text 13"/>
          <p:cNvSpPr/>
          <p:nvPr/>
        </p:nvSpPr>
        <p:spPr>
          <a:xfrm>
            <a:off x="6903720" y="169164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Gestionar el traslado</a:t>
            </a:r>
            <a:endParaRPr lang="en-US" sz="2000" dirty="0"/>
          </a:p>
        </p:txBody>
      </p:sp>
      <p:sp>
        <p:nvSpPr>
          <p:cNvPr id="17" name="Text 14"/>
          <p:cNvSpPr/>
          <p:nvPr/>
        </p:nvSpPr>
        <p:spPr>
          <a:xfrm>
            <a:off x="6903720" y="208483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Despachos, rutas verificadas, retiro y llegada.</a:t>
            </a:r>
            <a:endParaRPr lang="en-US" sz="1800" dirty="0"/>
          </a:p>
        </p:txBody>
      </p:sp>
      <p:sp>
        <p:nvSpPr>
          <p:cNvPr id="18" name="Text 15"/>
          <p:cNvSpPr/>
          <p:nvPr/>
        </p:nvSpPr>
        <p:spPr>
          <a:xfrm>
            <a:off x="6309360" y="288036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05</a:t>
            </a:r>
            <a:endParaRPr lang="en-US" sz="2000" dirty="0"/>
          </a:p>
        </p:txBody>
      </p:sp>
      <p:sp>
        <p:nvSpPr>
          <p:cNvPr id="19" name="Text 16"/>
          <p:cNvSpPr/>
          <p:nvPr/>
        </p:nvSpPr>
        <p:spPr>
          <a:xfrm>
            <a:off x="6903720" y="288036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Verificar la recepción</a:t>
            </a:r>
            <a:endParaRPr lang="en-US" sz="2000" dirty="0"/>
          </a:p>
        </p:txBody>
      </p:sp>
      <p:sp>
        <p:nvSpPr>
          <p:cNvPr id="20" name="Text 17"/>
          <p:cNvSpPr/>
          <p:nvPr/>
        </p:nvSpPr>
        <p:spPr>
          <a:xfrm>
            <a:off x="6903720" y="327355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Cantidades físicas, conformidad y discrepancias.</a:t>
            </a:r>
            <a:endParaRPr lang="en-US" sz="1800" dirty="0"/>
          </a:p>
        </p:txBody>
      </p:sp>
      <p:sp>
        <p:nvSpPr>
          <p:cNvPr id="21" name="Text 18"/>
          <p:cNvSpPr/>
          <p:nvPr/>
        </p:nvSpPr>
        <p:spPr>
          <a:xfrm>
            <a:off x="6309360" y="4069080"/>
            <a:ext cx="457200" cy="347472"/>
          </a:xfrm>
          <a:prstGeom prst="rect">
            <a:avLst/>
          </a:prstGeom>
          <a:noFill/>
          <a:ln/>
        </p:spPr>
        <p:txBody>
          <a:bodyPr wrap="square" lIns="0" tIns="0" rIns="0" bIns="0" rtlCol="0" anchor="ctr"/>
          <a:lstStyle/>
          <a:p>
            <a:pPr indent="0" marL="0">
              <a:buNone/>
            </a:pPr>
            <a:r>
              <a:rPr lang="en-US" sz="2000" b="1" dirty="0">
                <a:solidFill>
                  <a:srgbClr val="007F99"/>
                </a:solidFill>
                <a:latin typeface="Segoe UI" pitchFamily="34" charset="0"/>
                <a:ea typeface="Segoe UI" pitchFamily="34" charset="-122"/>
                <a:cs typeface="Segoe UI" pitchFamily="34" charset="-120"/>
              </a:rPr>
              <a:t>06</a:t>
            </a:r>
            <a:endParaRPr lang="en-US" sz="2000" dirty="0"/>
          </a:p>
        </p:txBody>
      </p:sp>
      <p:sp>
        <p:nvSpPr>
          <p:cNvPr id="22" name="Text 19"/>
          <p:cNvSpPr/>
          <p:nvPr/>
        </p:nvSpPr>
        <p:spPr>
          <a:xfrm>
            <a:off x="6903720" y="4069080"/>
            <a:ext cx="470916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Supervisar resultados</a:t>
            </a:r>
            <a:endParaRPr lang="en-US" sz="2000" dirty="0"/>
          </a:p>
        </p:txBody>
      </p:sp>
      <p:sp>
        <p:nvSpPr>
          <p:cNvPr id="23" name="Text 20"/>
          <p:cNvSpPr/>
          <p:nvPr/>
        </p:nvSpPr>
        <p:spPr>
          <a:xfrm>
            <a:off x="6903720" y="4462272"/>
            <a:ext cx="4709160" cy="630936"/>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Riesgos, cobertura, brechas e informe final.</a:t>
            </a:r>
            <a:endParaRPr lang="en-US" sz="1800" dirty="0"/>
          </a:p>
        </p:txBody>
      </p:sp>
      <p:sp>
        <p:nvSpPr>
          <p:cNvPr id="24" name="Shape 21"/>
          <p:cNvSpPr/>
          <p:nvPr/>
        </p:nvSpPr>
        <p:spPr>
          <a:xfrm>
            <a:off x="457200" y="5623560"/>
            <a:ext cx="11274552" cy="630936"/>
          </a:xfrm>
          <a:prstGeom prst="rect">
            <a:avLst/>
          </a:prstGeom>
          <a:solidFill>
            <a:srgbClr val="E4F5FA"/>
          </a:solidFill>
          <a:ln w="10160">
            <a:solidFill>
              <a:srgbClr val="E4F5FA"/>
            </a:solidFill>
            <a:prstDash val="solid"/>
          </a:ln>
        </p:spPr>
      </p:sp>
      <p:sp>
        <p:nvSpPr>
          <p:cNvPr id="25" name="Text 22"/>
          <p:cNvSpPr/>
          <p:nvPr/>
        </p:nvSpPr>
        <p:spPr>
          <a:xfrm>
            <a:off x="640080" y="5779008"/>
            <a:ext cx="10927080" cy="33832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Límite: las observaciones externas informan; no autorizan recursos ni activan una declaración oficial.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Actores y responsabilidades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05</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Los permisos dependen del rol y de la entidad vinculada</a:t>
            </a:r>
            <a:endParaRPr lang="en-US" sz="1800" dirty="0"/>
          </a:p>
        </p:txBody>
      </p:sp>
      <p:sp>
        <p:nvSpPr>
          <p:cNvPr id="6" name="Text 3"/>
          <p:cNvSpPr/>
          <p:nvPr/>
        </p:nvSpPr>
        <p:spPr>
          <a:xfrm>
            <a:off x="457200" y="1645920"/>
            <a:ext cx="2423160" cy="347472"/>
          </a:xfrm>
          <a:prstGeom prst="rect">
            <a:avLst/>
          </a:prstGeom>
          <a:noFill/>
          <a:ln/>
        </p:spPr>
        <p:txBody>
          <a:bodyPr wrap="square" lIns="0" tIns="0" rIns="0" bIns="0" rtlCol="0" anchor="ctr"/>
          <a:lstStyle/>
          <a:p>
            <a:pPr indent="0" marL="0">
              <a:buNone/>
            </a:pPr>
            <a:r>
              <a:rPr lang="en-US" sz="1700" b="1" dirty="0">
                <a:solidFill>
                  <a:srgbClr val="007F99"/>
                </a:solidFill>
                <a:latin typeface="Segoe UI" pitchFamily="34" charset="0"/>
                <a:ea typeface="Segoe UI" pitchFamily="34" charset="-122"/>
                <a:cs typeface="Segoe UI" pitchFamily="34" charset="-120"/>
              </a:rPr>
              <a:t>Actor</a:t>
            </a:r>
            <a:endParaRPr lang="en-US" sz="1700" dirty="0"/>
          </a:p>
        </p:txBody>
      </p:sp>
      <p:sp>
        <p:nvSpPr>
          <p:cNvPr id="7" name="Text 4"/>
          <p:cNvSpPr/>
          <p:nvPr/>
        </p:nvSpPr>
        <p:spPr>
          <a:xfrm>
            <a:off x="3127248" y="1645920"/>
            <a:ext cx="3694176" cy="347472"/>
          </a:xfrm>
          <a:prstGeom prst="rect">
            <a:avLst/>
          </a:prstGeom>
          <a:noFill/>
          <a:ln/>
        </p:spPr>
        <p:txBody>
          <a:bodyPr wrap="square" lIns="0" tIns="0" rIns="0" bIns="0" rtlCol="0" anchor="ctr"/>
          <a:lstStyle/>
          <a:p>
            <a:pPr indent="0" marL="0">
              <a:buNone/>
            </a:pPr>
            <a:r>
              <a:rPr lang="en-US" sz="1700" b="1" dirty="0">
                <a:solidFill>
                  <a:srgbClr val="007F99"/>
                </a:solidFill>
                <a:latin typeface="Segoe UI" pitchFamily="34" charset="0"/>
                <a:ea typeface="Segoe UI" pitchFamily="34" charset="-122"/>
                <a:cs typeface="Segoe UI" pitchFamily="34" charset="-120"/>
              </a:rPr>
              <a:t>Responsabilidad en el proceso</a:t>
            </a:r>
            <a:endParaRPr lang="en-US" sz="1700" dirty="0"/>
          </a:p>
        </p:txBody>
      </p:sp>
      <p:sp>
        <p:nvSpPr>
          <p:cNvPr id="8" name="Text 5"/>
          <p:cNvSpPr/>
          <p:nvPr/>
        </p:nvSpPr>
        <p:spPr>
          <a:xfrm>
            <a:off x="7086600" y="1645920"/>
            <a:ext cx="4645152" cy="347472"/>
          </a:xfrm>
          <a:prstGeom prst="rect">
            <a:avLst/>
          </a:prstGeom>
          <a:noFill/>
          <a:ln/>
        </p:spPr>
        <p:txBody>
          <a:bodyPr wrap="square" lIns="0" tIns="0" rIns="0" bIns="0" rtlCol="0" anchor="ctr"/>
          <a:lstStyle/>
          <a:p>
            <a:pPr indent="0" marL="0">
              <a:buNone/>
            </a:pPr>
            <a:r>
              <a:rPr lang="en-US" sz="1700" b="1" dirty="0">
                <a:solidFill>
                  <a:srgbClr val="007F99"/>
                </a:solidFill>
                <a:latin typeface="Segoe UI" pitchFamily="34" charset="0"/>
                <a:ea typeface="Segoe UI" pitchFamily="34" charset="-122"/>
                <a:cs typeface="Segoe UI" pitchFamily="34" charset="-120"/>
              </a:rPr>
              <a:t>Información que consulta</a:t>
            </a:r>
            <a:endParaRPr lang="en-US" sz="1700" dirty="0"/>
          </a:p>
        </p:txBody>
      </p:sp>
      <p:sp>
        <p:nvSpPr>
          <p:cNvPr id="9" name="Shape 6"/>
          <p:cNvSpPr/>
          <p:nvPr/>
        </p:nvSpPr>
        <p:spPr>
          <a:xfrm>
            <a:off x="457200" y="2066544"/>
            <a:ext cx="11274552" cy="0"/>
          </a:xfrm>
          <a:prstGeom prst="line">
            <a:avLst/>
          </a:prstGeom>
          <a:noFill/>
          <a:ln w="10160">
            <a:solidFill>
              <a:srgbClr val="D6E3E9"/>
            </a:solidFill>
            <a:prstDash val="solid"/>
            <a:headEnd type="none"/>
            <a:tailEnd type="none"/>
          </a:ln>
        </p:spPr>
      </p:sp>
      <p:sp>
        <p:nvSpPr>
          <p:cNvPr id="10" name="Text 7"/>
          <p:cNvSpPr/>
          <p:nvPr/>
        </p:nvSpPr>
        <p:spPr>
          <a:xfrm>
            <a:off x="457200" y="2194560"/>
            <a:ext cx="2423160" cy="68580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Jefe de Comuna</a:t>
            </a:r>
            <a:endParaRPr lang="en-US" sz="1900" dirty="0"/>
          </a:p>
        </p:txBody>
      </p:sp>
      <p:sp>
        <p:nvSpPr>
          <p:cNvPr id="11" name="Text 8"/>
          <p:cNvSpPr/>
          <p:nvPr/>
        </p:nvSpPr>
        <p:spPr>
          <a:xfrm>
            <a:off x="3127248" y="2194560"/>
            <a:ext cx="3694176"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Solicita y verifica la recepción.</a:t>
            </a:r>
            <a:endParaRPr lang="en-US" sz="1800" dirty="0"/>
          </a:p>
        </p:txBody>
      </p:sp>
      <p:sp>
        <p:nvSpPr>
          <p:cNvPr id="12" name="Text 9"/>
          <p:cNvSpPr/>
          <p:nvPr/>
        </p:nvSpPr>
        <p:spPr>
          <a:xfrm>
            <a:off x="7086600" y="2194560"/>
            <a:ext cx="4645152"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Necesidades, despachos y cantidades de su comunidad.</a:t>
            </a:r>
            <a:endParaRPr lang="en-US" sz="1800" dirty="0"/>
          </a:p>
        </p:txBody>
      </p:sp>
      <p:sp>
        <p:nvSpPr>
          <p:cNvPr id="13" name="Shape 10"/>
          <p:cNvSpPr/>
          <p:nvPr/>
        </p:nvSpPr>
        <p:spPr>
          <a:xfrm>
            <a:off x="457200" y="2926080"/>
            <a:ext cx="11274552" cy="0"/>
          </a:xfrm>
          <a:prstGeom prst="line">
            <a:avLst/>
          </a:prstGeom>
          <a:noFill/>
          <a:ln w="10160">
            <a:solidFill>
              <a:srgbClr val="D6E3E9"/>
            </a:solidFill>
            <a:prstDash val="solid"/>
            <a:headEnd type="none"/>
            <a:tailEnd type="none"/>
          </a:ln>
        </p:spPr>
      </p:sp>
      <p:sp>
        <p:nvSpPr>
          <p:cNvPr id="14" name="Text 11"/>
          <p:cNvSpPr/>
          <p:nvPr/>
        </p:nvSpPr>
        <p:spPr>
          <a:xfrm>
            <a:off x="457200" y="3054096"/>
            <a:ext cx="2423160" cy="68580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Jefe de ONG</a:t>
            </a:r>
            <a:endParaRPr lang="en-US" sz="1900" dirty="0"/>
          </a:p>
        </p:txBody>
      </p:sp>
      <p:sp>
        <p:nvSpPr>
          <p:cNvPr id="15" name="Text 12"/>
          <p:cNvSpPr/>
          <p:nvPr/>
        </p:nvSpPr>
        <p:spPr>
          <a:xfrm>
            <a:off x="3127248" y="3054096"/>
            <a:ext cx="3694176"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Gestiona stock, decide y autoriza.</a:t>
            </a:r>
            <a:endParaRPr lang="en-US" sz="1800" dirty="0"/>
          </a:p>
        </p:txBody>
      </p:sp>
      <p:sp>
        <p:nvSpPr>
          <p:cNvPr id="16" name="Text 13"/>
          <p:cNvSpPr/>
          <p:nvPr/>
        </p:nvSpPr>
        <p:spPr>
          <a:xfrm>
            <a:off x="7086600" y="3054096"/>
            <a:ext cx="4645152"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Inventarios y propuestas de su organización.</a:t>
            </a:r>
            <a:endParaRPr lang="en-US" sz="1800" dirty="0"/>
          </a:p>
        </p:txBody>
      </p:sp>
      <p:sp>
        <p:nvSpPr>
          <p:cNvPr id="17" name="Shape 14"/>
          <p:cNvSpPr/>
          <p:nvPr/>
        </p:nvSpPr>
        <p:spPr>
          <a:xfrm>
            <a:off x="457200" y="3785616"/>
            <a:ext cx="11274552" cy="0"/>
          </a:xfrm>
          <a:prstGeom prst="line">
            <a:avLst/>
          </a:prstGeom>
          <a:noFill/>
          <a:ln w="10160">
            <a:solidFill>
              <a:srgbClr val="D6E3E9"/>
            </a:solidFill>
            <a:prstDash val="solid"/>
            <a:headEnd type="none"/>
            <a:tailEnd type="none"/>
          </a:ln>
        </p:spPr>
      </p:sp>
      <p:sp>
        <p:nvSpPr>
          <p:cNvPr id="18" name="Text 15"/>
          <p:cNvSpPr/>
          <p:nvPr/>
        </p:nvSpPr>
        <p:spPr>
          <a:xfrm>
            <a:off x="457200" y="3913632"/>
            <a:ext cx="2423160" cy="68580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Jefe de Brigada</a:t>
            </a:r>
            <a:endParaRPr lang="en-US" sz="1900" dirty="0"/>
          </a:p>
        </p:txBody>
      </p:sp>
      <p:sp>
        <p:nvSpPr>
          <p:cNvPr id="19" name="Text 16"/>
          <p:cNvSpPr/>
          <p:nvPr/>
        </p:nvSpPr>
        <p:spPr>
          <a:xfrm>
            <a:off x="3127248" y="3913632"/>
            <a:ext cx="3694176"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Verifica retiro y registra llegada.</a:t>
            </a:r>
            <a:endParaRPr lang="en-US" sz="1800" dirty="0"/>
          </a:p>
        </p:txBody>
      </p:sp>
      <p:sp>
        <p:nvSpPr>
          <p:cNvPr id="20" name="Text 17"/>
          <p:cNvSpPr/>
          <p:nvPr/>
        </p:nvSpPr>
        <p:spPr>
          <a:xfrm>
            <a:off x="7086600" y="3913632"/>
            <a:ext cx="4645152"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Carga, origen, destino y ruta de sus despachos.</a:t>
            </a:r>
            <a:endParaRPr lang="en-US" sz="1800" dirty="0"/>
          </a:p>
        </p:txBody>
      </p:sp>
      <p:sp>
        <p:nvSpPr>
          <p:cNvPr id="21" name="Shape 18"/>
          <p:cNvSpPr/>
          <p:nvPr/>
        </p:nvSpPr>
        <p:spPr>
          <a:xfrm>
            <a:off x="457200" y="4645152"/>
            <a:ext cx="11274552" cy="0"/>
          </a:xfrm>
          <a:prstGeom prst="line">
            <a:avLst/>
          </a:prstGeom>
          <a:noFill/>
          <a:ln w="10160">
            <a:solidFill>
              <a:srgbClr val="D6E3E9"/>
            </a:solidFill>
            <a:prstDash val="solid"/>
            <a:headEnd type="none"/>
            <a:tailEnd type="none"/>
          </a:ln>
        </p:spPr>
      </p:sp>
      <p:sp>
        <p:nvSpPr>
          <p:cNvPr id="22" name="Text 19"/>
          <p:cNvSpPr/>
          <p:nvPr/>
        </p:nvSpPr>
        <p:spPr>
          <a:xfrm>
            <a:off x="457200" y="4773168"/>
            <a:ext cx="2423160" cy="68580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Jefe de Defensa Civil</a:t>
            </a:r>
            <a:endParaRPr lang="en-US" sz="1900" dirty="0"/>
          </a:p>
        </p:txBody>
      </p:sp>
      <p:sp>
        <p:nvSpPr>
          <p:cNvPr id="23" name="Text 20"/>
          <p:cNvSpPr/>
          <p:nvPr/>
        </p:nvSpPr>
        <p:spPr>
          <a:xfrm>
            <a:off x="3127248" y="4773168"/>
            <a:ext cx="3694176"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Supervisa en modo de lectura.</a:t>
            </a:r>
            <a:endParaRPr lang="en-US" sz="1800" dirty="0"/>
          </a:p>
        </p:txBody>
      </p:sp>
      <p:sp>
        <p:nvSpPr>
          <p:cNvPr id="24" name="Text 21"/>
          <p:cNvSpPr/>
          <p:nvPr/>
        </p:nvSpPr>
        <p:spPr>
          <a:xfrm>
            <a:off x="7086600" y="4773168"/>
            <a:ext cx="4645152" cy="68580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Riesgos, cobertura, brechas e informe publicado.</a:t>
            </a:r>
            <a:endParaRPr lang="en-US" sz="1800" dirty="0"/>
          </a:p>
        </p:txBody>
      </p:sp>
      <p:sp>
        <p:nvSpPr>
          <p:cNvPr id="25" name="Text 22"/>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Defensa Civil no modifica operaciones ni consulta inventarios privados. Los procesos automáticos no son un quinto rol.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Flujo general del sistema</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06</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La propuesta automática conecta necesidades y recursos; las personas confirman los hechos</a:t>
            </a:r>
            <a:endParaRPr lang="en-US" sz="1800" dirty="0"/>
          </a:p>
        </p:txBody>
      </p:sp>
      <p:sp>
        <p:nvSpPr>
          <p:cNvPr id="6" name="Shape 3"/>
          <p:cNvSpPr/>
          <p:nvPr/>
        </p:nvSpPr>
        <p:spPr>
          <a:xfrm>
            <a:off x="457200" y="1874520"/>
            <a:ext cx="1874520" cy="2331720"/>
          </a:xfrm>
          <a:prstGeom prst="rect">
            <a:avLst/>
          </a:prstGeom>
          <a:solidFill>
            <a:srgbClr val="FFFFFF"/>
          </a:solidFill>
          <a:ln w="10160">
            <a:solidFill>
              <a:srgbClr val="D6E3E9"/>
            </a:solidFill>
            <a:prstDash val="solid"/>
          </a:ln>
        </p:spPr>
      </p:sp>
      <p:sp>
        <p:nvSpPr>
          <p:cNvPr id="7" name="Text 4"/>
          <p:cNvSpPr/>
          <p:nvPr/>
        </p:nvSpPr>
        <p:spPr>
          <a:xfrm>
            <a:off x="566928" y="2029968"/>
            <a:ext cx="1655064" cy="859536"/>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1. Solicitud</a:t>
            </a:r>
            <a:endParaRPr lang="en-US" sz="1900" dirty="0"/>
          </a:p>
        </p:txBody>
      </p:sp>
      <p:sp>
        <p:nvSpPr>
          <p:cNvPr id="8" name="Text 5"/>
          <p:cNvSpPr/>
          <p:nvPr/>
        </p:nvSpPr>
        <p:spPr>
          <a:xfrm>
            <a:off x="566928" y="2990088"/>
            <a:ext cx="1655064" cy="347472"/>
          </a:xfrm>
          <a:prstGeom prst="rect">
            <a:avLst/>
          </a:prstGeom>
          <a:noFill/>
          <a:ln/>
        </p:spPr>
        <p:txBody>
          <a:bodyPr wrap="square" lIns="0" tIns="0" rIns="0" bIns="0" rtlCol="0" anchor="ctr"/>
          <a:lstStyle/>
          <a:p>
            <a:pPr indent="0" marL="0">
              <a:buNone/>
            </a:pPr>
            <a:r>
              <a:rPr lang="en-US" sz="1500" b="1" dirty="0">
                <a:solidFill>
                  <a:srgbClr val="007F99"/>
                </a:solidFill>
                <a:latin typeface="Segoe UI" pitchFamily="34" charset="0"/>
                <a:ea typeface="Segoe UI" pitchFamily="34" charset="-122"/>
                <a:cs typeface="Segoe UI" pitchFamily="34" charset="-120"/>
              </a:rPr>
              <a:t>Comuna</a:t>
            </a:r>
            <a:endParaRPr lang="en-US" sz="1500" dirty="0"/>
          </a:p>
        </p:txBody>
      </p:sp>
      <p:sp>
        <p:nvSpPr>
          <p:cNvPr id="9" name="Text 6"/>
          <p:cNvSpPr/>
          <p:nvPr/>
        </p:nvSpPr>
        <p:spPr>
          <a:xfrm>
            <a:off x="566928" y="3429000"/>
            <a:ext cx="1655064" cy="740664"/>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Registra productos y cantidades.</a:t>
            </a:r>
            <a:endParaRPr lang="en-US" sz="1600" dirty="0"/>
          </a:p>
        </p:txBody>
      </p:sp>
      <p:sp>
        <p:nvSpPr>
          <p:cNvPr id="10" name="Shape 7"/>
          <p:cNvSpPr/>
          <p:nvPr/>
        </p:nvSpPr>
        <p:spPr>
          <a:xfrm>
            <a:off x="2377440" y="2971800"/>
            <a:ext cx="374904" cy="0"/>
          </a:xfrm>
          <a:prstGeom prst="line">
            <a:avLst/>
          </a:prstGeom>
          <a:noFill/>
          <a:ln w="19050">
            <a:solidFill>
              <a:srgbClr val="007F99"/>
            </a:solidFill>
            <a:prstDash val="solid"/>
            <a:headEnd type="none"/>
            <a:tailEnd type="triangle"/>
          </a:ln>
        </p:spPr>
      </p:sp>
      <p:sp>
        <p:nvSpPr>
          <p:cNvPr id="11" name="Shape 8"/>
          <p:cNvSpPr/>
          <p:nvPr/>
        </p:nvSpPr>
        <p:spPr>
          <a:xfrm>
            <a:off x="2807208" y="1874520"/>
            <a:ext cx="1874520" cy="2331720"/>
          </a:xfrm>
          <a:prstGeom prst="rect">
            <a:avLst/>
          </a:prstGeom>
          <a:solidFill>
            <a:srgbClr val="E4F5FA"/>
          </a:solidFill>
          <a:ln w="10160">
            <a:solidFill>
              <a:srgbClr val="D6E3E9"/>
            </a:solidFill>
            <a:prstDash val="solid"/>
          </a:ln>
        </p:spPr>
      </p:sp>
      <p:sp>
        <p:nvSpPr>
          <p:cNvPr id="12" name="Text 9"/>
          <p:cNvSpPr/>
          <p:nvPr/>
        </p:nvSpPr>
        <p:spPr>
          <a:xfrm>
            <a:off x="2916936" y="2029968"/>
            <a:ext cx="1655064" cy="859536"/>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2. Matching</a:t>
            </a:r>
            <a:endParaRPr lang="en-US" sz="1900" dirty="0"/>
          </a:p>
        </p:txBody>
      </p:sp>
      <p:sp>
        <p:nvSpPr>
          <p:cNvPr id="13" name="Text 10"/>
          <p:cNvSpPr/>
          <p:nvPr/>
        </p:nvSpPr>
        <p:spPr>
          <a:xfrm>
            <a:off x="2916936" y="2990088"/>
            <a:ext cx="1655064" cy="347472"/>
          </a:xfrm>
          <a:prstGeom prst="rect">
            <a:avLst/>
          </a:prstGeom>
          <a:noFill/>
          <a:ln/>
        </p:spPr>
        <p:txBody>
          <a:bodyPr wrap="square" lIns="0" tIns="0" rIns="0" bIns="0" rtlCol="0" anchor="ctr"/>
          <a:lstStyle/>
          <a:p>
            <a:pPr indent="0" marL="0">
              <a:buNone/>
            </a:pPr>
            <a:r>
              <a:rPr lang="en-US" sz="1500" b="1" dirty="0">
                <a:solidFill>
                  <a:srgbClr val="007F99"/>
                </a:solidFill>
                <a:latin typeface="Segoe UI" pitchFamily="34" charset="0"/>
                <a:ea typeface="Segoe UI" pitchFamily="34" charset="-122"/>
                <a:cs typeface="Segoe UI" pitchFamily="34" charset="-120"/>
              </a:rPr>
              <a:t>Automático</a:t>
            </a:r>
            <a:endParaRPr lang="en-US" sz="1500" dirty="0"/>
          </a:p>
        </p:txBody>
      </p:sp>
      <p:sp>
        <p:nvSpPr>
          <p:cNvPr id="14" name="Text 11"/>
          <p:cNvSpPr/>
          <p:nvPr/>
        </p:nvSpPr>
        <p:spPr>
          <a:xfrm>
            <a:off x="2916936" y="3429000"/>
            <a:ext cx="1655064" cy="740664"/>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Cruza demanda con lotes aptos.</a:t>
            </a:r>
            <a:endParaRPr lang="en-US" sz="1600" dirty="0"/>
          </a:p>
        </p:txBody>
      </p:sp>
      <p:sp>
        <p:nvSpPr>
          <p:cNvPr id="15" name="Shape 12"/>
          <p:cNvSpPr/>
          <p:nvPr/>
        </p:nvSpPr>
        <p:spPr>
          <a:xfrm>
            <a:off x="4727448" y="2971800"/>
            <a:ext cx="374904" cy="0"/>
          </a:xfrm>
          <a:prstGeom prst="line">
            <a:avLst/>
          </a:prstGeom>
          <a:noFill/>
          <a:ln w="19050">
            <a:solidFill>
              <a:srgbClr val="007F99"/>
            </a:solidFill>
            <a:prstDash val="solid"/>
            <a:headEnd type="none"/>
            <a:tailEnd type="triangle"/>
          </a:ln>
        </p:spPr>
      </p:sp>
      <p:sp>
        <p:nvSpPr>
          <p:cNvPr id="16" name="Shape 13"/>
          <p:cNvSpPr/>
          <p:nvPr/>
        </p:nvSpPr>
        <p:spPr>
          <a:xfrm>
            <a:off x="5157216" y="1874520"/>
            <a:ext cx="1874520" cy="2331720"/>
          </a:xfrm>
          <a:prstGeom prst="rect">
            <a:avLst/>
          </a:prstGeom>
          <a:solidFill>
            <a:srgbClr val="FFFFFF"/>
          </a:solidFill>
          <a:ln w="10160">
            <a:solidFill>
              <a:srgbClr val="D6E3E9"/>
            </a:solidFill>
            <a:prstDash val="solid"/>
          </a:ln>
        </p:spPr>
      </p:sp>
      <p:sp>
        <p:nvSpPr>
          <p:cNvPr id="17" name="Text 14"/>
          <p:cNvSpPr/>
          <p:nvPr/>
        </p:nvSpPr>
        <p:spPr>
          <a:xfrm>
            <a:off x="5266944" y="2029968"/>
            <a:ext cx="1655064" cy="859536"/>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3. Confirmación</a:t>
            </a:r>
            <a:endParaRPr lang="en-US" sz="1800" dirty="0"/>
          </a:p>
          <a:p>
            <a:pPr indent="0" marL="0">
              <a:buNone/>
            </a:pPr>
            <a:r>
              <a:rPr lang="en-US" sz="1800" b="1" dirty="0">
                <a:solidFill>
                  <a:srgbClr val="123D4B"/>
                </a:solidFill>
                <a:latin typeface="Segoe UI" pitchFamily="34" charset="0"/>
                <a:ea typeface="Segoe UI" pitchFamily="34" charset="-122"/>
                <a:cs typeface="Segoe UI" pitchFamily="34" charset="-120"/>
              </a:rPr>
              <a:t>y autorización</a:t>
            </a:r>
            <a:endParaRPr lang="en-US" sz="1800" dirty="0"/>
          </a:p>
        </p:txBody>
      </p:sp>
      <p:sp>
        <p:nvSpPr>
          <p:cNvPr id="18" name="Text 15"/>
          <p:cNvSpPr/>
          <p:nvPr/>
        </p:nvSpPr>
        <p:spPr>
          <a:xfrm>
            <a:off x="5266944" y="2990088"/>
            <a:ext cx="1655064" cy="347472"/>
          </a:xfrm>
          <a:prstGeom prst="rect">
            <a:avLst/>
          </a:prstGeom>
          <a:noFill/>
          <a:ln/>
        </p:spPr>
        <p:txBody>
          <a:bodyPr wrap="square" lIns="0" tIns="0" rIns="0" bIns="0" rtlCol="0" anchor="ctr"/>
          <a:lstStyle/>
          <a:p>
            <a:pPr indent="0" marL="0">
              <a:buNone/>
            </a:pPr>
            <a:r>
              <a:rPr lang="en-US" sz="1500" b="1" dirty="0">
                <a:solidFill>
                  <a:srgbClr val="007F99"/>
                </a:solidFill>
                <a:latin typeface="Segoe UI" pitchFamily="34" charset="0"/>
                <a:ea typeface="Segoe UI" pitchFamily="34" charset="-122"/>
                <a:cs typeface="Segoe UI" pitchFamily="34" charset="-120"/>
              </a:rPr>
              <a:t>ONG</a:t>
            </a:r>
            <a:endParaRPr lang="en-US" sz="1500" dirty="0"/>
          </a:p>
        </p:txBody>
      </p:sp>
      <p:sp>
        <p:nvSpPr>
          <p:cNvPr id="19" name="Text 16"/>
          <p:cNvSpPr/>
          <p:nvPr/>
        </p:nvSpPr>
        <p:spPr>
          <a:xfrm>
            <a:off x="5266944" y="3429000"/>
            <a:ext cx="1655064" cy="740664"/>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Decide el aporte. Autoriza su salida.</a:t>
            </a:r>
            <a:endParaRPr lang="en-US" sz="1600" dirty="0"/>
          </a:p>
        </p:txBody>
      </p:sp>
      <p:sp>
        <p:nvSpPr>
          <p:cNvPr id="20" name="Shape 17"/>
          <p:cNvSpPr/>
          <p:nvPr/>
        </p:nvSpPr>
        <p:spPr>
          <a:xfrm>
            <a:off x="7077456" y="2971800"/>
            <a:ext cx="374904" cy="0"/>
          </a:xfrm>
          <a:prstGeom prst="line">
            <a:avLst/>
          </a:prstGeom>
          <a:noFill/>
          <a:ln w="19050">
            <a:solidFill>
              <a:srgbClr val="007F99"/>
            </a:solidFill>
            <a:prstDash val="solid"/>
            <a:headEnd type="none"/>
            <a:tailEnd type="triangle"/>
          </a:ln>
        </p:spPr>
      </p:sp>
      <p:sp>
        <p:nvSpPr>
          <p:cNvPr id="21" name="Shape 18"/>
          <p:cNvSpPr/>
          <p:nvPr/>
        </p:nvSpPr>
        <p:spPr>
          <a:xfrm>
            <a:off x="7507224" y="1874520"/>
            <a:ext cx="1874520" cy="2331720"/>
          </a:xfrm>
          <a:prstGeom prst="rect">
            <a:avLst/>
          </a:prstGeom>
          <a:solidFill>
            <a:srgbClr val="FFFFFF"/>
          </a:solidFill>
          <a:ln w="10160">
            <a:solidFill>
              <a:srgbClr val="D6E3E9"/>
            </a:solidFill>
            <a:prstDash val="solid"/>
          </a:ln>
        </p:spPr>
      </p:sp>
      <p:sp>
        <p:nvSpPr>
          <p:cNvPr id="22" name="Text 19"/>
          <p:cNvSpPr/>
          <p:nvPr/>
        </p:nvSpPr>
        <p:spPr>
          <a:xfrm>
            <a:off x="7616952" y="2029968"/>
            <a:ext cx="1655064" cy="859536"/>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4. Traslado</a:t>
            </a:r>
            <a:endParaRPr lang="en-US" sz="1900" dirty="0"/>
          </a:p>
        </p:txBody>
      </p:sp>
      <p:sp>
        <p:nvSpPr>
          <p:cNvPr id="23" name="Text 20"/>
          <p:cNvSpPr/>
          <p:nvPr/>
        </p:nvSpPr>
        <p:spPr>
          <a:xfrm>
            <a:off x="7616952" y="2990088"/>
            <a:ext cx="1655064" cy="347472"/>
          </a:xfrm>
          <a:prstGeom prst="rect">
            <a:avLst/>
          </a:prstGeom>
          <a:noFill/>
          <a:ln/>
        </p:spPr>
        <p:txBody>
          <a:bodyPr wrap="square" lIns="0" tIns="0" rIns="0" bIns="0" rtlCol="0" anchor="ctr"/>
          <a:lstStyle/>
          <a:p>
            <a:pPr indent="0" marL="0">
              <a:buNone/>
            </a:pPr>
            <a:r>
              <a:rPr lang="en-US" sz="1500" b="1" dirty="0">
                <a:solidFill>
                  <a:srgbClr val="007F99"/>
                </a:solidFill>
                <a:latin typeface="Segoe UI" pitchFamily="34" charset="0"/>
                <a:ea typeface="Segoe UI" pitchFamily="34" charset="-122"/>
                <a:cs typeface="Segoe UI" pitchFamily="34" charset="-120"/>
              </a:rPr>
              <a:t>Brigada</a:t>
            </a:r>
            <a:endParaRPr lang="en-US" sz="1500" dirty="0"/>
          </a:p>
        </p:txBody>
      </p:sp>
      <p:sp>
        <p:nvSpPr>
          <p:cNvPr id="24" name="Text 21"/>
          <p:cNvSpPr/>
          <p:nvPr/>
        </p:nvSpPr>
        <p:spPr>
          <a:xfrm>
            <a:off x="7616952" y="3429000"/>
            <a:ext cx="1655064" cy="740664"/>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Verifica, retira y registra llegada.</a:t>
            </a:r>
            <a:endParaRPr lang="en-US" sz="1600" dirty="0"/>
          </a:p>
        </p:txBody>
      </p:sp>
      <p:sp>
        <p:nvSpPr>
          <p:cNvPr id="25" name="Shape 22"/>
          <p:cNvSpPr/>
          <p:nvPr/>
        </p:nvSpPr>
        <p:spPr>
          <a:xfrm>
            <a:off x="9427464" y="2971800"/>
            <a:ext cx="374904" cy="0"/>
          </a:xfrm>
          <a:prstGeom prst="line">
            <a:avLst/>
          </a:prstGeom>
          <a:noFill/>
          <a:ln w="19050">
            <a:solidFill>
              <a:srgbClr val="007F99"/>
            </a:solidFill>
            <a:prstDash val="solid"/>
            <a:headEnd type="none"/>
            <a:tailEnd type="triangle"/>
          </a:ln>
        </p:spPr>
      </p:sp>
      <p:sp>
        <p:nvSpPr>
          <p:cNvPr id="26" name="Shape 23"/>
          <p:cNvSpPr/>
          <p:nvPr/>
        </p:nvSpPr>
        <p:spPr>
          <a:xfrm>
            <a:off x="9857232" y="1874520"/>
            <a:ext cx="1874520" cy="2331720"/>
          </a:xfrm>
          <a:prstGeom prst="rect">
            <a:avLst/>
          </a:prstGeom>
          <a:solidFill>
            <a:srgbClr val="FFFFFF"/>
          </a:solidFill>
          <a:ln w="10160">
            <a:solidFill>
              <a:srgbClr val="D6E3E9"/>
            </a:solidFill>
            <a:prstDash val="solid"/>
          </a:ln>
        </p:spPr>
      </p:sp>
      <p:sp>
        <p:nvSpPr>
          <p:cNvPr id="27" name="Text 24"/>
          <p:cNvSpPr/>
          <p:nvPr/>
        </p:nvSpPr>
        <p:spPr>
          <a:xfrm>
            <a:off x="9966960" y="2029968"/>
            <a:ext cx="1655064" cy="859536"/>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5. Recepción</a:t>
            </a:r>
            <a:endParaRPr lang="en-US" sz="1900" dirty="0"/>
          </a:p>
        </p:txBody>
      </p:sp>
      <p:sp>
        <p:nvSpPr>
          <p:cNvPr id="28" name="Text 25"/>
          <p:cNvSpPr/>
          <p:nvPr/>
        </p:nvSpPr>
        <p:spPr>
          <a:xfrm>
            <a:off x="9966960" y="2990088"/>
            <a:ext cx="1655064" cy="347472"/>
          </a:xfrm>
          <a:prstGeom prst="rect">
            <a:avLst/>
          </a:prstGeom>
          <a:noFill/>
          <a:ln/>
        </p:spPr>
        <p:txBody>
          <a:bodyPr wrap="square" lIns="0" tIns="0" rIns="0" bIns="0" rtlCol="0" anchor="ctr"/>
          <a:lstStyle/>
          <a:p>
            <a:pPr indent="0" marL="0">
              <a:buNone/>
            </a:pPr>
            <a:r>
              <a:rPr lang="en-US" sz="1500" b="1" dirty="0">
                <a:solidFill>
                  <a:srgbClr val="007F99"/>
                </a:solidFill>
                <a:latin typeface="Segoe UI" pitchFamily="34" charset="0"/>
                <a:ea typeface="Segoe UI" pitchFamily="34" charset="-122"/>
                <a:cs typeface="Segoe UI" pitchFamily="34" charset="-120"/>
              </a:rPr>
              <a:t>Comuna</a:t>
            </a:r>
            <a:endParaRPr lang="en-US" sz="1500" dirty="0"/>
          </a:p>
        </p:txBody>
      </p:sp>
      <p:sp>
        <p:nvSpPr>
          <p:cNvPr id="29" name="Text 26"/>
          <p:cNvSpPr/>
          <p:nvPr/>
        </p:nvSpPr>
        <p:spPr>
          <a:xfrm>
            <a:off x="9966960" y="3429000"/>
            <a:ext cx="1655064" cy="740664"/>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Verifica la carga y su conformidad.</a:t>
            </a:r>
            <a:endParaRPr lang="en-US" sz="1600" dirty="0"/>
          </a:p>
        </p:txBody>
      </p:sp>
      <p:sp>
        <p:nvSpPr>
          <p:cNvPr id="30" name="Shape 27"/>
          <p:cNvSpPr/>
          <p:nvPr/>
        </p:nvSpPr>
        <p:spPr>
          <a:xfrm>
            <a:off x="731520" y="4434840"/>
            <a:ext cx="10698480" cy="0"/>
          </a:xfrm>
          <a:prstGeom prst="line">
            <a:avLst/>
          </a:prstGeom>
          <a:noFill/>
          <a:ln w="19050">
            <a:solidFill>
              <a:srgbClr val="D6E3E9"/>
            </a:solidFill>
            <a:prstDash val="solid"/>
            <a:headEnd type="none"/>
            <a:tailEnd type="none"/>
          </a:ln>
        </p:spPr>
      </p:sp>
      <p:sp>
        <p:nvSpPr>
          <p:cNvPr id="31" name="Shape 28"/>
          <p:cNvSpPr/>
          <p:nvPr/>
        </p:nvSpPr>
        <p:spPr>
          <a:xfrm>
            <a:off x="1399032" y="4251960"/>
            <a:ext cx="0" cy="182880"/>
          </a:xfrm>
          <a:prstGeom prst="line">
            <a:avLst/>
          </a:prstGeom>
          <a:noFill/>
          <a:ln w="12700">
            <a:solidFill>
              <a:srgbClr val="D6E3E9"/>
            </a:solidFill>
            <a:prstDash val="solid"/>
            <a:headEnd type="none"/>
            <a:tailEnd type="none"/>
          </a:ln>
        </p:spPr>
      </p:sp>
      <p:sp>
        <p:nvSpPr>
          <p:cNvPr id="32" name="Shape 29"/>
          <p:cNvSpPr/>
          <p:nvPr/>
        </p:nvSpPr>
        <p:spPr>
          <a:xfrm>
            <a:off x="3749040" y="4251960"/>
            <a:ext cx="0" cy="182880"/>
          </a:xfrm>
          <a:prstGeom prst="line">
            <a:avLst/>
          </a:prstGeom>
          <a:noFill/>
          <a:ln w="12700">
            <a:solidFill>
              <a:srgbClr val="D6E3E9"/>
            </a:solidFill>
            <a:prstDash val="solid"/>
            <a:headEnd type="none"/>
            <a:tailEnd type="none"/>
          </a:ln>
        </p:spPr>
      </p:sp>
      <p:sp>
        <p:nvSpPr>
          <p:cNvPr id="33" name="Shape 30"/>
          <p:cNvSpPr/>
          <p:nvPr/>
        </p:nvSpPr>
        <p:spPr>
          <a:xfrm>
            <a:off x="6089904" y="4251960"/>
            <a:ext cx="0" cy="182880"/>
          </a:xfrm>
          <a:prstGeom prst="line">
            <a:avLst/>
          </a:prstGeom>
          <a:noFill/>
          <a:ln w="12700">
            <a:solidFill>
              <a:srgbClr val="D6E3E9"/>
            </a:solidFill>
            <a:prstDash val="solid"/>
            <a:headEnd type="none"/>
            <a:tailEnd type="none"/>
          </a:ln>
        </p:spPr>
      </p:sp>
      <p:sp>
        <p:nvSpPr>
          <p:cNvPr id="34" name="Shape 31"/>
          <p:cNvSpPr/>
          <p:nvPr/>
        </p:nvSpPr>
        <p:spPr>
          <a:xfrm>
            <a:off x="8439912" y="4251960"/>
            <a:ext cx="0" cy="182880"/>
          </a:xfrm>
          <a:prstGeom prst="line">
            <a:avLst/>
          </a:prstGeom>
          <a:noFill/>
          <a:ln w="12700">
            <a:solidFill>
              <a:srgbClr val="D6E3E9"/>
            </a:solidFill>
            <a:prstDash val="solid"/>
            <a:headEnd type="none"/>
            <a:tailEnd type="none"/>
          </a:ln>
        </p:spPr>
      </p:sp>
      <p:sp>
        <p:nvSpPr>
          <p:cNvPr id="35" name="Shape 32"/>
          <p:cNvSpPr/>
          <p:nvPr/>
        </p:nvSpPr>
        <p:spPr>
          <a:xfrm>
            <a:off x="10789920" y="4251960"/>
            <a:ext cx="0" cy="182880"/>
          </a:xfrm>
          <a:prstGeom prst="line">
            <a:avLst/>
          </a:prstGeom>
          <a:noFill/>
          <a:ln w="12700">
            <a:solidFill>
              <a:srgbClr val="D6E3E9"/>
            </a:solidFill>
            <a:prstDash val="solid"/>
            <a:headEnd type="none"/>
            <a:tailEnd type="none"/>
          </a:ln>
        </p:spPr>
      </p:sp>
      <p:sp>
        <p:nvSpPr>
          <p:cNvPr id="36" name="Shape 33"/>
          <p:cNvSpPr/>
          <p:nvPr/>
        </p:nvSpPr>
        <p:spPr>
          <a:xfrm>
            <a:off x="6089904" y="4434840"/>
            <a:ext cx="0" cy="283464"/>
          </a:xfrm>
          <a:prstGeom prst="line">
            <a:avLst/>
          </a:prstGeom>
          <a:noFill/>
          <a:ln w="19050">
            <a:solidFill>
              <a:srgbClr val="007F99"/>
            </a:solidFill>
            <a:prstDash val="dash"/>
            <a:headEnd type="none"/>
            <a:tailEnd type="triangle"/>
          </a:ln>
        </p:spPr>
      </p:sp>
      <p:sp>
        <p:nvSpPr>
          <p:cNvPr id="37" name="Shape 34"/>
          <p:cNvSpPr/>
          <p:nvPr/>
        </p:nvSpPr>
        <p:spPr>
          <a:xfrm>
            <a:off x="457200" y="4773168"/>
            <a:ext cx="6858000" cy="960120"/>
          </a:xfrm>
          <a:prstGeom prst="rect">
            <a:avLst/>
          </a:prstGeom>
          <a:solidFill>
            <a:srgbClr val="E4F5FA"/>
          </a:solidFill>
          <a:ln w="10160">
            <a:solidFill>
              <a:srgbClr val="D6E3E9"/>
            </a:solidFill>
            <a:prstDash val="solid"/>
          </a:ln>
        </p:spPr>
      </p:sp>
      <p:sp>
        <p:nvSpPr>
          <p:cNvPr id="38" name="Text 35"/>
          <p:cNvSpPr/>
          <p:nvPr/>
        </p:nvSpPr>
        <p:spPr>
          <a:xfrm>
            <a:off x="640080" y="4937760"/>
            <a:ext cx="2286000" cy="320040"/>
          </a:xfrm>
          <a:prstGeom prst="rect">
            <a:avLst/>
          </a:prstGeom>
          <a:noFill/>
          <a:ln/>
        </p:spPr>
        <p:txBody>
          <a:bodyPr wrap="square" lIns="0" tIns="0" rIns="0" bIns="0" rtlCol="0" anchor="ctr"/>
          <a:lstStyle/>
          <a:p>
            <a:pPr indent="0" marL="0">
              <a:buNone/>
            </a:pPr>
            <a:r>
              <a:rPr lang="en-US" sz="2100" b="1" dirty="0">
                <a:solidFill>
                  <a:srgbClr val="123D4B"/>
                </a:solidFill>
                <a:latin typeface="Segoe UI" pitchFamily="34" charset="0"/>
                <a:ea typeface="Segoe UI" pitchFamily="34" charset="-122"/>
                <a:cs typeface="Segoe UI" pitchFamily="34" charset="-120"/>
              </a:rPr>
              <a:t>6. Supervisión</a:t>
            </a:r>
            <a:endParaRPr lang="en-US" sz="2100" dirty="0"/>
          </a:p>
        </p:txBody>
      </p:sp>
      <p:sp>
        <p:nvSpPr>
          <p:cNvPr id="39" name="Text 36"/>
          <p:cNvSpPr/>
          <p:nvPr/>
        </p:nvSpPr>
        <p:spPr>
          <a:xfrm>
            <a:off x="3108960" y="4919472"/>
            <a:ext cx="3977640" cy="640080"/>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Defensa Civil consulta riesgos, avance y resultados a lo largo del proceso.</a:t>
            </a:r>
            <a:endParaRPr lang="en-US" sz="1700" dirty="0"/>
          </a:p>
        </p:txBody>
      </p:sp>
      <p:sp>
        <p:nvSpPr>
          <p:cNvPr id="40" name="Shape 37"/>
          <p:cNvSpPr/>
          <p:nvPr/>
        </p:nvSpPr>
        <p:spPr>
          <a:xfrm>
            <a:off x="8229600" y="4773168"/>
            <a:ext cx="3502152" cy="960120"/>
          </a:xfrm>
          <a:prstGeom prst="rect">
            <a:avLst/>
          </a:prstGeom>
          <a:solidFill>
            <a:srgbClr val="FFFFFF"/>
          </a:solidFill>
          <a:ln w="10160">
            <a:solidFill>
              <a:srgbClr val="D6E3E9"/>
            </a:solidFill>
            <a:prstDash val="solid"/>
          </a:ln>
        </p:spPr>
      </p:sp>
      <p:sp>
        <p:nvSpPr>
          <p:cNvPr id="41" name="Text 38"/>
          <p:cNvSpPr/>
          <p:nvPr/>
        </p:nvSpPr>
        <p:spPr>
          <a:xfrm>
            <a:off x="8394192" y="4910328"/>
            <a:ext cx="3172968" cy="320040"/>
          </a:xfrm>
          <a:prstGeom prst="rect">
            <a:avLst/>
          </a:prstGeom>
          <a:noFill/>
          <a:ln/>
        </p:spPr>
        <p:txBody>
          <a:bodyPr wrap="square" lIns="0" tIns="0" rIns="0" bIns="0" rtlCol="0" anchor="ctr"/>
          <a:lstStyle/>
          <a:p>
            <a:pPr indent="0" marL="0">
              <a:buNone/>
            </a:pPr>
            <a:r>
              <a:rPr lang="en-US" sz="1700" b="1" dirty="0">
                <a:solidFill>
                  <a:srgbClr val="123D4B"/>
                </a:solidFill>
                <a:latin typeface="Segoe UI" pitchFamily="34" charset="0"/>
                <a:ea typeface="Segoe UI" pitchFamily="34" charset="-122"/>
                <a:cs typeface="Segoe UI" pitchFamily="34" charset="-120"/>
              </a:rPr>
              <a:t>Observaciones externas</a:t>
            </a:r>
            <a:endParaRPr lang="en-US" sz="1700" dirty="0"/>
          </a:p>
        </p:txBody>
      </p:sp>
      <p:sp>
        <p:nvSpPr>
          <p:cNvPr id="42" name="Text 39"/>
          <p:cNvSpPr/>
          <p:nvPr/>
        </p:nvSpPr>
        <p:spPr>
          <a:xfrm>
            <a:off x="8394192" y="5330952"/>
            <a:ext cx="3172968" cy="274320"/>
          </a:xfrm>
          <a:prstGeom prst="rect">
            <a:avLst/>
          </a:prstGeom>
          <a:noFill/>
          <a:ln/>
        </p:spPr>
        <p:txBody>
          <a:bodyPr wrap="square" lIns="0" tIns="0" rIns="0" bIns="0" rtlCol="0" anchor="ctr"/>
          <a:lstStyle/>
          <a:p>
            <a:pPr indent="0" marL="0">
              <a:buNone/>
            </a:pPr>
            <a:r>
              <a:rPr lang="en-US" sz="1500" dirty="0">
                <a:solidFill>
                  <a:srgbClr val="183B4A"/>
                </a:solidFill>
                <a:latin typeface="Segoe UI" pitchFamily="34" charset="0"/>
                <a:ea typeface="Segoe UI" pitchFamily="34" charset="-122"/>
                <a:cs typeface="Segoe UI" pitchFamily="34" charset="-120"/>
              </a:rPr>
              <a:t>Ingesta automática informativa.</a:t>
            </a:r>
            <a:endParaRPr lang="en-US" sz="1500" dirty="0"/>
          </a:p>
        </p:txBody>
      </p:sp>
      <p:sp>
        <p:nvSpPr>
          <p:cNvPr id="43" name="Shape 40"/>
          <p:cNvSpPr/>
          <p:nvPr/>
        </p:nvSpPr>
        <p:spPr>
          <a:xfrm flipH="1">
            <a:off x="7360920" y="5257800"/>
            <a:ext cx="832104" cy="0"/>
          </a:xfrm>
          <a:prstGeom prst="line">
            <a:avLst/>
          </a:prstGeom>
          <a:noFill/>
          <a:ln w="19050">
            <a:solidFill>
              <a:srgbClr val="007F99"/>
            </a:solidFill>
            <a:prstDash val="dash"/>
            <a:headEnd type="none"/>
            <a:tailEnd type="triangle"/>
          </a:ln>
        </p:spPr>
      </p:sp>
      <p:sp>
        <p:nvSpPr>
          <p:cNvPr id="44" name="Text 41"/>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La ingesta complementa la supervisión; una comunidad puede solicitar ayuda sin esperar una alerta externa.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Análisis funcional y reglas de negocio</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07</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Los estados representan decisiones y hechos diferentes</a:t>
            </a:r>
            <a:endParaRPr lang="en-US" sz="1800" dirty="0"/>
          </a:p>
        </p:txBody>
      </p:sp>
      <p:sp>
        <p:nvSpPr>
          <p:cNvPr id="6" name="Text 3"/>
          <p:cNvSpPr/>
          <p:nvPr/>
        </p:nvSpPr>
        <p:spPr>
          <a:xfrm>
            <a:off x="457200" y="1719072"/>
            <a:ext cx="3493008" cy="347472"/>
          </a:xfrm>
          <a:prstGeom prst="rect">
            <a:avLst/>
          </a:prstGeom>
          <a:noFill/>
          <a:ln/>
        </p:spPr>
        <p:txBody>
          <a:bodyPr wrap="square" lIns="0" tIns="0" rIns="0" bIns="0" rtlCol="0" anchor="ctr"/>
          <a:lstStyle/>
          <a:p>
            <a:pPr indent="0" marL="0">
              <a:buNone/>
            </a:pPr>
            <a:r>
              <a:rPr lang="en-US" sz="2100" b="1" dirty="0">
                <a:solidFill>
                  <a:srgbClr val="123D4B"/>
                </a:solidFill>
                <a:latin typeface="Segoe UI" pitchFamily="34" charset="0"/>
                <a:ea typeface="Segoe UI" pitchFamily="34" charset="-122"/>
                <a:cs typeface="Segoe UI" pitchFamily="34" charset="-120"/>
              </a:rPr>
              <a:t>Propuesta y decisión</a:t>
            </a:r>
            <a:endParaRPr lang="en-US" sz="2100" dirty="0"/>
          </a:p>
        </p:txBody>
      </p:sp>
      <p:sp>
        <p:nvSpPr>
          <p:cNvPr id="7" name="Shape 4"/>
          <p:cNvSpPr/>
          <p:nvPr/>
        </p:nvSpPr>
        <p:spPr>
          <a:xfrm>
            <a:off x="457200" y="2295144"/>
            <a:ext cx="3493008" cy="0"/>
          </a:xfrm>
          <a:prstGeom prst="line">
            <a:avLst/>
          </a:prstGeom>
          <a:noFill/>
          <a:ln w="25400">
            <a:solidFill>
              <a:srgbClr val="007F99"/>
            </a:solidFill>
            <a:prstDash val="solid"/>
            <a:headEnd type="none"/>
            <a:tailEnd type="none"/>
          </a:ln>
        </p:spPr>
      </p:sp>
      <p:sp>
        <p:nvSpPr>
          <p:cNvPr id="8" name="Text 5"/>
          <p:cNvSpPr/>
          <p:nvPr/>
        </p:nvSpPr>
        <p:spPr>
          <a:xfrm>
            <a:off x="457200" y="2587752"/>
            <a:ext cx="3493008" cy="2057400"/>
          </a:xfrm>
          <a:prstGeom prst="rect">
            <a:avLst/>
          </a:prstGeom>
          <a:noFill/>
          <a:ln/>
        </p:spPr>
        <p:txBody>
          <a:bodyPr wrap="square" lIns="0" tIns="0" rIns="0" bIns="0" rtlCol="0" anchor="ctr"/>
          <a:lstStyle/>
          <a:p>
            <a:pPr indent="0" marL="0">
              <a:buNone/>
            </a:pPr>
            <a:r>
              <a:rPr lang="en-US" sz="2000" dirty="0">
                <a:solidFill>
                  <a:srgbClr val="183B4A"/>
                </a:solidFill>
                <a:latin typeface="Segoe UI" pitchFamily="34" charset="0"/>
                <a:ea typeface="Segoe UI" pitchFamily="34" charset="-122"/>
                <a:cs typeface="Segoe UI" pitchFamily="34" charset="-120"/>
              </a:rPr>
              <a:t>Matching sugiere cantidades sin comprometer stock. Confirmar expresa el aporte aceptado; todavía se requiere autorizar su salida.</a:t>
            </a:r>
            <a:endParaRPr lang="en-US" sz="2000" dirty="0"/>
          </a:p>
        </p:txBody>
      </p:sp>
      <p:sp>
        <p:nvSpPr>
          <p:cNvPr id="9" name="Text 6"/>
          <p:cNvSpPr/>
          <p:nvPr/>
        </p:nvSpPr>
        <p:spPr>
          <a:xfrm>
            <a:off x="457200" y="5074920"/>
            <a:ext cx="3493008" cy="438912"/>
          </a:xfrm>
          <a:prstGeom prst="rect">
            <a:avLst/>
          </a:prstGeom>
          <a:noFill/>
          <a:ln/>
        </p:spPr>
        <p:txBody>
          <a:bodyPr wrap="square" lIns="0" tIns="0" rIns="0" bIns="0" rtlCol="0" anchor="ctr"/>
          <a:lstStyle/>
          <a:p>
            <a:pPr indent="0" marL="0">
              <a:buNone/>
            </a:pPr>
            <a:r>
              <a:rPr lang="en-US" sz="1600" b="1" dirty="0">
                <a:solidFill>
                  <a:srgbClr val="007F99"/>
                </a:solidFill>
                <a:latin typeface="Segoe UI" pitchFamily="34" charset="0"/>
                <a:ea typeface="Segoe UI" pitchFamily="34" charset="-122"/>
                <a:cs typeface="Segoe UI" pitchFamily="34" charset="-120"/>
              </a:rPr>
              <a:t>Propuesto / Confirmado</a:t>
            </a:r>
            <a:endParaRPr lang="en-US" sz="1600" dirty="0"/>
          </a:p>
        </p:txBody>
      </p:sp>
      <p:sp>
        <p:nvSpPr>
          <p:cNvPr id="10" name="Text 7"/>
          <p:cNvSpPr/>
          <p:nvPr/>
        </p:nvSpPr>
        <p:spPr>
          <a:xfrm>
            <a:off x="4343400" y="1719072"/>
            <a:ext cx="3493008" cy="347472"/>
          </a:xfrm>
          <a:prstGeom prst="rect">
            <a:avLst/>
          </a:prstGeom>
          <a:noFill/>
          <a:ln/>
        </p:spPr>
        <p:txBody>
          <a:bodyPr wrap="square" lIns="0" tIns="0" rIns="0" bIns="0" rtlCol="0" anchor="ctr"/>
          <a:lstStyle/>
          <a:p>
            <a:pPr indent="0" marL="0">
              <a:buNone/>
            </a:pPr>
            <a:r>
              <a:rPr lang="en-US" sz="2100" b="1" dirty="0">
                <a:solidFill>
                  <a:srgbClr val="123D4B"/>
                </a:solidFill>
                <a:latin typeface="Segoe UI" pitchFamily="34" charset="0"/>
                <a:ea typeface="Segoe UI" pitchFamily="34" charset="-122"/>
                <a:cs typeface="Segoe UI" pitchFamily="34" charset="-120"/>
              </a:rPr>
              <a:t>Autorización y retiro</a:t>
            </a:r>
            <a:endParaRPr lang="en-US" sz="2100" dirty="0"/>
          </a:p>
        </p:txBody>
      </p:sp>
      <p:sp>
        <p:nvSpPr>
          <p:cNvPr id="11" name="Shape 8"/>
          <p:cNvSpPr/>
          <p:nvPr/>
        </p:nvSpPr>
        <p:spPr>
          <a:xfrm>
            <a:off x="4343400" y="2295144"/>
            <a:ext cx="3493008" cy="0"/>
          </a:xfrm>
          <a:prstGeom prst="line">
            <a:avLst/>
          </a:prstGeom>
          <a:noFill/>
          <a:ln w="25400">
            <a:solidFill>
              <a:srgbClr val="007F99"/>
            </a:solidFill>
            <a:prstDash val="solid"/>
            <a:headEnd type="none"/>
            <a:tailEnd type="none"/>
          </a:ln>
        </p:spPr>
      </p:sp>
      <p:sp>
        <p:nvSpPr>
          <p:cNvPr id="12" name="Text 9"/>
          <p:cNvSpPr/>
          <p:nvPr/>
        </p:nvSpPr>
        <p:spPr>
          <a:xfrm>
            <a:off x="4343400" y="2587752"/>
            <a:ext cx="3493008" cy="2057400"/>
          </a:xfrm>
          <a:prstGeom prst="rect">
            <a:avLst/>
          </a:prstGeom>
          <a:noFill/>
          <a:ln/>
        </p:spPr>
        <p:txBody>
          <a:bodyPr wrap="square" lIns="0" tIns="0" rIns="0" bIns="0" rtlCol="0" anchor="ctr"/>
          <a:lstStyle/>
          <a:p>
            <a:pPr indent="0" marL="0">
              <a:buNone/>
            </a:pPr>
            <a:r>
              <a:rPr lang="en-US" sz="2000" dirty="0">
                <a:solidFill>
                  <a:srgbClr val="183B4A"/>
                </a:solidFill>
                <a:latin typeface="Segoe UI" pitchFamily="34" charset="0"/>
                <a:ea typeface="Segoe UI" pitchFamily="34" charset="-122"/>
                <a:cs typeface="Segoe UI" pitchFamily="34" charset="-120"/>
              </a:rPr>
              <a:t>Autorizar exige revalidar el stock y compromete recursos. Retirar la carga completa descuenta el físico una sola vez y exige ruta vigente.</a:t>
            </a:r>
            <a:endParaRPr lang="en-US" sz="2000" dirty="0"/>
          </a:p>
        </p:txBody>
      </p:sp>
      <p:sp>
        <p:nvSpPr>
          <p:cNvPr id="13" name="Text 10"/>
          <p:cNvSpPr/>
          <p:nvPr/>
        </p:nvSpPr>
        <p:spPr>
          <a:xfrm>
            <a:off x="4343400" y="5074920"/>
            <a:ext cx="3493008" cy="438912"/>
          </a:xfrm>
          <a:prstGeom prst="rect">
            <a:avLst/>
          </a:prstGeom>
          <a:noFill/>
          <a:ln/>
        </p:spPr>
        <p:txBody>
          <a:bodyPr wrap="square" lIns="0" tIns="0" rIns="0" bIns="0" rtlCol="0" anchor="ctr"/>
          <a:lstStyle/>
          <a:p>
            <a:pPr indent="0" marL="0">
              <a:buNone/>
            </a:pPr>
            <a:r>
              <a:rPr lang="en-US" sz="1600" b="1" dirty="0">
                <a:solidFill>
                  <a:srgbClr val="007F99"/>
                </a:solidFill>
                <a:latin typeface="Segoe UI" pitchFamily="34" charset="0"/>
                <a:ea typeface="Segoe UI" pitchFamily="34" charset="-122"/>
                <a:cs typeface="Segoe UI" pitchFamily="34" charset="-120"/>
              </a:rPr>
              <a:t>Autorizado / Retirado</a:t>
            </a:r>
            <a:endParaRPr lang="en-US" sz="1600" dirty="0"/>
          </a:p>
        </p:txBody>
      </p:sp>
      <p:sp>
        <p:nvSpPr>
          <p:cNvPr id="14" name="Text 11"/>
          <p:cNvSpPr/>
          <p:nvPr/>
        </p:nvSpPr>
        <p:spPr>
          <a:xfrm>
            <a:off x="8229600" y="1719072"/>
            <a:ext cx="3493008" cy="347472"/>
          </a:xfrm>
          <a:prstGeom prst="rect">
            <a:avLst/>
          </a:prstGeom>
          <a:noFill/>
          <a:ln/>
        </p:spPr>
        <p:txBody>
          <a:bodyPr wrap="square" lIns="0" tIns="0" rIns="0" bIns="0" rtlCol="0" anchor="ctr"/>
          <a:lstStyle/>
          <a:p>
            <a:pPr indent="0" marL="0">
              <a:buNone/>
            </a:pPr>
            <a:r>
              <a:rPr lang="en-US" sz="2100" b="1" dirty="0">
                <a:solidFill>
                  <a:srgbClr val="123D4B"/>
                </a:solidFill>
                <a:latin typeface="Segoe UI" pitchFamily="34" charset="0"/>
                <a:ea typeface="Segoe UI" pitchFamily="34" charset="-122"/>
                <a:cs typeface="Segoe UI" pitchFamily="34" charset="-120"/>
              </a:rPr>
              <a:t>Llegada y recepción</a:t>
            </a:r>
            <a:endParaRPr lang="en-US" sz="2100" dirty="0"/>
          </a:p>
        </p:txBody>
      </p:sp>
      <p:sp>
        <p:nvSpPr>
          <p:cNvPr id="15" name="Shape 12"/>
          <p:cNvSpPr/>
          <p:nvPr/>
        </p:nvSpPr>
        <p:spPr>
          <a:xfrm>
            <a:off x="8229600" y="2295144"/>
            <a:ext cx="3493008" cy="0"/>
          </a:xfrm>
          <a:prstGeom prst="line">
            <a:avLst/>
          </a:prstGeom>
          <a:noFill/>
          <a:ln w="25400">
            <a:solidFill>
              <a:srgbClr val="007F99"/>
            </a:solidFill>
            <a:prstDash val="solid"/>
            <a:headEnd type="none"/>
            <a:tailEnd type="none"/>
          </a:ln>
        </p:spPr>
      </p:sp>
      <p:sp>
        <p:nvSpPr>
          <p:cNvPr id="16" name="Text 13"/>
          <p:cNvSpPr/>
          <p:nvPr/>
        </p:nvSpPr>
        <p:spPr>
          <a:xfrm>
            <a:off x="8229600" y="2587752"/>
            <a:ext cx="3493008" cy="2057400"/>
          </a:xfrm>
          <a:prstGeom prst="rect">
            <a:avLst/>
          </a:prstGeom>
          <a:noFill/>
          <a:ln/>
        </p:spPr>
        <p:txBody>
          <a:bodyPr wrap="square" lIns="0" tIns="0" rIns="0" bIns="0" rtlCol="0" anchor="ctr"/>
          <a:lstStyle/>
          <a:p>
            <a:pPr indent="0" marL="0">
              <a:buNone/>
            </a:pPr>
            <a:r>
              <a:rPr lang="en-US" sz="2000" dirty="0">
                <a:solidFill>
                  <a:srgbClr val="183B4A"/>
                </a:solidFill>
                <a:latin typeface="Segoe UI" pitchFamily="34" charset="0"/>
                <a:ea typeface="Segoe UI" pitchFamily="34" charset="-122"/>
                <a:cs typeface="Segoe UI" pitchFamily="34" charset="-120"/>
              </a:rPr>
              <a:t>La llegada habilita la verificación comunitaria. La recepción registra conformidad o discrepancias; esas diferencias no reactivan automáticamente el matching.</a:t>
            </a:r>
            <a:endParaRPr lang="en-US" sz="2000" dirty="0"/>
          </a:p>
        </p:txBody>
      </p:sp>
      <p:sp>
        <p:nvSpPr>
          <p:cNvPr id="17" name="Text 14"/>
          <p:cNvSpPr/>
          <p:nvPr/>
        </p:nvSpPr>
        <p:spPr>
          <a:xfrm>
            <a:off x="8229600" y="5074920"/>
            <a:ext cx="3493008" cy="438912"/>
          </a:xfrm>
          <a:prstGeom prst="rect">
            <a:avLst/>
          </a:prstGeom>
          <a:noFill/>
          <a:ln/>
        </p:spPr>
        <p:txBody>
          <a:bodyPr wrap="square" lIns="0" tIns="0" rIns="0" bIns="0" rtlCol="0" anchor="ctr"/>
          <a:lstStyle/>
          <a:p>
            <a:pPr indent="0" marL="0">
              <a:buNone/>
            </a:pPr>
            <a:r>
              <a:rPr lang="en-US" sz="1600" b="1" dirty="0">
                <a:solidFill>
                  <a:srgbClr val="007F99"/>
                </a:solidFill>
                <a:latin typeface="Segoe UI" pitchFamily="34" charset="0"/>
                <a:ea typeface="Segoe UI" pitchFamily="34" charset="-122"/>
                <a:cs typeface="Segoe UI" pitchFamily="34" charset="-120"/>
              </a:rPr>
              <a:t>Llegado / Finalizado</a:t>
            </a:r>
            <a:endParaRPr lang="en-US" sz="1600" dirty="0"/>
          </a:p>
        </p:txBody>
      </p:sp>
      <p:sp>
        <p:nvSpPr>
          <p:cNvPr id="18" name="Text 15"/>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En todas las fases, el servidor valida rol, titularidad, transición de estado y trazabilidad del responsable.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Diseño de datos: relaciones principales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08</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Vista resumida del modelo relacional. Todas las entidades mostradas tienen PK UUID.</a:t>
            </a:r>
            <a:endParaRPr lang="en-US" sz="1800" dirty="0"/>
          </a:p>
        </p:txBody>
      </p:sp>
      <p:sp>
        <p:nvSpPr>
          <p:cNvPr id="6" name="Shape 3"/>
          <p:cNvSpPr/>
          <p:nvPr/>
        </p:nvSpPr>
        <p:spPr>
          <a:xfrm>
            <a:off x="457200" y="1828800"/>
            <a:ext cx="1837944" cy="877824"/>
          </a:xfrm>
          <a:prstGeom prst="rect">
            <a:avLst/>
          </a:prstGeom>
          <a:solidFill>
            <a:srgbClr val="FFFFFF"/>
          </a:solidFill>
          <a:ln w="10160">
            <a:solidFill>
              <a:srgbClr val="D6E3E9"/>
            </a:solidFill>
            <a:prstDash val="solid"/>
          </a:ln>
        </p:spPr>
      </p:sp>
      <p:sp>
        <p:nvSpPr>
          <p:cNvPr id="7" name="Shape 4"/>
          <p:cNvSpPr/>
          <p:nvPr/>
        </p:nvSpPr>
        <p:spPr>
          <a:xfrm>
            <a:off x="457200" y="1828800"/>
            <a:ext cx="1837944" cy="329184"/>
          </a:xfrm>
          <a:prstGeom prst="rect">
            <a:avLst/>
          </a:prstGeom>
          <a:solidFill>
            <a:srgbClr val="E4F5FA"/>
          </a:solidFill>
          <a:ln w="10160">
            <a:solidFill>
              <a:srgbClr val="D6E3E9"/>
            </a:solidFill>
            <a:prstDash val="solid"/>
          </a:ln>
        </p:spPr>
      </p:sp>
      <p:sp>
        <p:nvSpPr>
          <p:cNvPr id="8" name="Text 5"/>
          <p:cNvSpPr/>
          <p:nvPr/>
        </p:nvSpPr>
        <p:spPr>
          <a:xfrm>
            <a:off x="521208" y="1860804"/>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Usuario</a:t>
            </a:r>
            <a:endParaRPr lang="en-US" sz="1500" dirty="0"/>
          </a:p>
        </p:txBody>
      </p:sp>
      <p:sp>
        <p:nvSpPr>
          <p:cNvPr id="9" name="Text 6"/>
          <p:cNvSpPr/>
          <p:nvPr/>
        </p:nvSpPr>
        <p:spPr>
          <a:xfrm>
            <a:off x="521208" y="2240280"/>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rol</a:t>
            </a:r>
            <a:endParaRPr lang="en-US" sz="1400" dirty="0"/>
          </a:p>
        </p:txBody>
      </p:sp>
      <p:sp>
        <p:nvSpPr>
          <p:cNvPr id="10" name="Text 7"/>
          <p:cNvSpPr/>
          <p:nvPr/>
        </p:nvSpPr>
        <p:spPr>
          <a:xfrm>
            <a:off x="457200" y="1563624"/>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Identity</a:t>
            </a:r>
            <a:endParaRPr lang="en-US" sz="1400" dirty="0"/>
          </a:p>
        </p:txBody>
      </p:sp>
      <p:sp>
        <p:nvSpPr>
          <p:cNvPr id="11" name="Shape 8"/>
          <p:cNvSpPr/>
          <p:nvPr/>
        </p:nvSpPr>
        <p:spPr>
          <a:xfrm>
            <a:off x="2816352" y="1828800"/>
            <a:ext cx="1837944" cy="877824"/>
          </a:xfrm>
          <a:prstGeom prst="rect">
            <a:avLst/>
          </a:prstGeom>
          <a:solidFill>
            <a:srgbClr val="FFFFFF"/>
          </a:solidFill>
          <a:ln w="10160">
            <a:solidFill>
              <a:srgbClr val="D6E3E9"/>
            </a:solidFill>
            <a:prstDash val="solid"/>
          </a:ln>
        </p:spPr>
      </p:sp>
      <p:sp>
        <p:nvSpPr>
          <p:cNvPr id="12" name="Shape 9"/>
          <p:cNvSpPr/>
          <p:nvPr/>
        </p:nvSpPr>
        <p:spPr>
          <a:xfrm>
            <a:off x="2816352" y="1828800"/>
            <a:ext cx="1837944" cy="329184"/>
          </a:xfrm>
          <a:prstGeom prst="rect">
            <a:avLst/>
          </a:prstGeom>
          <a:solidFill>
            <a:srgbClr val="E4F5FA"/>
          </a:solidFill>
          <a:ln w="10160">
            <a:solidFill>
              <a:srgbClr val="D6E3E9"/>
            </a:solidFill>
            <a:prstDash val="solid"/>
          </a:ln>
        </p:spPr>
      </p:sp>
      <p:sp>
        <p:nvSpPr>
          <p:cNvPr id="13" name="Text 10"/>
          <p:cNvSpPr/>
          <p:nvPr/>
        </p:nvSpPr>
        <p:spPr>
          <a:xfrm>
            <a:off x="2880360" y="1860804"/>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Comunidad</a:t>
            </a:r>
            <a:endParaRPr lang="en-US" sz="1500" dirty="0"/>
          </a:p>
        </p:txBody>
      </p:sp>
      <p:sp>
        <p:nvSpPr>
          <p:cNvPr id="14" name="Text 11"/>
          <p:cNvSpPr/>
          <p:nvPr/>
        </p:nvSpPr>
        <p:spPr>
          <a:xfrm>
            <a:off x="2880360" y="2240280"/>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nombre</a:t>
            </a:r>
            <a:endParaRPr lang="en-US" sz="1400" dirty="0"/>
          </a:p>
        </p:txBody>
      </p:sp>
      <p:sp>
        <p:nvSpPr>
          <p:cNvPr id="15" name="Text 12"/>
          <p:cNvSpPr/>
          <p:nvPr/>
        </p:nvSpPr>
        <p:spPr>
          <a:xfrm>
            <a:off x="2816352" y="1563624"/>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Shelter</a:t>
            </a:r>
            <a:endParaRPr lang="en-US" sz="1400" dirty="0"/>
          </a:p>
        </p:txBody>
      </p:sp>
      <p:sp>
        <p:nvSpPr>
          <p:cNvPr id="16" name="Shape 13"/>
          <p:cNvSpPr/>
          <p:nvPr/>
        </p:nvSpPr>
        <p:spPr>
          <a:xfrm>
            <a:off x="5175504" y="1828800"/>
            <a:ext cx="1837944" cy="877824"/>
          </a:xfrm>
          <a:prstGeom prst="rect">
            <a:avLst/>
          </a:prstGeom>
          <a:solidFill>
            <a:srgbClr val="FFFFFF"/>
          </a:solidFill>
          <a:ln w="10160">
            <a:solidFill>
              <a:srgbClr val="D6E3E9"/>
            </a:solidFill>
            <a:prstDash val="solid"/>
          </a:ln>
        </p:spPr>
      </p:sp>
      <p:sp>
        <p:nvSpPr>
          <p:cNvPr id="17" name="Shape 14"/>
          <p:cNvSpPr/>
          <p:nvPr/>
        </p:nvSpPr>
        <p:spPr>
          <a:xfrm>
            <a:off x="5175504" y="1828800"/>
            <a:ext cx="1837944" cy="329184"/>
          </a:xfrm>
          <a:prstGeom prst="rect">
            <a:avLst/>
          </a:prstGeom>
          <a:solidFill>
            <a:srgbClr val="E4F5FA"/>
          </a:solidFill>
          <a:ln w="10160">
            <a:solidFill>
              <a:srgbClr val="D6E3E9"/>
            </a:solidFill>
            <a:prstDash val="solid"/>
          </a:ln>
        </p:spPr>
      </p:sp>
      <p:sp>
        <p:nvSpPr>
          <p:cNvPr id="18" name="Text 15"/>
          <p:cNvSpPr/>
          <p:nvPr/>
        </p:nvSpPr>
        <p:spPr>
          <a:xfrm>
            <a:off x="5239512" y="1860804"/>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Solicitud</a:t>
            </a:r>
            <a:endParaRPr lang="en-US" sz="1500" dirty="0"/>
          </a:p>
        </p:txBody>
      </p:sp>
      <p:sp>
        <p:nvSpPr>
          <p:cNvPr id="19" name="Text 16"/>
          <p:cNvSpPr/>
          <p:nvPr/>
        </p:nvSpPr>
        <p:spPr>
          <a:xfrm>
            <a:off x="5239512" y="2240280"/>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community_id</a:t>
            </a:r>
            <a:endParaRPr lang="en-US" sz="1400" dirty="0"/>
          </a:p>
        </p:txBody>
      </p:sp>
      <p:sp>
        <p:nvSpPr>
          <p:cNvPr id="20" name="Text 17"/>
          <p:cNvSpPr/>
          <p:nvPr/>
        </p:nvSpPr>
        <p:spPr>
          <a:xfrm>
            <a:off x="5175504" y="1563624"/>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Shelter</a:t>
            </a:r>
            <a:endParaRPr lang="en-US" sz="1400" dirty="0"/>
          </a:p>
        </p:txBody>
      </p:sp>
      <p:sp>
        <p:nvSpPr>
          <p:cNvPr id="21" name="Shape 18"/>
          <p:cNvSpPr/>
          <p:nvPr/>
        </p:nvSpPr>
        <p:spPr>
          <a:xfrm>
            <a:off x="7534656" y="1828800"/>
            <a:ext cx="1837944" cy="877824"/>
          </a:xfrm>
          <a:prstGeom prst="rect">
            <a:avLst/>
          </a:prstGeom>
          <a:solidFill>
            <a:srgbClr val="FFFFFF"/>
          </a:solidFill>
          <a:ln w="10160">
            <a:solidFill>
              <a:srgbClr val="D6E3E9"/>
            </a:solidFill>
            <a:prstDash val="solid"/>
          </a:ln>
        </p:spPr>
      </p:sp>
      <p:sp>
        <p:nvSpPr>
          <p:cNvPr id="22" name="Shape 19"/>
          <p:cNvSpPr/>
          <p:nvPr/>
        </p:nvSpPr>
        <p:spPr>
          <a:xfrm>
            <a:off x="7534656" y="1828800"/>
            <a:ext cx="1837944" cy="329184"/>
          </a:xfrm>
          <a:prstGeom prst="rect">
            <a:avLst/>
          </a:prstGeom>
          <a:solidFill>
            <a:srgbClr val="E4F5FA"/>
          </a:solidFill>
          <a:ln w="10160">
            <a:solidFill>
              <a:srgbClr val="D6E3E9"/>
            </a:solidFill>
            <a:prstDash val="solid"/>
          </a:ln>
        </p:spPr>
      </p:sp>
      <p:sp>
        <p:nvSpPr>
          <p:cNvPr id="23" name="Text 20"/>
          <p:cNvSpPr/>
          <p:nvPr/>
        </p:nvSpPr>
        <p:spPr>
          <a:xfrm>
            <a:off x="7598664" y="1860804"/>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Propuesta</a:t>
            </a:r>
            <a:endParaRPr lang="en-US" sz="1500" dirty="0"/>
          </a:p>
        </p:txBody>
      </p:sp>
      <p:sp>
        <p:nvSpPr>
          <p:cNvPr id="24" name="Text 21"/>
          <p:cNvSpPr/>
          <p:nvPr/>
        </p:nvSpPr>
        <p:spPr>
          <a:xfrm>
            <a:off x="7598664" y="2240280"/>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request_id (ref.)</a:t>
            </a:r>
            <a:endParaRPr lang="en-US" sz="1400" dirty="0"/>
          </a:p>
        </p:txBody>
      </p:sp>
      <p:sp>
        <p:nvSpPr>
          <p:cNvPr id="25" name="Text 22"/>
          <p:cNvSpPr/>
          <p:nvPr/>
        </p:nvSpPr>
        <p:spPr>
          <a:xfrm>
            <a:off x="7534656" y="1563624"/>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Inventory</a:t>
            </a:r>
            <a:endParaRPr lang="en-US" sz="1400" dirty="0"/>
          </a:p>
        </p:txBody>
      </p:sp>
      <p:sp>
        <p:nvSpPr>
          <p:cNvPr id="26" name="Shape 23"/>
          <p:cNvSpPr/>
          <p:nvPr/>
        </p:nvSpPr>
        <p:spPr>
          <a:xfrm>
            <a:off x="9893808" y="1828800"/>
            <a:ext cx="1837944" cy="877824"/>
          </a:xfrm>
          <a:prstGeom prst="rect">
            <a:avLst/>
          </a:prstGeom>
          <a:solidFill>
            <a:srgbClr val="FFFFFF"/>
          </a:solidFill>
          <a:ln w="10160">
            <a:solidFill>
              <a:srgbClr val="D6E3E9"/>
            </a:solidFill>
            <a:prstDash val="solid"/>
          </a:ln>
        </p:spPr>
      </p:sp>
      <p:sp>
        <p:nvSpPr>
          <p:cNvPr id="27" name="Shape 24"/>
          <p:cNvSpPr/>
          <p:nvPr/>
        </p:nvSpPr>
        <p:spPr>
          <a:xfrm>
            <a:off x="9893808" y="1828800"/>
            <a:ext cx="1837944" cy="329184"/>
          </a:xfrm>
          <a:prstGeom prst="rect">
            <a:avLst/>
          </a:prstGeom>
          <a:solidFill>
            <a:srgbClr val="E4F5FA"/>
          </a:solidFill>
          <a:ln w="10160">
            <a:solidFill>
              <a:srgbClr val="D6E3E9"/>
            </a:solidFill>
            <a:prstDash val="solid"/>
          </a:ln>
        </p:spPr>
      </p:sp>
      <p:sp>
        <p:nvSpPr>
          <p:cNvPr id="28" name="Text 25"/>
          <p:cNvSpPr/>
          <p:nvPr/>
        </p:nvSpPr>
        <p:spPr>
          <a:xfrm>
            <a:off x="9957816" y="1860804"/>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Autorización</a:t>
            </a:r>
            <a:endParaRPr lang="en-US" sz="1500" dirty="0"/>
          </a:p>
        </p:txBody>
      </p:sp>
      <p:sp>
        <p:nvSpPr>
          <p:cNvPr id="29" name="Text 26"/>
          <p:cNvSpPr/>
          <p:nvPr/>
        </p:nvSpPr>
        <p:spPr>
          <a:xfrm>
            <a:off x="9957816" y="2240280"/>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matching_id</a:t>
            </a:r>
            <a:endParaRPr lang="en-US" sz="1400" dirty="0"/>
          </a:p>
        </p:txBody>
      </p:sp>
      <p:sp>
        <p:nvSpPr>
          <p:cNvPr id="30" name="Text 27"/>
          <p:cNvSpPr/>
          <p:nvPr/>
        </p:nvSpPr>
        <p:spPr>
          <a:xfrm>
            <a:off x="9893808" y="1563624"/>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Inventory</a:t>
            </a:r>
            <a:endParaRPr lang="en-US" sz="1400" dirty="0"/>
          </a:p>
        </p:txBody>
      </p:sp>
      <p:sp>
        <p:nvSpPr>
          <p:cNvPr id="31" name="Shape 28"/>
          <p:cNvSpPr/>
          <p:nvPr/>
        </p:nvSpPr>
        <p:spPr>
          <a:xfrm>
            <a:off x="457200" y="4041648"/>
            <a:ext cx="1837944" cy="877824"/>
          </a:xfrm>
          <a:prstGeom prst="rect">
            <a:avLst/>
          </a:prstGeom>
          <a:solidFill>
            <a:srgbClr val="FFFFFF"/>
          </a:solidFill>
          <a:ln w="10160">
            <a:solidFill>
              <a:srgbClr val="D6E3E9"/>
            </a:solidFill>
            <a:prstDash val="solid"/>
          </a:ln>
        </p:spPr>
      </p:sp>
      <p:sp>
        <p:nvSpPr>
          <p:cNvPr id="32" name="Shape 29"/>
          <p:cNvSpPr/>
          <p:nvPr/>
        </p:nvSpPr>
        <p:spPr>
          <a:xfrm>
            <a:off x="457200" y="4041648"/>
            <a:ext cx="1837944" cy="329184"/>
          </a:xfrm>
          <a:prstGeom prst="rect">
            <a:avLst/>
          </a:prstGeom>
          <a:solidFill>
            <a:srgbClr val="E4F5FA"/>
          </a:solidFill>
          <a:ln w="10160">
            <a:solidFill>
              <a:srgbClr val="D6E3E9"/>
            </a:solidFill>
            <a:prstDash val="solid"/>
          </a:ln>
        </p:spPr>
      </p:sp>
      <p:sp>
        <p:nvSpPr>
          <p:cNvPr id="33" name="Text 30"/>
          <p:cNvSpPr/>
          <p:nvPr/>
        </p:nvSpPr>
        <p:spPr>
          <a:xfrm>
            <a:off x="521208" y="4073652"/>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Riesgo</a:t>
            </a:r>
            <a:endParaRPr lang="en-US" sz="1500" dirty="0"/>
          </a:p>
        </p:txBody>
      </p:sp>
      <p:sp>
        <p:nvSpPr>
          <p:cNvPr id="34" name="Text 31"/>
          <p:cNvSpPr/>
          <p:nvPr/>
        </p:nvSpPr>
        <p:spPr>
          <a:xfrm>
            <a:off x="521208" y="4453128"/>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community_id</a:t>
            </a:r>
            <a:endParaRPr lang="en-US" sz="1400" dirty="0"/>
          </a:p>
        </p:txBody>
      </p:sp>
      <p:sp>
        <p:nvSpPr>
          <p:cNvPr id="35" name="Text 32"/>
          <p:cNvSpPr/>
          <p:nvPr/>
        </p:nvSpPr>
        <p:spPr>
          <a:xfrm>
            <a:off x="457200" y="3776472"/>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Territory</a:t>
            </a:r>
            <a:endParaRPr lang="en-US" sz="1400" dirty="0"/>
          </a:p>
        </p:txBody>
      </p:sp>
      <p:sp>
        <p:nvSpPr>
          <p:cNvPr id="36" name="Shape 33"/>
          <p:cNvSpPr/>
          <p:nvPr/>
        </p:nvSpPr>
        <p:spPr>
          <a:xfrm>
            <a:off x="2816352" y="4041648"/>
            <a:ext cx="1837944" cy="877824"/>
          </a:xfrm>
          <a:prstGeom prst="rect">
            <a:avLst/>
          </a:prstGeom>
          <a:solidFill>
            <a:srgbClr val="FFFFFF"/>
          </a:solidFill>
          <a:ln w="10160">
            <a:solidFill>
              <a:srgbClr val="D6E3E9"/>
            </a:solidFill>
            <a:prstDash val="solid"/>
          </a:ln>
        </p:spPr>
      </p:sp>
      <p:sp>
        <p:nvSpPr>
          <p:cNvPr id="37" name="Shape 34"/>
          <p:cNvSpPr/>
          <p:nvPr/>
        </p:nvSpPr>
        <p:spPr>
          <a:xfrm>
            <a:off x="2816352" y="4041648"/>
            <a:ext cx="1837944" cy="329184"/>
          </a:xfrm>
          <a:prstGeom prst="rect">
            <a:avLst/>
          </a:prstGeom>
          <a:solidFill>
            <a:srgbClr val="E4F5FA"/>
          </a:solidFill>
          <a:ln w="10160">
            <a:solidFill>
              <a:srgbClr val="D6E3E9"/>
            </a:solidFill>
            <a:prstDash val="solid"/>
          </a:ln>
        </p:spPr>
      </p:sp>
      <p:sp>
        <p:nvSpPr>
          <p:cNvPr id="38" name="Text 35"/>
          <p:cNvSpPr/>
          <p:nvPr/>
        </p:nvSpPr>
        <p:spPr>
          <a:xfrm>
            <a:off x="2880360" y="4073652"/>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Producto</a:t>
            </a:r>
            <a:endParaRPr lang="en-US" sz="1500" dirty="0"/>
          </a:p>
        </p:txBody>
      </p:sp>
      <p:sp>
        <p:nvSpPr>
          <p:cNvPr id="39" name="Text 36"/>
          <p:cNvSpPr/>
          <p:nvPr/>
        </p:nvSpPr>
        <p:spPr>
          <a:xfrm>
            <a:off x="2880360" y="4453128"/>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a:t>
            </a:r>
            <a:endParaRPr lang="en-US" sz="1400" dirty="0"/>
          </a:p>
          <a:p>
            <a:pPr indent="0" marL="0">
              <a:buNone/>
            </a:pPr>
            <a:r>
              <a:rPr lang="en-US" sz="1400" dirty="0">
                <a:solidFill>
                  <a:srgbClr val="183B4A"/>
                </a:solidFill>
                <a:latin typeface="Segoe UI" pitchFamily="34" charset="0"/>
                <a:ea typeface="Segoe UI" pitchFamily="34" charset="-122"/>
                <a:cs typeface="Segoe UI" pitchFamily="34" charset="-120"/>
              </a:rPr>
              <a:t>unit_of_measure_id</a:t>
            </a:r>
            <a:endParaRPr lang="en-US" sz="1400" dirty="0"/>
          </a:p>
        </p:txBody>
      </p:sp>
      <p:sp>
        <p:nvSpPr>
          <p:cNvPr id="40" name="Text 37"/>
          <p:cNvSpPr/>
          <p:nvPr/>
        </p:nvSpPr>
        <p:spPr>
          <a:xfrm>
            <a:off x="2816352" y="3776472"/>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Inventory</a:t>
            </a:r>
            <a:endParaRPr lang="en-US" sz="1400" dirty="0"/>
          </a:p>
        </p:txBody>
      </p:sp>
      <p:sp>
        <p:nvSpPr>
          <p:cNvPr id="41" name="Shape 38"/>
          <p:cNvSpPr/>
          <p:nvPr/>
        </p:nvSpPr>
        <p:spPr>
          <a:xfrm>
            <a:off x="5175504" y="4041648"/>
            <a:ext cx="1837944" cy="877824"/>
          </a:xfrm>
          <a:prstGeom prst="rect">
            <a:avLst/>
          </a:prstGeom>
          <a:solidFill>
            <a:srgbClr val="FFFFFF"/>
          </a:solidFill>
          <a:ln w="10160">
            <a:solidFill>
              <a:srgbClr val="D6E3E9"/>
            </a:solidFill>
            <a:prstDash val="solid"/>
          </a:ln>
        </p:spPr>
      </p:sp>
      <p:sp>
        <p:nvSpPr>
          <p:cNvPr id="42" name="Shape 39"/>
          <p:cNvSpPr/>
          <p:nvPr/>
        </p:nvSpPr>
        <p:spPr>
          <a:xfrm>
            <a:off x="5175504" y="4041648"/>
            <a:ext cx="1837944" cy="329184"/>
          </a:xfrm>
          <a:prstGeom prst="rect">
            <a:avLst/>
          </a:prstGeom>
          <a:solidFill>
            <a:srgbClr val="E4F5FA"/>
          </a:solidFill>
          <a:ln w="10160">
            <a:solidFill>
              <a:srgbClr val="D6E3E9"/>
            </a:solidFill>
            <a:prstDash val="solid"/>
          </a:ln>
        </p:spPr>
      </p:sp>
      <p:sp>
        <p:nvSpPr>
          <p:cNvPr id="43" name="Text 40"/>
          <p:cNvSpPr/>
          <p:nvPr/>
        </p:nvSpPr>
        <p:spPr>
          <a:xfrm>
            <a:off x="5239512" y="4073652"/>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Lote de stock</a:t>
            </a:r>
            <a:endParaRPr lang="en-US" sz="1500" dirty="0"/>
          </a:p>
        </p:txBody>
      </p:sp>
      <p:sp>
        <p:nvSpPr>
          <p:cNvPr id="44" name="Text 41"/>
          <p:cNvSpPr/>
          <p:nvPr/>
        </p:nvSpPr>
        <p:spPr>
          <a:xfrm>
            <a:off x="5239512" y="4453128"/>
            <a:ext cx="1709928" cy="43891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product_id</a:t>
            </a:r>
            <a:endParaRPr lang="en-US" sz="1400" dirty="0"/>
          </a:p>
        </p:txBody>
      </p:sp>
      <p:sp>
        <p:nvSpPr>
          <p:cNvPr id="45" name="Text 42"/>
          <p:cNvSpPr/>
          <p:nvPr/>
        </p:nvSpPr>
        <p:spPr>
          <a:xfrm>
            <a:off x="5175504" y="3776472"/>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Inventory</a:t>
            </a:r>
            <a:endParaRPr lang="en-US" sz="1400" dirty="0"/>
          </a:p>
        </p:txBody>
      </p:sp>
      <p:sp>
        <p:nvSpPr>
          <p:cNvPr id="46" name="Shape 43"/>
          <p:cNvSpPr/>
          <p:nvPr/>
        </p:nvSpPr>
        <p:spPr>
          <a:xfrm>
            <a:off x="7534656" y="4041648"/>
            <a:ext cx="1837944" cy="1069848"/>
          </a:xfrm>
          <a:prstGeom prst="rect">
            <a:avLst/>
          </a:prstGeom>
          <a:solidFill>
            <a:srgbClr val="FFFFFF"/>
          </a:solidFill>
          <a:ln w="10160">
            <a:solidFill>
              <a:srgbClr val="D6E3E9"/>
            </a:solidFill>
            <a:prstDash val="solid"/>
          </a:ln>
        </p:spPr>
      </p:sp>
      <p:sp>
        <p:nvSpPr>
          <p:cNvPr id="47" name="Shape 44"/>
          <p:cNvSpPr/>
          <p:nvPr/>
        </p:nvSpPr>
        <p:spPr>
          <a:xfrm>
            <a:off x="7534656" y="4041648"/>
            <a:ext cx="1837944" cy="329184"/>
          </a:xfrm>
          <a:prstGeom prst="rect">
            <a:avLst/>
          </a:prstGeom>
          <a:solidFill>
            <a:srgbClr val="E4F5FA"/>
          </a:solidFill>
          <a:ln w="10160">
            <a:solidFill>
              <a:srgbClr val="D6E3E9"/>
            </a:solidFill>
            <a:prstDash val="solid"/>
          </a:ln>
        </p:spPr>
      </p:sp>
      <p:sp>
        <p:nvSpPr>
          <p:cNvPr id="48" name="Text 45"/>
          <p:cNvSpPr/>
          <p:nvPr/>
        </p:nvSpPr>
        <p:spPr>
          <a:xfrm>
            <a:off x="7598664" y="4073652"/>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Línea propuesta</a:t>
            </a:r>
            <a:endParaRPr lang="en-US" sz="1500" dirty="0"/>
          </a:p>
        </p:txBody>
      </p:sp>
      <p:sp>
        <p:nvSpPr>
          <p:cNvPr id="49" name="Text 46"/>
          <p:cNvSpPr/>
          <p:nvPr/>
        </p:nvSpPr>
        <p:spPr>
          <a:xfrm>
            <a:off x="7598664" y="4453128"/>
            <a:ext cx="1709928" cy="630936"/>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matching_id</a:t>
            </a:r>
            <a:endParaRPr lang="en-US" sz="1400" dirty="0"/>
          </a:p>
          <a:p>
            <a:pPr indent="0" marL="0">
              <a:buNone/>
            </a:pPr>
            <a:r>
              <a:rPr lang="en-US" sz="1400" dirty="0">
                <a:solidFill>
                  <a:srgbClr val="183B4A"/>
                </a:solidFill>
                <a:latin typeface="Segoe UI" pitchFamily="34" charset="0"/>
                <a:ea typeface="Segoe UI" pitchFamily="34" charset="-122"/>
                <a:cs typeface="Segoe UI" pitchFamily="34" charset="-120"/>
              </a:rPr>
              <a:t>stock_id</a:t>
            </a:r>
            <a:endParaRPr lang="en-US" sz="1400" dirty="0"/>
          </a:p>
        </p:txBody>
      </p:sp>
      <p:sp>
        <p:nvSpPr>
          <p:cNvPr id="50" name="Text 47"/>
          <p:cNvSpPr/>
          <p:nvPr/>
        </p:nvSpPr>
        <p:spPr>
          <a:xfrm>
            <a:off x="7534656" y="3776472"/>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Inventory</a:t>
            </a:r>
            <a:endParaRPr lang="en-US" sz="1400" dirty="0"/>
          </a:p>
        </p:txBody>
      </p:sp>
      <p:sp>
        <p:nvSpPr>
          <p:cNvPr id="51" name="Shape 48"/>
          <p:cNvSpPr/>
          <p:nvPr/>
        </p:nvSpPr>
        <p:spPr>
          <a:xfrm>
            <a:off x="9893808" y="4041648"/>
            <a:ext cx="1837944" cy="1069848"/>
          </a:xfrm>
          <a:prstGeom prst="rect">
            <a:avLst/>
          </a:prstGeom>
          <a:solidFill>
            <a:srgbClr val="FFFFFF"/>
          </a:solidFill>
          <a:ln w="10160">
            <a:solidFill>
              <a:srgbClr val="D6E3E9"/>
            </a:solidFill>
            <a:prstDash val="solid"/>
          </a:ln>
        </p:spPr>
      </p:sp>
      <p:sp>
        <p:nvSpPr>
          <p:cNvPr id="52" name="Shape 49"/>
          <p:cNvSpPr/>
          <p:nvPr/>
        </p:nvSpPr>
        <p:spPr>
          <a:xfrm>
            <a:off x="9893808" y="4041648"/>
            <a:ext cx="1837944" cy="329184"/>
          </a:xfrm>
          <a:prstGeom prst="rect">
            <a:avLst/>
          </a:prstGeom>
          <a:solidFill>
            <a:srgbClr val="E4F5FA"/>
          </a:solidFill>
          <a:ln w="10160">
            <a:solidFill>
              <a:srgbClr val="D6E3E9"/>
            </a:solidFill>
            <a:prstDash val="solid"/>
          </a:ln>
        </p:spPr>
      </p:sp>
      <p:sp>
        <p:nvSpPr>
          <p:cNvPr id="53" name="Text 50"/>
          <p:cNvSpPr/>
          <p:nvPr/>
        </p:nvSpPr>
        <p:spPr>
          <a:xfrm>
            <a:off x="9957816" y="4073652"/>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Despacho</a:t>
            </a:r>
            <a:endParaRPr lang="en-US" sz="1500" dirty="0"/>
          </a:p>
        </p:txBody>
      </p:sp>
      <p:sp>
        <p:nvSpPr>
          <p:cNvPr id="54" name="Text 51"/>
          <p:cNvSpPr/>
          <p:nvPr/>
        </p:nvSpPr>
        <p:spPr>
          <a:xfrm>
            <a:off x="9957816" y="4453128"/>
            <a:ext cx="1709928" cy="630936"/>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authorization_id</a:t>
            </a:r>
            <a:endParaRPr lang="en-US" sz="1400" dirty="0"/>
          </a:p>
        </p:txBody>
      </p:sp>
      <p:sp>
        <p:nvSpPr>
          <p:cNvPr id="55" name="Text 52"/>
          <p:cNvSpPr/>
          <p:nvPr/>
        </p:nvSpPr>
        <p:spPr>
          <a:xfrm>
            <a:off x="9893808" y="3776472"/>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Logistics</a:t>
            </a:r>
            <a:endParaRPr lang="en-US" sz="1400" dirty="0"/>
          </a:p>
        </p:txBody>
      </p:sp>
      <p:sp>
        <p:nvSpPr>
          <p:cNvPr id="56" name="Shape 53"/>
          <p:cNvSpPr/>
          <p:nvPr/>
        </p:nvSpPr>
        <p:spPr>
          <a:xfrm>
            <a:off x="9893808" y="5605272"/>
            <a:ext cx="1837944" cy="850392"/>
          </a:xfrm>
          <a:prstGeom prst="rect">
            <a:avLst/>
          </a:prstGeom>
          <a:solidFill>
            <a:srgbClr val="FFFFFF"/>
          </a:solidFill>
          <a:ln w="10160">
            <a:solidFill>
              <a:srgbClr val="D6E3E9"/>
            </a:solidFill>
            <a:prstDash val="solid"/>
          </a:ln>
        </p:spPr>
      </p:sp>
      <p:sp>
        <p:nvSpPr>
          <p:cNvPr id="57" name="Shape 54"/>
          <p:cNvSpPr/>
          <p:nvPr/>
        </p:nvSpPr>
        <p:spPr>
          <a:xfrm>
            <a:off x="9893808" y="5605272"/>
            <a:ext cx="1837944" cy="329184"/>
          </a:xfrm>
          <a:prstGeom prst="rect">
            <a:avLst/>
          </a:prstGeom>
          <a:solidFill>
            <a:srgbClr val="E4F5FA"/>
          </a:solidFill>
          <a:ln w="10160">
            <a:solidFill>
              <a:srgbClr val="D6E3E9"/>
            </a:solidFill>
            <a:prstDash val="solid"/>
          </a:ln>
        </p:spPr>
      </p:sp>
      <p:sp>
        <p:nvSpPr>
          <p:cNvPr id="58" name="Text 55"/>
          <p:cNvSpPr/>
          <p:nvPr/>
        </p:nvSpPr>
        <p:spPr>
          <a:xfrm>
            <a:off x="9957816" y="5637276"/>
            <a:ext cx="1709928" cy="265176"/>
          </a:xfrm>
          <a:prstGeom prst="rect">
            <a:avLst/>
          </a:prstGeom>
          <a:noFill/>
          <a:ln/>
        </p:spPr>
        <p:txBody>
          <a:bodyPr wrap="square" lIns="0" tIns="0" rIns="0" bIns="0" rtlCol="0" anchor="ctr"/>
          <a:lstStyle/>
          <a:p>
            <a:pPr indent="0" marL="0">
              <a:buNone/>
            </a:pPr>
            <a:r>
              <a:rPr lang="en-US" sz="1500" b="1" dirty="0">
                <a:solidFill>
                  <a:srgbClr val="123D4B"/>
                </a:solidFill>
                <a:latin typeface="Segoe UI" pitchFamily="34" charset="0"/>
                <a:ea typeface="Segoe UI" pitchFamily="34" charset="-122"/>
                <a:cs typeface="Segoe UI" pitchFamily="34" charset="-120"/>
              </a:rPr>
              <a:t>Recepción</a:t>
            </a:r>
            <a:endParaRPr lang="en-US" sz="1500" dirty="0"/>
          </a:p>
        </p:txBody>
      </p:sp>
      <p:sp>
        <p:nvSpPr>
          <p:cNvPr id="59" name="Text 56"/>
          <p:cNvSpPr/>
          <p:nvPr/>
        </p:nvSpPr>
        <p:spPr>
          <a:xfrm>
            <a:off x="9957816" y="6016752"/>
            <a:ext cx="1709928" cy="41148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id · dispatch_id (ref.)</a:t>
            </a:r>
            <a:endParaRPr lang="en-US" sz="1400" dirty="0"/>
          </a:p>
        </p:txBody>
      </p:sp>
      <p:sp>
        <p:nvSpPr>
          <p:cNvPr id="60" name="Text 57"/>
          <p:cNvSpPr/>
          <p:nvPr/>
        </p:nvSpPr>
        <p:spPr>
          <a:xfrm>
            <a:off x="9893808" y="5340096"/>
            <a:ext cx="1837944" cy="219456"/>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Shelter</a:t>
            </a:r>
            <a:endParaRPr lang="en-US" sz="1400" dirty="0"/>
          </a:p>
        </p:txBody>
      </p:sp>
      <p:sp>
        <p:nvSpPr>
          <p:cNvPr id="61" name="Shape 58"/>
          <p:cNvSpPr/>
          <p:nvPr/>
        </p:nvSpPr>
        <p:spPr>
          <a:xfrm>
            <a:off x="2295144" y="2286000"/>
            <a:ext cx="521208" cy="0"/>
          </a:xfrm>
          <a:prstGeom prst="line">
            <a:avLst/>
          </a:prstGeom>
          <a:noFill/>
          <a:ln w="16510">
            <a:solidFill>
              <a:srgbClr val="007F99"/>
            </a:solidFill>
            <a:prstDash val="dash"/>
            <a:headEnd type="none"/>
            <a:tailEnd type="none"/>
          </a:ln>
        </p:spPr>
      </p:sp>
      <p:sp>
        <p:nvSpPr>
          <p:cNvPr id="62" name="Text 59"/>
          <p:cNvSpPr/>
          <p:nvPr/>
        </p:nvSpPr>
        <p:spPr>
          <a:xfrm>
            <a:off x="2322576" y="2002536"/>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0..1</a:t>
            </a:r>
            <a:endParaRPr lang="en-US" sz="1400" dirty="0"/>
          </a:p>
        </p:txBody>
      </p:sp>
      <p:sp>
        <p:nvSpPr>
          <p:cNvPr id="63" name="Text 60"/>
          <p:cNvSpPr/>
          <p:nvPr/>
        </p:nvSpPr>
        <p:spPr>
          <a:xfrm>
            <a:off x="2295144" y="2002536"/>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64" name="Shape 61"/>
          <p:cNvSpPr/>
          <p:nvPr/>
        </p:nvSpPr>
        <p:spPr>
          <a:xfrm>
            <a:off x="4654296" y="2286000"/>
            <a:ext cx="521208" cy="0"/>
          </a:xfrm>
          <a:prstGeom prst="line">
            <a:avLst/>
          </a:prstGeom>
          <a:noFill/>
          <a:ln w="16510">
            <a:solidFill>
              <a:srgbClr val="007F99"/>
            </a:solidFill>
            <a:prstDash val="solid"/>
            <a:headEnd type="none"/>
            <a:tailEnd type="none"/>
          </a:ln>
        </p:spPr>
      </p:sp>
      <p:sp>
        <p:nvSpPr>
          <p:cNvPr id="65" name="Text 62"/>
          <p:cNvSpPr/>
          <p:nvPr/>
        </p:nvSpPr>
        <p:spPr>
          <a:xfrm>
            <a:off x="4681728" y="2002536"/>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66" name="Text 63"/>
          <p:cNvSpPr/>
          <p:nvPr/>
        </p:nvSpPr>
        <p:spPr>
          <a:xfrm>
            <a:off x="4654296" y="2002536"/>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0..*</a:t>
            </a:r>
            <a:endParaRPr lang="en-US" sz="1400" dirty="0"/>
          </a:p>
        </p:txBody>
      </p:sp>
      <p:sp>
        <p:nvSpPr>
          <p:cNvPr id="67" name="Shape 64"/>
          <p:cNvSpPr/>
          <p:nvPr/>
        </p:nvSpPr>
        <p:spPr>
          <a:xfrm>
            <a:off x="7013448" y="2286000"/>
            <a:ext cx="521208" cy="0"/>
          </a:xfrm>
          <a:prstGeom prst="line">
            <a:avLst/>
          </a:prstGeom>
          <a:noFill/>
          <a:ln w="16510">
            <a:solidFill>
              <a:srgbClr val="007F99"/>
            </a:solidFill>
            <a:prstDash val="dash"/>
            <a:headEnd type="none"/>
            <a:tailEnd type="none"/>
          </a:ln>
        </p:spPr>
      </p:sp>
      <p:sp>
        <p:nvSpPr>
          <p:cNvPr id="68" name="Text 65"/>
          <p:cNvSpPr/>
          <p:nvPr/>
        </p:nvSpPr>
        <p:spPr>
          <a:xfrm>
            <a:off x="7040880" y="2002536"/>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69" name="Text 66"/>
          <p:cNvSpPr/>
          <p:nvPr/>
        </p:nvSpPr>
        <p:spPr>
          <a:xfrm>
            <a:off x="7013448" y="2002536"/>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0..*</a:t>
            </a:r>
            <a:endParaRPr lang="en-US" sz="1400" dirty="0"/>
          </a:p>
        </p:txBody>
      </p:sp>
      <p:sp>
        <p:nvSpPr>
          <p:cNvPr id="70" name="Shape 67"/>
          <p:cNvSpPr/>
          <p:nvPr/>
        </p:nvSpPr>
        <p:spPr>
          <a:xfrm>
            <a:off x="9372600" y="2286000"/>
            <a:ext cx="521208" cy="0"/>
          </a:xfrm>
          <a:prstGeom prst="line">
            <a:avLst/>
          </a:prstGeom>
          <a:noFill/>
          <a:ln w="16510">
            <a:solidFill>
              <a:srgbClr val="007F99"/>
            </a:solidFill>
            <a:prstDash val="solid"/>
            <a:headEnd type="none"/>
            <a:tailEnd type="none"/>
          </a:ln>
        </p:spPr>
      </p:sp>
      <p:sp>
        <p:nvSpPr>
          <p:cNvPr id="71" name="Text 68"/>
          <p:cNvSpPr/>
          <p:nvPr/>
        </p:nvSpPr>
        <p:spPr>
          <a:xfrm>
            <a:off x="9400032" y="2002536"/>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72" name="Text 69"/>
          <p:cNvSpPr/>
          <p:nvPr/>
        </p:nvSpPr>
        <p:spPr>
          <a:xfrm>
            <a:off x="9372600" y="2002536"/>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0..1</a:t>
            </a:r>
            <a:endParaRPr lang="en-US" sz="1400" dirty="0"/>
          </a:p>
        </p:txBody>
      </p:sp>
      <p:sp>
        <p:nvSpPr>
          <p:cNvPr id="73" name="Shape 70"/>
          <p:cNvSpPr/>
          <p:nvPr/>
        </p:nvSpPr>
        <p:spPr>
          <a:xfrm>
            <a:off x="4654296" y="4498848"/>
            <a:ext cx="521208" cy="0"/>
          </a:xfrm>
          <a:prstGeom prst="line">
            <a:avLst/>
          </a:prstGeom>
          <a:noFill/>
          <a:ln w="16510">
            <a:solidFill>
              <a:srgbClr val="007F99"/>
            </a:solidFill>
            <a:prstDash val="solid"/>
            <a:headEnd type="none"/>
            <a:tailEnd type="none"/>
          </a:ln>
        </p:spPr>
      </p:sp>
      <p:sp>
        <p:nvSpPr>
          <p:cNvPr id="74" name="Text 71"/>
          <p:cNvSpPr/>
          <p:nvPr/>
        </p:nvSpPr>
        <p:spPr>
          <a:xfrm>
            <a:off x="4681728" y="4215384"/>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75" name="Text 72"/>
          <p:cNvSpPr/>
          <p:nvPr/>
        </p:nvSpPr>
        <p:spPr>
          <a:xfrm>
            <a:off x="4654296" y="4215384"/>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0..*</a:t>
            </a:r>
            <a:endParaRPr lang="en-US" sz="1400" dirty="0"/>
          </a:p>
        </p:txBody>
      </p:sp>
      <p:sp>
        <p:nvSpPr>
          <p:cNvPr id="76" name="Shape 73"/>
          <p:cNvSpPr/>
          <p:nvPr/>
        </p:nvSpPr>
        <p:spPr>
          <a:xfrm>
            <a:off x="7013448" y="4498848"/>
            <a:ext cx="521208" cy="0"/>
          </a:xfrm>
          <a:prstGeom prst="line">
            <a:avLst/>
          </a:prstGeom>
          <a:noFill/>
          <a:ln w="16510">
            <a:solidFill>
              <a:srgbClr val="007F99"/>
            </a:solidFill>
            <a:prstDash val="solid"/>
            <a:headEnd type="none"/>
            <a:tailEnd type="none"/>
          </a:ln>
        </p:spPr>
      </p:sp>
      <p:sp>
        <p:nvSpPr>
          <p:cNvPr id="77" name="Text 74"/>
          <p:cNvSpPr/>
          <p:nvPr/>
        </p:nvSpPr>
        <p:spPr>
          <a:xfrm>
            <a:off x="7040880" y="4215384"/>
            <a:ext cx="50292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78" name="Text 75"/>
          <p:cNvSpPr/>
          <p:nvPr/>
        </p:nvSpPr>
        <p:spPr>
          <a:xfrm>
            <a:off x="7013448" y="4215384"/>
            <a:ext cx="502920" cy="228600"/>
          </a:xfrm>
          <a:prstGeom prst="rect">
            <a:avLst/>
          </a:prstGeom>
          <a:noFill/>
          <a:ln/>
        </p:spPr>
        <p:txBody>
          <a:bodyPr wrap="square" lIns="0" tIns="0" rIns="0" bIns="0" rtlCol="0" anchor="ctr"/>
          <a:lstStyle/>
          <a:p>
            <a:pPr algn="r" indent="0" marL="0">
              <a:buNone/>
            </a:pPr>
            <a:r>
              <a:rPr lang="en-US" sz="1400" dirty="0">
                <a:solidFill>
                  <a:srgbClr val="183B4A"/>
                </a:solidFill>
                <a:latin typeface="Segoe UI" pitchFamily="34" charset="0"/>
                <a:ea typeface="Segoe UI" pitchFamily="34" charset="-122"/>
                <a:cs typeface="Segoe UI" pitchFamily="34" charset="-120"/>
              </a:rPr>
              <a:t>0..*</a:t>
            </a:r>
            <a:endParaRPr lang="en-US" sz="1400" dirty="0"/>
          </a:p>
        </p:txBody>
      </p:sp>
      <p:sp>
        <p:nvSpPr>
          <p:cNvPr id="79" name="Shape 76"/>
          <p:cNvSpPr/>
          <p:nvPr/>
        </p:nvSpPr>
        <p:spPr>
          <a:xfrm>
            <a:off x="8449056" y="2706624"/>
            <a:ext cx="0" cy="1335024"/>
          </a:xfrm>
          <a:prstGeom prst="line">
            <a:avLst/>
          </a:prstGeom>
          <a:noFill/>
          <a:ln w="16510">
            <a:solidFill>
              <a:srgbClr val="007F99"/>
            </a:solidFill>
            <a:prstDash val="solid"/>
            <a:headEnd type="none"/>
            <a:tailEnd type="none"/>
          </a:ln>
        </p:spPr>
      </p:sp>
      <p:sp>
        <p:nvSpPr>
          <p:cNvPr id="80" name="Text 77"/>
          <p:cNvSpPr/>
          <p:nvPr/>
        </p:nvSpPr>
        <p:spPr>
          <a:xfrm>
            <a:off x="8522208" y="2752344"/>
            <a:ext cx="64008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81" name="Text 78"/>
          <p:cNvSpPr/>
          <p:nvPr/>
        </p:nvSpPr>
        <p:spPr>
          <a:xfrm>
            <a:off x="8522208" y="3749040"/>
            <a:ext cx="658368"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82" name="Shape 79"/>
          <p:cNvSpPr/>
          <p:nvPr/>
        </p:nvSpPr>
        <p:spPr>
          <a:xfrm>
            <a:off x="10808208" y="2706624"/>
            <a:ext cx="0" cy="1335024"/>
          </a:xfrm>
          <a:prstGeom prst="line">
            <a:avLst/>
          </a:prstGeom>
          <a:noFill/>
          <a:ln w="16510">
            <a:solidFill>
              <a:srgbClr val="007F99"/>
            </a:solidFill>
            <a:prstDash val="dash"/>
            <a:headEnd type="none"/>
            <a:tailEnd type="none"/>
          </a:ln>
        </p:spPr>
      </p:sp>
      <p:sp>
        <p:nvSpPr>
          <p:cNvPr id="83" name="Text 80"/>
          <p:cNvSpPr/>
          <p:nvPr/>
        </p:nvSpPr>
        <p:spPr>
          <a:xfrm>
            <a:off x="10881360" y="2752344"/>
            <a:ext cx="64008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84" name="Text 81"/>
          <p:cNvSpPr/>
          <p:nvPr/>
        </p:nvSpPr>
        <p:spPr>
          <a:xfrm>
            <a:off x="10881360" y="3749040"/>
            <a:ext cx="658368"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85" name="Shape 82"/>
          <p:cNvSpPr/>
          <p:nvPr/>
        </p:nvSpPr>
        <p:spPr>
          <a:xfrm>
            <a:off x="10808208" y="5111496"/>
            <a:ext cx="0" cy="493776"/>
          </a:xfrm>
          <a:prstGeom prst="line">
            <a:avLst/>
          </a:prstGeom>
          <a:noFill/>
          <a:ln w="16510">
            <a:solidFill>
              <a:srgbClr val="007F99"/>
            </a:solidFill>
            <a:prstDash val="dash"/>
            <a:headEnd type="none"/>
            <a:tailEnd type="none"/>
          </a:ln>
        </p:spPr>
      </p:sp>
      <p:sp>
        <p:nvSpPr>
          <p:cNvPr id="86" name="Text 83"/>
          <p:cNvSpPr/>
          <p:nvPr/>
        </p:nvSpPr>
        <p:spPr>
          <a:xfrm>
            <a:off x="10881360" y="5157216"/>
            <a:ext cx="640080"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87" name="Text 84"/>
          <p:cNvSpPr/>
          <p:nvPr/>
        </p:nvSpPr>
        <p:spPr>
          <a:xfrm>
            <a:off x="10881360" y="5312664"/>
            <a:ext cx="658368" cy="22860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0..1</a:t>
            </a:r>
            <a:endParaRPr lang="en-US" sz="1400" dirty="0"/>
          </a:p>
        </p:txBody>
      </p:sp>
      <p:sp>
        <p:nvSpPr>
          <p:cNvPr id="88" name="Shape 85"/>
          <p:cNvSpPr/>
          <p:nvPr/>
        </p:nvSpPr>
        <p:spPr>
          <a:xfrm>
            <a:off x="3410712" y="2706624"/>
            <a:ext cx="0" cy="612648"/>
          </a:xfrm>
          <a:prstGeom prst="line">
            <a:avLst/>
          </a:prstGeom>
          <a:noFill/>
          <a:ln w="19050">
            <a:solidFill>
              <a:srgbClr val="007F99"/>
            </a:solidFill>
            <a:prstDash val="dash"/>
            <a:headEnd type="none"/>
            <a:tailEnd type="none"/>
          </a:ln>
        </p:spPr>
      </p:sp>
      <p:sp>
        <p:nvSpPr>
          <p:cNvPr id="89" name="Shape 86"/>
          <p:cNvSpPr/>
          <p:nvPr/>
        </p:nvSpPr>
        <p:spPr>
          <a:xfrm flipH="1">
            <a:off x="1371600" y="3319272"/>
            <a:ext cx="2039112" cy="0"/>
          </a:xfrm>
          <a:prstGeom prst="line">
            <a:avLst/>
          </a:prstGeom>
          <a:noFill/>
          <a:ln w="19050">
            <a:solidFill>
              <a:srgbClr val="007F99"/>
            </a:solidFill>
            <a:prstDash val="dash"/>
            <a:headEnd type="none"/>
            <a:tailEnd type="none"/>
          </a:ln>
        </p:spPr>
      </p:sp>
      <p:sp>
        <p:nvSpPr>
          <p:cNvPr id="90" name="Shape 87"/>
          <p:cNvSpPr/>
          <p:nvPr/>
        </p:nvSpPr>
        <p:spPr>
          <a:xfrm>
            <a:off x="1371600" y="3319272"/>
            <a:ext cx="0" cy="722376"/>
          </a:xfrm>
          <a:prstGeom prst="line">
            <a:avLst/>
          </a:prstGeom>
          <a:noFill/>
          <a:ln w="19050">
            <a:solidFill>
              <a:srgbClr val="007F99"/>
            </a:solidFill>
            <a:prstDash val="dash"/>
            <a:headEnd type="none"/>
            <a:tailEnd type="none"/>
          </a:ln>
        </p:spPr>
      </p:sp>
      <p:sp>
        <p:nvSpPr>
          <p:cNvPr id="91" name="Text 88"/>
          <p:cNvSpPr/>
          <p:nvPr/>
        </p:nvSpPr>
        <p:spPr>
          <a:xfrm>
            <a:off x="3520440" y="2761488"/>
            <a:ext cx="457200" cy="25603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1</a:t>
            </a:r>
            <a:endParaRPr lang="en-US" sz="1400" dirty="0"/>
          </a:p>
        </p:txBody>
      </p:sp>
      <p:sp>
        <p:nvSpPr>
          <p:cNvPr id="92" name="Text 89"/>
          <p:cNvSpPr/>
          <p:nvPr/>
        </p:nvSpPr>
        <p:spPr>
          <a:xfrm>
            <a:off x="1481328" y="3712464"/>
            <a:ext cx="640080" cy="256032"/>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0..*</a:t>
            </a:r>
            <a:endParaRPr lang="en-US" sz="1400" dirty="0"/>
          </a:p>
        </p:txBody>
      </p:sp>
      <p:sp>
        <p:nvSpPr>
          <p:cNvPr id="93" name="Shape 90"/>
          <p:cNvSpPr/>
          <p:nvPr/>
        </p:nvSpPr>
        <p:spPr>
          <a:xfrm>
            <a:off x="457200" y="5596128"/>
            <a:ext cx="566928" cy="0"/>
          </a:xfrm>
          <a:prstGeom prst="line">
            <a:avLst/>
          </a:prstGeom>
          <a:noFill/>
          <a:ln w="19050">
            <a:solidFill>
              <a:srgbClr val="007F99"/>
            </a:solidFill>
            <a:prstDash val="solid"/>
            <a:headEnd type="none"/>
            <a:tailEnd type="none"/>
          </a:ln>
        </p:spPr>
      </p:sp>
      <p:sp>
        <p:nvSpPr>
          <p:cNvPr id="94" name="Text 91"/>
          <p:cNvSpPr/>
          <p:nvPr/>
        </p:nvSpPr>
        <p:spPr>
          <a:xfrm>
            <a:off x="1170432" y="5468112"/>
            <a:ext cx="3108960" cy="292608"/>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FK dentro del módulo</a:t>
            </a:r>
            <a:endParaRPr lang="en-US" sz="1400" dirty="0"/>
          </a:p>
        </p:txBody>
      </p:sp>
      <p:sp>
        <p:nvSpPr>
          <p:cNvPr id="95" name="Shape 92"/>
          <p:cNvSpPr/>
          <p:nvPr/>
        </p:nvSpPr>
        <p:spPr>
          <a:xfrm>
            <a:off x="4270248" y="5596128"/>
            <a:ext cx="566928" cy="0"/>
          </a:xfrm>
          <a:prstGeom prst="line">
            <a:avLst/>
          </a:prstGeom>
          <a:noFill/>
          <a:ln w="19050">
            <a:solidFill>
              <a:srgbClr val="007F99"/>
            </a:solidFill>
            <a:prstDash val="dash"/>
            <a:headEnd type="none"/>
            <a:tailEnd type="none"/>
          </a:ln>
        </p:spPr>
      </p:sp>
      <p:sp>
        <p:nvSpPr>
          <p:cNvPr id="96" name="Text 93"/>
          <p:cNvSpPr/>
          <p:nvPr/>
        </p:nvSpPr>
        <p:spPr>
          <a:xfrm>
            <a:off x="4983480" y="5468112"/>
            <a:ext cx="4425696" cy="310896"/>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Referencia lógica entre módulos</a:t>
            </a:r>
            <a:endParaRPr lang="en-US" sz="1400" dirty="0"/>
          </a:p>
        </p:txBody>
      </p:sp>
      <p:sp>
        <p:nvSpPr>
          <p:cNvPr id="97" name="Text 94"/>
          <p:cNvSpPr/>
          <p:nvPr/>
        </p:nvSpPr>
        <p:spPr>
          <a:xfrm>
            <a:off x="457200" y="6044184"/>
            <a:ext cx="8979408" cy="493776"/>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Las propuestas relacionan necesidades con lotes mediante sus líneas; la autorización habilita el despacho y su recepción.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Integridad y trazabilidad de los datos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09</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Ejemplo documentado: 70 bidones de Puente Verde para Las Palmeras</a:t>
            </a:r>
            <a:endParaRPr lang="en-US" sz="1800" dirty="0"/>
          </a:p>
        </p:txBody>
      </p:sp>
      <p:sp>
        <p:nvSpPr>
          <p:cNvPr id="6" name="Text 3"/>
          <p:cNvSpPr/>
          <p:nvPr/>
        </p:nvSpPr>
        <p:spPr>
          <a:xfrm>
            <a:off x="457200" y="1746504"/>
            <a:ext cx="3538728"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Antes de autorizar</a:t>
            </a:r>
            <a:endParaRPr lang="en-US" sz="2000" dirty="0"/>
          </a:p>
        </p:txBody>
      </p:sp>
      <p:sp>
        <p:nvSpPr>
          <p:cNvPr id="7" name="Text 4"/>
          <p:cNvSpPr/>
          <p:nvPr/>
        </p:nvSpPr>
        <p:spPr>
          <a:xfrm>
            <a:off x="457200" y="2459736"/>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Físico</a:t>
            </a:r>
            <a:endParaRPr lang="en-US" sz="1800" dirty="0"/>
          </a:p>
        </p:txBody>
      </p:sp>
      <p:sp>
        <p:nvSpPr>
          <p:cNvPr id="8" name="Text 5"/>
          <p:cNvSpPr/>
          <p:nvPr/>
        </p:nvSpPr>
        <p:spPr>
          <a:xfrm>
            <a:off x="3063240" y="2414016"/>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80</a:t>
            </a:r>
            <a:endParaRPr lang="en-US" sz="2300" dirty="0"/>
          </a:p>
        </p:txBody>
      </p:sp>
      <p:sp>
        <p:nvSpPr>
          <p:cNvPr id="9" name="Text 6"/>
          <p:cNvSpPr/>
          <p:nvPr/>
        </p:nvSpPr>
        <p:spPr>
          <a:xfrm>
            <a:off x="457200" y="2944368"/>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Comprometido</a:t>
            </a:r>
            <a:endParaRPr lang="en-US" sz="1800" dirty="0"/>
          </a:p>
        </p:txBody>
      </p:sp>
      <p:sp>
        <p:nvSpPr>
          <p:cNvPr id="10" name="Text 7"/>
          <p:cNvSpPr/>
          <p:nvPr/>
        </p:nvSpPr>
        <p:spPr>
          <a:xfrm>
            <a:off x="3063240" y="2898648"/>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0</a:t>
            </a:r>
            <a:endParaRPr lang="en-US" sz="2300" dirty="0"/>
          </a:p>
        </p:txBody>
      </p:sp>
      <p:sp>
        <p:nvSpPr>
          <p:cNvPr id="11" name="Text 8"/>
          <p:cNvSpPr/>
          <p:nvPr/>
        </p:nvSpPr>
        <p:spPr>
          <a:xfrm>
            <a:off x="457200" y="3429000"/>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Disponible</a:t>
            </a:r>
            <a:endParaRPr lang="en-US" sz="1800" dirty="0"/>
          </a:p>
        </p:txBody>
      </p:sp>
      <p:sp>
        <p:nvSpPr>
          <p:cNvPr id="12" name="Text 9"/>
          <p:cNvSpPr/>
          <p:nvPr/>
        </p:nvSpPr>
        <p:spPr>
          <a:xfrm>
            <a:off x="3063240" y="3383280"/>
            <a:ext cx="777240" cy="411480"/>
          </a:xfrm>
          <a:prstGeom prst="rect">
            <a:avLst/>
          </a:prstGeom>
          <a:noFill/>
          <a:ln/>
        </p:spPr>
        <p:txBody>
          <a:bodyPr wrap="square" lIns="0" tIns="0" rIns="0" bIns="0" rtlCol="0" anchor="ctr"/>
          <a:lstStyle/>
          <a:p>
            <a:pPr algn="r" indent="0" marL="0">
              <a:buNone/>
            </a:pPr>
            <a:r>
              <a:rPr lang="en-US" sz="2300" b="1" dirty="0">
                <a:solidFill>
                  <a:srgbClr val="007F99"/>
                </a:solidFill>
                <a:latin typeface="Segoe UI" pitchFamily="34" charset="0"/>
                <a:ea typeface="Segoe UI" pitchFamily="34" charset="-122"/>
                <a:cs typeface="Segoe UI" pitchFamily="34" charset="-120"/>
              </a:rPr>
              <a:t>80</a:t>
            </a:r>
            <a:endParaRPr lang="en-US" sz="2300" dirty="0"/>
          </a:p>
        </p:txBody>
      </p:sp>
      <p:sp>
        <p:nvSpPr>
          <p:cNvPr id="13" name="Shape 10"/>
          <p:cNvSpPr/>
          <p:nvPr/>
        </p:nvSpPr>
        <p:spPr>
          <a:xfrm>
            <a:off x="4032504" y="2944368"/>
            <a:ext cx="182880" cy="0"/>
          </a:xfrm>
          <a:prstGeom prst="line">
            <a:avLst/>
          </a:prstGeom>
          <a:noFill/>
          <a:ln w="19050">
            <a:solidFill>
              <a:srgbClr val="007F99"/>
            </a:solidFill>
            <a:prstDash val="solid"/>
            <a:headEnd type="none"/>
            <a:tailEnd type="triangle"/>
          </a:ln>
        </p:spPr>
      </p:sp>
      <p:sp>
        <p:nvSpPr>
          <p:cNvPr id="14" name="Text 11"/>
          <p:cNvSpPr/>
          <p:nvPr/>
        </p:nvSpPr>
        <p:spPr>
          <a:xfrm>
            <a:off x="4325112" y="1746504"/>
            <a:ext cx="3538728"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Después de autorizar</a:t>
            </a:r>
            <a:endParaRPr lang="en-US" sz="2000" dirty="0"/>
          </a:p>
        </p:txBody>
      </p:sp>
      <p:sp>
        <p:nvSpPr>
          <p:cNvPr id="15" name="Text 12"/>
          <p:cNvSpPr/>
          <p:nvPr/>
        </p:nvSpPr>
        <p:spPr>
          <a:xfrm>
            <a:off x="4325112" y="2459736"/>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Físico</a:t>
            </a:r>
            <a:endParaRPr lang="en-US" sz="1800" dirty="0"/>
          </a:p>
        </p:txBody>
      </p:sp>
      <p:sp>
        <p:nvSpPr>
          <p:cNvPr id="16" name="Text 13"/>
          <p:cNvSpPr/>
          <p:nvPr/>
        </p:nvSpPr>
        <p:spPr>
          <a:xfrm>
            <a:off x="6931152" y="2414016"/>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80</a:t>
            </a:r>
            <a:endParaRPr lang="en-US" sz="2300" dirty="0"/>
          </a:p>
        </p:txBody>
      </p:sp>
      <p:sp>
        <p:nvSpPr>
          <p:cNvPr id="17" name="Text 14"/>
          <p:cNvSpPr/>
          <p:nvPr/>
        </p:nvSpPr>
        <p:spPr>
          <a:xfrm>
            <a:off x="4325112" y="2944368"/>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Comprometido</a:t>
            </a:r>
            <a:endParaRPr lang="en-US" sz="1800" dirty="0"/>
          </a:p>
        </p:txBody>
      </p:sp>
      <p:sp>
        <p:nvSpPr>
          <p:cNvPr id="18" name="Text 15"/>
          <p:cNvSpPr/>
          <p:nvPr/>
        </p:nvSpPr>
        <p:spPr>
          <a:xfrm>
            <a:off x="6931152" y="2898648"/>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70</a:t>
            </a:r>
            <a:endParaRPr lang="en-US" sz="2300" dirty="0"/>
          </a:p>
        </p:txBody>
      </p:sp>
      <p:sp>
        <p:nvSpPr>
          <p:cNvPr id="19" name="Text 16"/>
          <p:cNvSpPr/>
          <p:nvPr/>
        </p:nvSpPr>
        <p:spPr>
          <a:xfrm>
            <a:off x="4325112" y="3429000"/>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Disponible</a:t>
            </a:r>
            <a:endParaRPr lang="en-US" sz="1800" dirty="0"/>
          </a:p>
        </p:txBody>
      </p:sp>
      <p:sp>
        <p:nvSpPr>
          <p:cNvPr id="20" name="Text 17"/>
          <p:cNvSpPr/>
          <p:nvPr/>
        </p:nvSpPr>
        <p:spPr>
          <a:xfrm>
            <a:off x="6931152" y="3383280"/>
            <a:ext cx="777240" cy="411480"/>
          </a:xfrm>
          <a:prstGeom prst="rect">
            <a:avLst/>
          </a:prstGeom>
          <a:noFill/>
          <a:ln/>
        </p:spPr>
        <p:txBody>
          <a:bodyPr wrap="square" lIns="0" tIns="0" rIns="0" bIns="0" rtlCol="0" anchor="ctr"/>
          <a:lstStyle/>
          <a:p>
            <a:pPr algn="r" indent="0" marL="0">
              <a:buNone/>
            </a:pPr>
            <a:r>
              <a:rPr lang="en-US" sz="2300" b="1" dirty="0">
                <a:solidFill>
                  <a:srgbClr val="007F99"/>
                </a:solidFill>
                <a:latin typeface="Segoe UI" pitchFamily="34" charset="0"/>
                <a:ea typeface="Segoe UI" pitchFamily="34" charset="-122"/>
                <a:cs typeface="Segoe UI" pitchFamily="34" charset="-120"/>
              </a:rPr>
              <a:t>10</a:t>
            </a:r>
            <a:endParaRPr lang="en-US" sz="2300" dirty="0"/>
          </a:p>
        </p:txBody>
      </p:sp>
      <p:sp>
        <p:nvSpPr>
          <p:cNvPr id="21" name="Shape 18"/>
          <p:cNvSpPr/>
          <p:nvPr/>
        </p:nvSpPr>
        <p:spPr>
          <a:xfrm>
            <a:off x="7900416" y="2944368"/>
            <a:ext cx="182880" cy="0"/>
          </a:xfrm>
          <a:prstGeom prst="line">
            <a:avLst/>
          </a:prstGeom>
          <a:noFill/>
          <a:ln w="19050">
            <a:solidFill>
              <a:srgbClr val="007F99"/>
            </a:solidFill>
            <a:prstDash val="solid"/>
            <a:headEnd type="none"/>
            <a:tailEnd type="triangle"/>
          </a:ln>
        </p:spPr>
      </p:sp>
      <p:sp>
        <p:nvSpPr>
          <p:cNvPr id="22" name="Text 19"/>
          <p:cNvSpPr/>
          <p:nvPr/>
        </p:nvSpPr>
        <p:spPr>
          <a:xfrm>
            <a:off x="8193024" y="1746504"/>
            <a:ext cx="3538728"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Después de retirar 70</a:t>
            </a:r>
            <a:endParaRPr lang="en-US" sz="2000" dirty="0"/>
          </a:p>
        </p:txBody>
      </p:sp>
      <p:sp>
        <p:nvSpPr>
          <p:cNvPr id="23" name="Text 20"/>
          <p:cNvSpPr/>
          <p:nvPr/>
        </p:nvSpPr>
        <p:spPr>
          <a:xfrm>
            <a:off x="8193024" y="2459736"/>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Físico</a:t>
            </a:r>
            <a:endParaRPr lang="en-US" sz="1800" dirty="0"/>
          </a:p>
        </p:txBody>
      </p:sp>
      <p:sp>
        <p:nvSpPr>
          <p:cNvPr id="24" name="Text 21"/>
          <p:cNvSpPr/>
          <p:nvPr/>
        </p:nvSpPr>
        <p:spPr>
          <a:xfrm>
            <a:off x="10799064" y="2414016"/>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10</a:t>
            </a:r>
            <a:endParaRPr lang="en-US" sz="2300" dirty="0"/>
          </a:p>
        </p:txBody>
      </p:sp>
      <p:sp>
        <p:nvSpPr>
          <p:cNvPr id="25" name="Text 22"/>
          <p:cNvSpPr/>
          <p:nvPr/>
        </p:nvSpPr>
        <p:spPr>
          <a:xfrm>
            <a:off x="8193024" y="2944368"/>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Comprometido</a:t>
            </a:r>
            <a:endParaRPr lang="en-US" sz="1800" dirty="0"/>
          </a:p>
        </p:txBody>
      </p:sp>
      <p:sp>
        <p:nvSpPr>
          <p:cNvPr id="26" name="Text 23"/>
          <p:cNvSpPr/>
          <p:nvPr/>
        </p:nvSpPr>
        <p:spPr>
          <a:xfrm>
            <a:off x="10799064" y="2898648"/>
            <a:ext cx="777240" cy="411480"/>
          </a:xfrm>
          <a:prstGeom prst="rect">
            <a:avLst/>
          </a:prstGeom>
          <a:noFill/>
          <a:ln/>
        </p:spPr>
        <p:txBody>
          <a:bodyPr wrap="square" lIns="0" tIns="0" rIns="0" bIns="0" rtlCol="0" anchor="ctr"/>
          <a:lstStyle/>
          <a:p>
            <a:pPr algn="r" indent="0" marL="0">
              <a:buNone/>
            </a:pPr>
            <a:r>
              <a:rPr lang="en-US" sz="2300" b="1" dirty="0">
                <a:solidFill>
                  <a:srgbClr val="183B4A"/>
                </a:solidFill>
                <a:latin typeface="Segoe UI" pitchFamily="34" charset="0"/>
                <a:ea typeface="Segoe UI" pitchFamily="34" charset="-122"/>
                <a:cs typeface="Segoe UI" pitchFamily="34" charset="-120"/>
              </a:rPr>
              <a:t>0</a:t>
            </a:r>
            <a:endParaRPr lang="en-US" sz="2300" dirty="0"/>
          </a:p>
        </p:txBody>
      </p:sp>
      <p:sp>
        <p:nvSpPr>
          <p:cNvPr id="27" name="Text 24"/>
          <p:cNvSpPr/>
          <p:nvPr/>
        </p:nvSpPr>
        <p:spPr>
          <a:xfrm>
            <a:off x="8193024" y="3429000"/>
            <a:ext cx="2404872" cy="32004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Disponible</a:t>
            </a:r>
            <a:endParaRPr lang="en-US" sz="1800" dirty="0"/>
          </a:p>
        </p:txBody>
      </p:sp>
      <p:sp>
        <p:nvSpPr>
          <p:cNvPr id="28" name="Text 25"/>
          <p:cNvSpPr/>
          <p:nvPr/>
        </p:nvSpPr>
        <p:spPr>
          <a:xfrm>
            <a:off x="10799064" y="3383280"/>
            <a:ext cx="777240" cy="411480"/>
          </a:xfrm>
          <a:prstGeom prst="rect">
            <a:avLst/>
          </a:prstGeom>
          <a:noFill/>
          <a:ln/>
        </p:spPr>
        <p:txBody>
          <a:bodyPr wrap="square" lIns="0" tIns="0" rIns="0" bIns="0" rtlCol="0" anchor="ctr"/>
          <a:lstStyle/>
          <a:p>
            <a:pPr algn="r" indent="0" marL="0">
              <a:buNone/>
            </a:pPr>
            <a:r>
              <a:rPr lang="en-US" sz="2300" b="1" dirty="0">
                <a:solidFill>
                  <a:srgbClr val="007F99"/>
                </a:solidFill>
                <a:latin typeface="Segoe UI" pitchFamily="34" charset="0"/>
                <a:ea typeface="Segoe UI" pitchFamily="34" charset="-122"/>
                <a:cs typeface="Segoe UI" pitchFamily="34" charset="-120"/>
              </a:rPr>
              <a:t>10</a:t>
            </a:r>
            <a:endParaRPr lang="en-US" sz="2300" dirty="0"/>
          </a:p>
        </p:txBody>
      </p:sp>
      <p:sp>
        <p:nvSpPr>
          <p:cNvPr id="29" name="Shape 26"/>
          <p:cNvSpPr/>
          <p:nvPr/>
        </p:nvSpPr>
        <p:spPr>
          <a:xfrm>
            <a:off x="457200" y="4087368"/>
            <a:ext cx="11274552" cy="0"/>
          </a:xfrm>
          <a:prstGeom prst="line">
            <a:avLst/>
          </a:prstGeom>
          <a:noFill/>
          <a:ln w="12700">
            <a:solidFill>
              <a:srgbClr val="D6E3E9"/>
            </a:solidFill>
            <a:prstDash val="solid"/>
            <a:headEnd type="none"/>
            <a:tailEnd type="none"/>
          </a:ln>
        </p:spPr>
      </p:sp>
      <p:sp>
        <p:nvSpPr>
          <p:cNvPr id="30" name="Text 27"/>
          <p:cNvSpPr/>
          <p:nvPr/>
        </p:nvSpPr>
        <p:spPr>
          <a:xfrm>
            <a:off x="457200" y="4443984"/>
            <a:ext cx="521208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Recepción del aporte</a:t>
            </a:r>
            <a:endParaRPr lang="en-US" sz="2000" dirty="0"/>
          </a:p>
        </p:txBody>
      </p:sp>
      <p:sp>
        <p:nvSpPr>
          <p:cNvPr id="31" name="Text 28"/>
          <p:cNvSpPr/>
          <p:nvPr/>
        </p:nvSpPr>
        <p:spPr>
          <a:xfrm>
            <a:off x="457200" y="4837176"/>
            <a:ext cx="5212080" cy="96012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De 70 bidones enviados, se reciben 68 conformes y se registran 2 faltantes. La recepción no vuelve a descontar stock.</a:t>
            </a:r>
            <a:endParaRPr lang="en-US" sz="1800" dirty="0"/>
          </a:p>
        </p:txBody>
      </p:sp>
      <p:sp>
        <p:nvSpPr>
          <p:cNvPr id="32" name="Text 29"/>
          <p:cNvSpPr/>
          <p:nvPr/>
        </p:nvSpPr>
        <p:spPr>
          <a:xfrm>
            <a:off x="6272784" y="4443984"/>
            <a:ext cx="5458968"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Protección transaccional</a:t>
            </a:r>
            <a:endParaRPr lang="en-US" sz="2000" dirty="0"/>
          </a:p>
        </p:txBody>
      </p:sp>
      <p:sp>
        <p:nvSpPr>
          <p:cNvPr id="33" name="Text 30"/>
          <p:cNvSpPr/>
          <p:nvPr/>
        </p:nvSpPr>
        <p:spPr>
          <a:xfrm>
            <a:off x="6272784" y="4837176"/>
            <a:ext cx="5458968" cy="96012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Autorizar y retirar revalidan cantidades de forma atómica. Una clave idempotente evita duplicar el efecto de un reintento.</a:t>
            </a:r>
            <a:endParaRPr lang="en-US" sz="1800" dirty="0"/>
          </a:p>
        </p:txBody>
      </p:sp>
      <p:sp>
        <p:nvSpPr>
          <p:cNvPr id="34" name="Text 31"/>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La auditoría conserva actor, fecha, estado y cantidades. Las discrepancias cerradas permanecen en el historial.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Arquitectura lógica del sistema</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10</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Diseño de un frontend web y un backend organizado como monolito modular</a:t>
            </a:r>
            <a:endParaRPr lang="en-US" sz="1800" dirty="0"/>
          </a:p>
        </p:txBody>
      </p:sp>
      <p:sp>
        <p:nvSpPr>
          <p:cNvPr id="6" name="Shape 3"/>
          <p:cNvSpPr/>
          <p:nvPr/>
        </p:nvSpPr>
        <p:spPr>
          <a:xfrm>
            <a:off x="457200" y="1764792"/>
            <a:ext cx="2423160" cy="1572768"/>
          </a:xfrm>
          <a:prstGeom prst="rect">
            <a:avLst/>
          </a:prstGeom>
          <a:solidFill>
            <a:srgbClr val="E4F5FA"/>
          </a:solidFill>
          <a:ln w="10160">
            <a:solidFill>
              <a:srgbClr val="D6E3E9"/>
            </a:solidFill>
            <a:prstDash val="solid"/>
          </a:ln>
        </p:spPr>
      </p:sp>
      <p:sp>
        <p:nvSpPr>
          <p:cNvPr id="7" name="Text 4"/>
          <p:cNvSpPr/>
          <p:nvPr/>
        </p:nvSpPr>
        <p:spPr>
          <a:xfrm>
            <a:off x="594360" y="1883664"/>
            <a:ext cx="214884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Next.js / React</a:t>
            </a:r>
            <a:endParaRPr lang="en-US" sz="1900" dirty="0"/>
          </a:p>
        </p:txBody>
      </p:sp>
      <p:sp>
        <p:nvSpPr>
          <p:cNvPr id="8" name="Text 5"/>
          <p:cNvSpPr/>
          <p:nvPr/>
        </p:nvSpPr>
        <p:spPr>
          <a:xfrm>
            <a:off x="594360" y="2368296"/>
            <a:ext cx="2148840" cy="905256"/>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Frontend por rol.</a:t>
            </a:r>
            <a:endParaRPr lang="en-US" sz="1600" dirty="0"/>
          </a:p>
        </p:txBody>
      </p:sp>
      <p:sp>
        <p:nvSpPr>
          <p:cNvPr id="9" name="Shape 6"/>
          <p:cNvSpPr/>
          <p:nvPr/>
        </p:nvSpPr>
        <p:spPr>
          <a:xfrm>
            <a:off x="3520440" y="1609344"/>
            <a:ext cx="8211312" cy="3401568"/>
          </a:xfrm>
          <a:prstGeom prst="rect">
            <a:avLst/>
          </a:prstGeom>
          <a:solidFill>
            <a:srgbClr val="FFFFFF"/>
          </a:solidFill>
          <a:ln w="10160">
            <a:solidFill>
              <a:srgbClr val="D6E3E9"/>
            </a:solidFill>
            <a:prstDash val="solid"/>
          </a:ln>
        </p:spPr>
      </p:sp>
      <p:sp>
        <p:nvSpPr>
          <p:cNvPr id="10" name="Text 7"/>
          <p:cNvSpPr/>
          <p:nvPr/>
        </p:nvSpPr>
        <p:spPr>
          <a:xfrm>
            <a:off x="3703320" y="1764792"/>
            <a:ext cx="7772400" cy="347472"/>
          </a:xfrm>
          <a:prstGeom prst="rect">
            <a:avLst/>
          </a:prstGeom>
          <a:noFill/>
          <a:ln/>
        </p:spPr>
        <p:txBody>
          <a:bodyPr wrap="square" lIns="0" tIns="0" rIns="0" bIns="0" rtlCol="0" anchor="ctr"/>
          <a:lstStyle/>
          <a:p>
            <a:pPr indent="0" marL="0">
              <a:buNone/>
            </a:pPr>
            <a:r>
              <a:rPr lang="en-US" sz="2100" b="1" dirty="0">
                <a:solidFill>
                  <a:srgbClr val="123D4B"/>
                </a:solidFill>
                <a:latin typeface="Segoe UI" pitchFamily="34" charset="0"/>
                <a:ea typeface="Segoe UI" pitchFamily="34" charset="-122"/>
                <a:cs typeface="Segoe UI" pitchFamily="34" charset="-120"/>
              </a:rPr>
              <a:t>Backend NestJS · Una aplicación modular</a:t>
            </a:r>
            <a:endParaRPr lang="en-US" sz="2100" dirty="0"/>
          </a:p>
        </p:txBody>
      </p:sp>
      <p:sp>
        <p:nvSpPr>
          <p:cNvPr id="11" name="Text 8"/>
          <p:cNvSpPr/>
          <p:nvPr/>
        </p:nvSpPr>
        <p:spPr>
          <a:xfrm>
            <a:off x="3703320" y="2331720"/>
            <a:ext cx="7772400" cy="347472"/>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API REST: autenticación, permisos y validación</a:t>
            </a:r>
            <a:endParaRPr lang="en-US" sz="1800" dirty="0"/>
          </a:p>
        </p:txBody>
      </p:sp>
      <p:sp>
        <p:nvSpPr>
          <p:cNvPr id="12" name="Text 9"/>
          <p:cNvSpPr/>
          <p:nvPr/>
        </p:nvSpPr>
        <p:spPr>
          <a:xfrm>
            <a:off x="3703320" y="2834640"/>
            <a:ext cx="7772400" cy="36576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Aplicación: orquesta casos de uso y transacciones</a:t>
            </a:r>
            <a:endParaRPr lang="en-US" sz="1800" dirty="0"/>
          </a:p>
        </p:txBody>
      </p:sp>
      <p:sp>
        <p:nvSpPr>
          <p:cNvPr id="13" name="Shape 10"/>
          <p:cNvSpPr/>
          <p:nvPr/>
        </p:nvSpPr>
        <p:spPr>
          <a:xfrm>
            <a:off x="3703320" y="3520440"/>
            <a:ext cx="1399032" cy="960120"/>
          </a:xfrm>
          <a:prstGeom prst="rect">
            <a:avLst/>
          </a:prstGeom>
          <a:solidFill>
            <a:srgbClr val="E4F5FA"/>
          </a:solidFill>
          <a:ln w="10160">
            <a:solidFill>
              <a:srgbClr val="D6E3E9"/>
            </a:solidFill>
            <a:prstDash val="solid"/>
          </a:ln>
        </p:spPr>
      </p:sp>
      <p:sp>
        <p:nvSpPr>
          <p:cNvPr id="14" name="Text 11"/>
          <p:cNvSpPr/>
          <p:nvPr/>
        </p:nvSpPr>
        <p:spPr>
          <a:xfrm>
            <a:off x="3767328" y="3639312"/>
            <a:ext cx="1271016" cy="265176"/>
          </a:xfrm>
          <a:prstGeom prst="rect">
            <a:avLst/>
          </a:prstGeom>
          <a:noFill/>
          <a:ln/>
        </p:spPr>
        <p:txBody>
          <a:bodyPr wrap="square" lIns="0" tIns="0" rIns="0" bIns="0" rtlCol="0" anchor="ctr"/>
          <a:lstStyle/>
          <a:p>
            <a:pPr indent="0" marL="0">
              <a:buNone/>
            </a:pPr>
            <a:r>
              <a:rPr lang="en-US" sz="1600" b="1" dirty="0">
                <a:solidFill>
                  <a:srgbClr val="123D4B"/>
                </a:solidFill>
                <a:latin typeface="Segoe UI" pitchFamily="34" charset="0"/>
                <a:ea typeface="Segoe UI" pitchFamily="34" charset="-122"/>
                <a:cs typeface="Segoe UI" pitchFamily="34" charset="-120"/>
              </a:rPr>
              <a:t>Identity</a:t>
            </a:r>
            <a:endParaRPr lang="en-US" sz="1600" dirty="0"/>
          </a:p>
        </p:txBody>
      </p:sp>
      <p:sp>
        <p:nvSpPr>
          <p:cNvPr id="15" name="Text 12"/>
          <p:cNvSpPr/>
          <p:nvPr/>
        </p:nvSpPr>
        <p:spPr>
          <a:xfrm>
            <a:off x="3767328" y="4041648"/>
            <a:ext cx="1271016" cy="27432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Acceso</a:t>
            </a:r>
            <a:endParaRPr lang="en-US" sz="1400" dirty="0"/>
          </a:p>
        </p:txBody>
      </p:sp>
      <p:sp>
        <p:nvSpPr>
          <p:cNvPr id="16" name="Shape 13"/>
          <p:cNvSpPr/>
          <p:nvPr/>
        </p:nvSpPr>
        <p:spPr>
          <a:xfrm>
            <a:off x="5266944" y="3520440"/>
            <a:ext cx="1399032" cy="960120"/>
          </a:xfrm>
          <a:prstGeom prst="rect">
            <a:avLst/>
          </a:prstGeom>
          <a:solidFill>
            <a:srgbClr val="E4F5FA"/>
          </a:solidFill>
          <a:ln w="10160">
            <a:solidFill>
              <a:srgbClr val="D6E3E9"/>
            </a:solidFill>
            <a:prstDash val="solid"/>
          </a:ln>
        </p:spPr>
      </p:sp>
      <p:sp>
        <p:nvSpPr>
          <p:cNvPr id="17" name="Text 14"/>
          <p:cNvSpPr/>
          <p:nvPr/>
        </p:nvSpPr>
        <p:spPr>
          <a:xfrm>
            <a:off x="5330952" y="3639312"/>
            <a:ext cx="1271016" cy="265176"/>
          </a:xfrm>
          <a:prstGeom prst="rect">
            <a:avLst/>
          </a:prstGeom>
          <a:noFill/>
          <a:ln/>
        </p:spPr>
        <p:txBody>
          <a:bodyPr wrap="square" lIns="0" tIns="0" rIns="0" bIns="0" rtlCol="0" anchor="ctr"/>
          <a:lstStyle/>
          <a:p>
            <a:pPr indent="0" marL="0">
              <a:buNone/>
            </a:pPr>
            <a:r>
              <a:rPr lang="en-US" sz="1600" b="1" dirty="0">
                <a:solidFill>
                  <a:srgbClr val="123D4B"/>
                </a:solidFill>
                <a:latin typeface="Segoe UI" pitchFamily="34" charset="0"/>
                <a:ea typeface="Segoe UI" pitchFamily="34" charset="-122"/>
                <a:cs typeface="Segoe UI" pitchFamily="34" charset="-120"/>
              </a:rPr>
              <a:t>Shelter</a:t>
            </a:r>
            <a:endParaRPr lang="en-US" sz="1600" dirty="0"/>
          </a:p>
        </p:txBody>
      </p:sp>
      <p:sp>
        <p:nvSpPr>
          <p:cNvPr id="18" name="Text 15"/>
          <p:cNvSpPr/>
          <p:nvPr/>
        </p:nvSpPr>
        <p:spPr>
          <a:xfrm>
            <a:off x="5330952" y="4041648"/>
            <a:ext cx="1271016" cy="27432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Necesidades</a:t>
            </a:r>
            <a:endParaRPr lang="en-US" sz="1400" dirty="0"/>
          </a:p>
        </p:txBody>
      </p:sp>
      <p:sp>
        <p:nvSpPr>
          <p:cNvPr id="19" name="Shape 16"/>
          <p:cNvSpPr/>
          <p:nvPr/>
        </p:nvSpPr>
        <p:spPr>
          <a:xfrm>
            <a:off x="6830568" y="3520440"/>
            <a:ext cx="1399032" cy="960120"/>
          </a:xfrm>
          <a:prstGeom prst="rect">
            <a:avLst/>
          </a:prstGeom>
          <a:solidFill>
            <a:srgbClr val="E4F5FA"/>
          </a:solidFill>
          <a:ln w="10160">
            <a:solidFill>
              <a:srgbClr val="D6E3E9"/>
            </a:solidFill>
            <a:prstDash val="solid"/>
          </a:ln>
        </p:spPr>
      </p:sp>
      <p:sp>
        <p:nvSpPr>
          <p:cNvPr id="20" name="Text 17"/>
          <p:cNvSpPr/>
          <p:nvPr/>
        </p:nvSpPr>
        <p:spPr>
          <a:xfrm>
            <a:off x="6894576" y="3639312"/>
            <a:ext cx="1271016" cy="265176"/>
          </a:xfrm>
          <a:prstGeom prst="rect">
            <a:avLst/>
          </a:prstGeom>
          <a:noFill/>
          <a:ln/>
        </p:spPr>
        <p:txBody>
          <a:bodyPr wrap="square" lIns="0" tIns="0" rIns="0" bIns="0" rtlCol="0" anchor="ctr"/>
          <a:lstStyle/>
          <a:p>
            <a:pPr indent="0" marL="0">
              <a:buNone/>
            </a:pPr>
            <a:r>
              <a:rPr lang="en-US" sz="1600" b="1" dirty="0">
                <a:solidFill>
                  <a:srgbClr val="123D4B"/>
                </a:solidFill>
                <a:latin typeface="Segoe UI" pitchFamily="34" charset="0"/>
                <a:ea typeface="Segoe UI" pitchFamily="34" charset="-122"/>
                <a:cs typeface="Segoe UI" pitchFamily="34" charset="-120"/>
              </a:rPr>
              <a:t>Inventory</a:t>
            </a:r>
            <a:endParaRPr lang="en-US" sz="1600" dirty="0"/>
          </a:p>
        </p:txBody>
      </p:sp>
      <p:sp>
        <p:nvSpPr>
          <p:cNvPr id="21" name="Text 18"/>
          <p:cNvSpPr/>
          <p:nvPr/>
        </p:nvSpPr>
        <p:spPr>
          <a:xfrm>
            <a:off x="6894576" y="4041648"/>
            <a:ext cx="1271016" cy="27432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Stock y aportes</a:t>
            </a:r>
            <a:endParaRPr lang="en-US" sz="1400" dirty="0"/>
          </a:p>
        </p:txBody>
      </p:sp>
      <p:sp>
        <p:nvSpPr>
          <p:cNvPr id="22" name="Shape 19"/>
          <p:cNvSpPr/>
          <p:nvPr/>
        </p:nvSpPr>
        <p:spPr>
          <a:xfrm>
            <a:off x="8394192" y="3520440"/>
            <a:ext cx="1399032" cy="960120"/>
          </a:xfrm>
          <a:prstGeom prst="rect">
            <a:avLst/>
          </a:prstGeom>
          <a:solidFill>
            <a:srgbClr val="E4F5FA"/>
          </a:solidFill>
          <a:ln w="10160">
            <a:solidFill>
              <a:srgbClr val="D6E3E9"/>
            </a:solidFill>
            <a:prstDash val="solid"/>
          </a:ln>
        </p:spPr>
      </p:sp>
      <p:sp>
        <p:nvSpPr>
          <p:cNvPr id="23" name="Text 20"/>
          <p:cNvSpPr/>
          <p:nvPr/>
        </p:nvSpPr>
        <p:spPr>
          <a:xfrm>
            <a:off x="8458200" y="3639312"/>
            <a:ext cx="1271016" cy="265176"/>
          </a:xfrm>
          <a:prstGeom prst="rect">
            <a:avLst/>
          </a:prstGeom>
          <a:noFill/>
          <a:ln/>
        </p:spPr>
        <p:txBody>
          <a:bodyPr wrap="square" lIns="0" tIns="0" rIns="0" bIns="0" rtlCol="0" anchor="ctr"/>
          <a:lstStyle/>
          <a:p>
            <a:pPr indent="0" marL="0">
              <a:buNone/>
            </a:pPr>
            <a:r>
              <a:rPr lang="en-US" sz="1600" b="1" dirty="0">
                <a:solidFill>
                  <a:srgbClr val="123D4B"/>
                </a:solidFill>
                <a:latin typeface="Segoe UI" pitchFamily="34" charset="0"/>
                <a:ea typeface="Segoe UI" pitchFamily="34" charset="-122"/>
                <a:cs typeface="Segoe UI" pitchFamily="34" charset="-120"/>
              </a:rPr>
              <a:t>Logistics</a:t>
            </a:r>
            <a:endParaRPr lang="en-US" sz="1600" dirty="0"/>
          </a:p>
        </p:txBody>
      </p:sp>
      <p:sp>
        <p:nvSpPr>
          <p:cNvPr id="24" name="Text 21"/>
          <p:cNvSpPr/>
          <p:nvPr/>
        </p:nvSpPr>
        <p:spPr>
          <a:xfrm>
            <a:off x="8458200" y="4041648"/>
            <a:ext cx="1271016" cy="27432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Despachos</a:t>
            </a:r>
            <a:endParaRPr lang="en-US" sz="1400" dirty="0"/>
          </a:p>
        </p:txBody>
      </p:sp>
      <p:sp>
        <p:nvSpPr>
          <p:cNvPr id="25" name="Shape 22"/>
          <p:cNvSpPr/>
          <p:nvPr/>
        </p:nvSpPr>
        <p:spPr>
          <a:xfrm>
            <a:off x="9957816" y="3520440"/>
            <a:ext cx="1399032" cy="960120"/>
          </a:xfrm>
          <a:prstGeom prst="rect">
            <a:avLst/>
          </a:prstGeom>
          <a:solidFill>
            <a:srgbClr val="E4F5FA"/>
          </a:solidFill>
          <a:ln w="10160">
            <a:solidFill>
              <a:srgbClr val="D6E3E9"/>
            </a:solidFill>
            <a:prstDash val="solid"/>
          </a:ln>
        </p:spPr>
      </p:sp>
      <p:sp>
        <p:nvSpPr>
          <p:cNvPr id="26" name="Text 23"/>
          <p:cNvSpPr/>
          <p:nvPr/>
        </p:nvSpPr>
        <p:spPr>
          <a:xfrm>
            <a:off x="10021824" y="3639312"/>
            <a:ext cx="1271016" cy="265176"/>
          </a:xfrm>
          <a:prstGeom prst="rect">
            <a:avLst/>
          </a:prstGeom>
          <a:noFill/>
          <a:ln/>
        </p:spPr>
        <p:txBody>
          <a:bodyPr wrap="square" lIns="0" tIns="0" rIns="0" bIns="0" rtlCol="0" anchor="ctr"/>
          <a:lstStyle/>
          <a:p>
            <a:pPr indent="0" marL="0">
              <a:buNone/>
            </a:pPr>
            <a:r>
              <a:rPr lang="en-US" sz="1600" b="1" dirty="0">
                <a:solidFill>
                  <a:srgbClr val="123D4B"/>
                </a:solidFill>
                <a:latin typeface="Segoe UI" pitchFamily="34" charset="0"/>
                <a:ea typeface="Segoe UI" pitchFamily="34" charset="-122"/>
                <a:cs typeface="Segoe UI" pitchFamily="34" charset="-120"/>
              </a:rPr>
              <a:t>Territory</a:t>
            </a:r>
            <a:endParaRPr lang="en-US" sz="1600" dirty="0"/>
          </a:p>
        </p:txBody>
      </p:sp>
      <p:sp>
        <p:nvSpPr>
          <p:cNvPr id="27" name="Text 24"/>
          <p:cNvSpPr/>
          <p:nvPr/>
        </p:nvSpPr>
        <p:spPr>
          <a:xfrm>
            <a:off x="10021824" y="4041648"/>
            <a:ext cx="1271016" cy="274320"/>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Riesgo</a:t>
            </a:r>
            <a:endParaRPr lang="en-US" sz="1400" dirty="0"/>
          </a:p>
        </p:txBody>
      </p:sp>
      <p:sp>
        <p:nvSpPr>
          <p:cNvPr id="28" name="Text 25"/>
          <p:cNvSpPr/>
          <p:nvPr/>
        </p:nvSpPr>
        <p:spPr>
          <a:xfrm>
            <a:off x="3703320" y="4608576"/>
            <a:ext cx="7772400" cy="274320"/>
          </a:xfrm>
          <a:prstGeom prst="rect">
            <a:avLst/>
          </a:prstGeom>
          <a:noFill/>
          <a:ln/>
        </p:spPr>
        <p:txBody>
          <a:bodyPr wrap="square" lIns="0" tIns="0" rIns="0" bIns="0" rtlCol="0" anchor="ctr"/>
          <a:lstStyle/>
          <a:p>
            <a:pPr indent="0" marL="0">
              <a:buNone/>
            </a:pPr>
            <a:r>
              <a:rPr lang="en-US" sz="1600" dirty="0">
                <a:solidFill>
                  <a:srgbClr val="4B6673"/>
                </a:solidFill>
                <a:latin typeface="Segoe UI" pitchFamily="34" charset="0"/>
                <a:ea typeface="Segoe UI" pitchFamily="34" charset="-122"/>
                <a:cs typeface="Segoe UI" pitchFamily="34" charset="-120"/>
              </a:rPr>
              <a:t>Dominio: reglas de negocio independientes del framework</a:t>
            </a:r>
            <a:endParaRPr lang="en-US" sz="1600" dirty="0"/>
          </a:p>
        </p:txBody>
      </p:sp>
      <p:sp>
        <p:nvSpPr>
          <p:cNvPr id="29" name="Shape 26"/>
          <p:cNvSpPr/>
          <p:nvPr/>
        </p:nvSpPr>
        <p:spPr>
          <a:xfrm>
            <a:off x="2926080" y="2560320"/>
            <a:ext cx="548640" cy="0"/>
          </a:xfrm>
          <a:prstGeom prst="line">
            <a:avLst/>
          </a:prstGeom>
          <a:noFill/>
          <a:ln w="19050">
            <a:solidFill>
              <a:srgbClr val="007F99"/>
            </a:solidFill>
            <a:prstDash val="solid"/>
            <a:headEnd type="none"/>
            <a:tailEnd type="triangle"/>
          </a:ln>
        </p:spPr>
      </p:sp>
      <p:sp>
        <p:nvSpPr>
          <p:cNvPr id="30" name="Text 27"/>
          <p:cNvSpPr/>
          <p:nvPr/>
        </p:nvSpPr>
        <p:spPr>
          <a:xfrm>
            <a:off x="2880360" y="2103120"/>
            <a:ext cx="612648" cy="228600"/>
          </a:xfrm>
          <a:prstGeom prst="rect">
            <a:avLst/>
          </a:prstGeom>
          <a:noFill/>
          <a:ln/>
        </p:spPr>
        <p:txBody>
          <a:bodyPr wrap="square" lIns="0" tIns="0" rIns="0" bIns="0" rtlCol="0" anchor="ctr"/>
          <a:lstStyle/>
          <a:p>
            <a:pPr indent="0" marL="0">
              <a:buNone/>
            </a:pPr>
            <a:r>
              <a:rPr lang="en-US" sz="1200" dirty="0">
                <a:solidFill>
                  <a:srgbClr val="4B6673"/>
                </a:solidFill>
                <a:latin typeface="Segoe UI" pitchFamily="34" charset="0"/>
                <a:ea typeface="Segoe UI" pitchFamily="34" charset="-122"/>
                <a:cs typeface="Segoe UI" pitchFamily="34" charset="-120"/>
              </a:rPr>
              <a:t>HTTPS</a:t>
            </a:r>
            <a:endParaRPr lang="en-US" sz="1200" dirty="0"/>
          </a:p>
        </p:txBody>
      </p:sp>
      <p:sp>
        <p:nvSpPr>
          <p:cNvPr id="31" name="Shape 28"/>
          <p:cNvSpPr/>
          <p:nvPr/>
        </p:nvSpPr>
        <p:spPr>
          <a:xfrm>
            <a:off x="3703320" y="5404104"/>
            <a:ext cx="3785616" cy="1051560"/>
          </a:xfrm>
          <a:prstGeom prst="rect">
            <a:avLst/>
          </a:prstGeom>
          <a:solidFill>
            <a:srgbClr val="E4F5FA"/>
          </a:solidFill>
          <a:ln w="10160">
            <a:solidFill>
              <a:srgbClr val="D6E3E9"/>
            </a:solidFill>
            <a:prstDash val="solid"/>
          </a:ln>
        </p:spPr>
      </p:sp>
      <p:sp>
        <p:nvSpPr>
          <p:cNvPr id="32" name="Text 29"/>
          <p:cNvSpPr/>
          <p:nvPr/>
        </p:nvSpPr>
        <p:spPr>
          <a:xfrm>
            <a:off x="3840480" y="5522976"/>
            <a:ext cx="3511296"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Persistencia</a:t>
            </a:r>
            <a:endParaRPr lang="en-US" sz="1900" dirty="0"/>
          </a:p>
        </p:txBody>
      </p:sp>
      <p:sp>
        <p:nvSpPr>
          <p:cNvPr id="33" name="Text 30"/>
          <p:cNvSpPr/>
          <p:nvPr/>
        </p:nvSpPr>
        <p:spPr>
          <a:xfrm>
            <a:off x="3840480" y="6007608"/>
            <a:ext cx="3511296" cy="3840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Prisma (ORM) accede a PostgreSQL.</a:t>
            </a:r>
            <a:endParaRPr lang="en-US" sz="1600" dirty="0"/>
          </a:p>
        </p:txBody>
      </p:sp>
      <p:sp>
        <p:nvSpPr>
          <p:cNvPr id="34" name="Shape 31"/>
          <p:cNvSpPr/>
          <p:nvPr/>
        </p:nvSpPr>
        <p:spPr>
          <a:xfrm>
            <a:off x="7909560" y="5404104"/>
            <a:ext cx="3822192" cy="1051560"/>
          </a:xfrm>
          <a:prstGeom prst="rect">
            <a:avLst/>
          </a:prstGeom>
          <a:solidFill>
            <a:srgbClr val="E4F5FA"/>
          </a:solidFill>
          <a:ln w="10160">
            <a:solidFill>
              <a:srgbClr val="D6E3E9"/>
            </a:solidFill>
            <a:prstDash val="solid"/>
          </a:ln>
        </p:spPr>
      </p:sp>
      <p:sp>
        <p:nvSpPr>
          <p:cNvPr id="35" name="Text 32"/>
          <p:cNvSpPr/>
          <p:nvPr/>
        </p:nvSpPr>
        <p:spPr>
          <a:xfrm>
            <a:off x="8046720" y="5522976"/>
            <a:ext cx="3547872"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Adaptadores</a:t>
            </a:r>
            <a:endParaRPr lang="en-US" sz="1900" dirty="0"/>
          </a:p>
        </p:txBody>
      </p:sp>
      <p:sp>
        <p:nvSpPr>
          <p:cNvPr id="36" name="Text 33"/>
          <p:cNvSpPr/>
          <p:nvPr/>
        </p:nvSpPr>
        <p:spPr>
          <a:xfrm>
            <a:off x="8046720" y="6007608"/>
            <a:ext cx="3547872" cy="3840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Fuentes territoriales y rutas previstas.</a:t>
            </a:r>
            <a:endParaRPr lang="en-US" sz="1600" dirty="0"/>
          </a:p>
        </p:txBody>
      </p:sp>
      <p:sp>
        <p:nvSpPr>
          <p:cNvPr id="37" name="Shape 34"/>
          <p:cNvSpPr/>
          <p:nvPr/>
        </p:nvSpPr>
        <p:spPr>
          <a:xfrm>
            <a:off x="5577840" y="5029200"/>
            <a:ext cx="0" cy="320040"/>
          </a:xfrm>
          <a:prstGeom prst="line">
            <a:avLst/>
          </a:prstGeom>
          <a:noFill/>
          <a:ln w="19050">
            <a:solidFill>
              <a:srgbClr val="007F99"/>
            </a:solidFill>
            <a:prstDash val="solid"/>
            <a:headEnd type="none"/>
            <a:tailEnd type="triangle"/>
          </a:ln>
        </p:spPr>
      </p:sp>
      <p:sp>
        <p:nvSpPr>
          <p:cNvPr id="38" name="Shape 35"/>
          <p:cNvSpPr/>
          <p:nvPr/>
        </p:nvSpPr>
        <p:spPr>
          <a:xfrm>
            <a:off x="9784080" y="5029200"/>
            <a:ext cx="0" cy="320040"/>
          </a:xfrm>
          <a:prstGeom prst="line">
            <a:avLst/>
          </a:prstGeom>
          <a:noFill/>
          <a:ln w="19050">
            <a:solidFill>
              <a:srgbClr val="007F99"/>
            </a:solidFill>
            <a:prstDash val="solid"/>
            <a:headEnd type="none"/>
            <a:tailEnd type="triangle"/>
          </a:ln>
        </p:spPr>
      </p:sp>
      <p:sp>
        <p:nvSpPr>
          <p:cNvPr id="39" name="Text 36"/>
          <p:cNvSpPr/>
          <p:nvPr/>
        </p:nvSpPr>
        <p:spPr>
          <a:xfrm>
            <a:off x="457200" y="4032504"/>
            <a:ext cx="2423160" cy="152704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Cinco módulos comparten aplicación y base de datos. Sus contratos delimitan cada responsabilidad.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Servidor web e infraestructura cloud</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11</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Topología de referencia propuesta; no representa un despliegue ejecutado</a:t>
            </a:r>
            <a:endParaRPr lang="en-US" sz="1800" dirty="0"/>
          </a:p>
        </p:txBody>
      </p:sp>
      <p:sp>
        <p:nvSpPr>
          <p:cNvPr id="6" name="Shape 3"/>
          <p:cNvSpPr/>
          <p:nvPr/>
        </p:nvSpPr>
        <p:spPr>
          <a:xfrm>
            <a:off x="457200" y="1856232"/>
            <a:ext cx="2148840" cy="1508760"/>
          </a:xfrm>
          <a:prstGeom prst="rect">
            <a:avLst/>
          </a:prstGeom>
          <a:solidFill>
            <a:srgbClr val="E4F5FA"/>
          </a:solidFill>
          <a:ln w="10160">
            <a:solidFill>
              <a:srgbClr val="D6E3E9"/>
            </a:solidFill>
            <a:prstDash val="solid"/>
          </a:ln>
        </p:spPr>
      </p:sp>
      <p:sp>
        <p:nvSpPr>
          <p:cNvPr id="7" name="Text 4"/>
          <p:cNvSpPr/>
          <p:nvPr/>
        </p:nvSpPr>
        <p:spPr>
          <a:xfrm>
            <a:off x="594360" y="1975104"/>
            <a:ext cx="187452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Navegador</a:t>
            </a:r>
            <a:endParaRPr lang="en-US" sz="1900" dirty="0"/>
          </a:p>
        </p:txBody>
      </p:sp>
      <p:sp>
        <p:nvSpPr>
          <p:cNvPr id="8" name="Text 5"/>
          <p:cNvSpPr/>
          <p:nvPr/>
        </p:nvSpPr>
        <p:spPr>
          <a:xfrm>
            <a:off x="594360" y="2459736"/>
            <a:ext cx="1874520" cy="8412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Accede a la aplicación web.</a:t>
            </a:r>
            <a:endParaRPr lang="en-US" sz="1600" dirty="0"/>
          </a:p>
        </p:txBody>
      </p:sp>
      <p:sp>
        <p:nvSpPr>
          <p:cNvPr id="9" name="Shape 6"/>
          <p:cNvSpPr/>
          <p:nvPr/>
        </p:nvSpPr>
        <p:spPr>
          <a:xfrm>
            <a:off x="3493008" y="1856232"/>
            <a:ext cx="2468880" cy="1508760"/>
          </a:xfrm>
          <a:prstGeom prst="rect">
            <a:avLst/>
          </a:prstGeom>
          <a:solidFill>
            <a:srgbClr val="E4F5FA"/>
          </a:solidFill>
          <a:ln w="10160">
            <a:solidFill>
              <a:srgbClr val="D6E3E9"/>
            </a:solidFill>
            <a:prstDash val="solid"/>
          </a:ln>
        </p:spPr>
      </p:sp>
      <p:sp>
        <p:nvSpPr>
          <p:cNvPr id="10" name="Text 7"/>
          <p:cNvSpPr/>
          <p:nvPr/>
        </p:nvSpPr>
        <p:spPr>
          <a:xfrm>
            <a:off x="3630168" y="1975104"/>
            <a:ext cx="219456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Vercel</a:t>
            </a:r>
            <a:endParaRPr lang="en-US" sz="1900" dirty="0"/>
          </a:p>
        </p:txBody>
      </p:sp>
      <p:sp>
        <p:nvSpPr>
          <p:cNvPr id="11" name="Text 8"/>
          <p:cNvSpPr/>
          <p:nvPr/>
        </p:nvSpPr>
        <p:spPr>
          <a:xfrm>
            <a:off x="3630168" y="2459736"/>
            <a:ext cx="2194560" cy="8412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Frontend Next.js</a:t>
            </a:r>
            <a:endParaRPr lang="en-US" sz="1600" dirty="0"/>
          </a:p>
          <a:p>
            <a:pPr indent="0" marL="0">
              <a:buNone/>
            </a:pPr>
            <a:r>
              <a:rPr lang="en-US" sz="1600" dirty="0">
                <a:solidFill>
                  <a:srgbClr val="183B4A"/>
                </a:solidFill>
                <a:latin typeface="Segoe UI" pitchFamily="34" charset="0"/>
                <a:ea typeface="Segoe UI" pitchFamily="34" charset="-122"/>
                <a:cs typeface="Segoe UI" pitchFamily="34" charset="-120"/>
              </a:rPr>
              <a:t>y proxy del servidor.</a:t>
            </a:r>
            <a:endParaRPr lang="en-US" sz="1600" dirty="0"/>
          </a:p>
        </p:txBody>
      </p:sp>
      <p:sp>
        <p:nvSpPr>
          <p:cNvPr id="12" name="Shape 9"/>
          <p:cNvSpPr/>
          <p:nvPr/>
        </p:nvSpPr>
        <p:spPr>
          <a:xfrm>
            <a:off x="6858000" y="1856232"/>
            <a:ext cx="2468880" cy="1508760"/>
          </a:xfrm>
          <a:prstGeom prst="rect">
            <a:avLst/>
          </a:prstGeom>
          <a:solidFill>
            <a:srgbClr val="E4F5FA"/>
          </a:solidFill>
          <a:ln w="10160">
            <a:solidFill>
              <a:srgbClr val="D6E3E9"/>
            </a:solidFill>
            <a:prstDash val="solid"/>
          </a:ln>
        </p:spPr>
      </p:sp>
      <p:sp>
        <p:nvSpPr>
          <p:cNvPr id="13" name="Text 10"/>
          <p:cNvSpPr/>
          <p:nvPr/>
        </p:nvSpPr>
        <p:spPr>
          <a:xfrm>
            <a:off x="6995160" y="1975104"/>
            <a:ext cx="219456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Render</a:t>
            </a:r>
            <a:endParaRPr lang="en-US" sz="1900" dirty="0"/>
          </a:p>
        </p:txBody>
      </p:sp>
      <p:sp>
        <p:nvSpPr>
          <p:cNvPr id="14" name="Text 11"/>
          <p:cNvSpPr/>
          <p:nvPr/>
        </p:nvSpPr>
        <p:spPr>
          <a:xfrm>
            <a:off x="6995160" y="2459736"/>
            <a:ext cx="2194560" cy="8412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API pública NestJS</a:t>
            </a:r>
            <a:endParaRPr lang="en-US" sz="1600" dirty="0"/>
          </a:p>
          <a:p>
            <a:pPr indent="0" marL="0">
              <a:buNone/>
            </a:pPr>
            <a:r>
              <a:rPr lang="en-US" sz="1600" dirty="0">
                <a:solidFill>
                  <a:srgbClr val="183B4A"/>
                </a:solidFill>
                <a:latin typeface="Segoe UI" pitchFamily="34" charset="0"/>
                <a:ea typeface="Segoe UI" pitchFamily="34" charset="-122"/>
                <a:cs typeface="Segoe UI" pitchFamily="34" charset="-120"/>
              </a:rPr>
              <a:t>y tareas internas.</a:t>
            </a:r>
            <a:endParaRPr lang="en-US" sz="1600" dirty="0"/>
          </a:p>
        </p:txBody>
      </p:sp>
      <p:sp>
        <p:nvSpPr>
          <p:cNvPr id="15" name="Shape 12"/>
          <p:cNvSpPr/>
          <p:nvPr/>
        </p:nvSpPr>
        <p:spPr>
          <a:xfrm>
            <a:off x="10012680" y="1856232"/>
            <a:ext cx="1719072" cy="1508760"/>
          </a:xfrm>
          <a:prstGeom prst="rect">
            <a:avLst/>
          </a:prstGeom>
          <a:solidFill>
            <a:srgbClr val="E4F5FA"/>
          </a:solidFill>
          <a:ln w="10160">
            <a:solidFill>
              <a:srgbClr val="D6E3E9"/>
            </a:solidFill>
            <a:prstDash val="solid"/>
          </a:ln>
        </p:spPr>
      </p:sp>
      <p:sp>
        <p:nvSpPr>
          <p:cNvPr id="16" name="Text 13"/>
          <p:cNvSpPr/>
          <p:nvPr/>
        </p:nvSpPr>
        <p:spPr>
          <a:xfrm>
            <a:off x="10149840" y="1975104"/>
            <a:ext cx="1444752"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Supabase</a:t>
            </a:r>
            <a:endParaRPr lang="en-US" sz="1900" dirty="0"/>
          </a:p>
        </p:txBody>
      </p:sp>
      <p:sp>
        <p:nvSpPr>
          <p:cNvPr id="17" name="Text 14"/>
          <p:cNvSpPr/>
          <p:nvPr/>
        </p:nvSpPr>
        <p:spPr>
          <a:xfrm>
            <a:off x="10149840" y="2459736"/>
            <a:ext cx="1444752" cy="84124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PostgreSQL</a:t>
            </a:r>
            <a:endParaRPr lang="en-US" sz="1600" dirty="0"/>
          </a:p>
          <a:p>
            <a:pPr indent="0" marL="0">
              <a:buNone/>
            </a:pPr>
            <a:r>
              <a:rPr lang="en-US" sz="1600" dirty="0">
                <a:solidFill>
                  <a:srgbClr val="183B4A"/>
                </a:solidFill>
                <a:latin typeface="Segoe UI" pitchFamily="34" charset="0"/>
                <a:ea typeface="Segoe UI" pitchFamily="34" charset="-122"/>
                <a:cs typeface="Segoe UI" pitchFamily="34" charset="-120"/>
              </a:rPr>
              <a:t>administrado.</a:t>
            </a:r>
            <a:endParaRPr lang="en-US" sz="1600" dirty="0"/>
          </a:p>
        </p:txBody>
      </p:sp>
      <p:sp>
        <p:nvSpPr>
          <p:cNvPr id="18" name="Shape 15"/>
          <p:cNvSpPr/>
          <p:nvPr/>
        </p:nvSpPr>
        <p:spPr>
          <a:xfrm>
            <a:off x="2651760" y="2651760"/>
            <a:ext cx="786384" cy="0"/>
          </a:xfrm>
          <a:prstGeom prst="line">
            <a:avLst/>
          </a:prstGeom>
          <a:noFill/>
          <a:ln w="19050">
            <a:solidFill>
              <a:srgbClr val="007F99"/>
            </a:solidFill>
            <a:prstDash val="solid"/>
            <a:headEnd type="none"/>
            <a:tailEnd type="triangle"/>
          </a:ln>
        </p:spPr>
      </p:sp>
      <p:sp>
        <p:nvSpPr>
          <p:cNvPr id="19" name="Shape 16"/>
          <p:cNvSpPr/>
          <p:nvPr/>
        </p:nvSpPr>
        <p:spPr>
          <a:xfrm>
            <a:off x="6007608" y="2651760"/>
            <a:ext cx="795528" cy="0"/>
          </a:xfrm>
          <a:prstGeom prst="line">
            <a:avLst/>
          </a:prstGeom>
          <a:noFill/>
          <a:ln w="19050">
            <a:solidFill>
              <a:srgbClr val="007F99"/>
            </a:solidFill>
            <a:prstDash val="solid"/>
            <a:headEnd type="none"/>
            <a:tailEnd type="triangle"/>
          </a:ln>
        </p:spPr>
      </p:sp>
      <p:sp>
        <p:nvSpPr>
          <p:cNvPr id="20" name="Shape 17"/>
          <p:cNvSpPr/>
          <p:nvPr/>
        </p:nvSpPr>
        <p:spPr>
          <a:xfrm>
            <a:off x="9372600" y="2651760"/>
            <a:ext cx="585216" cy="0"/>
          </a:xfrm>
          <a:prstGeom prst="line">
            <a:avLst/>
          </a:prstGeom>
          <a:noFill/>
          <a:ln w="19050">
            <a:solidFill>
              <a:srgbClr val="007F99"/>
            </a:solidFill>
            <a:prstDash val="solid"/>
            <a:headEnd type="none"/>
            <a:tailEnd type="triangle"/>
          </a:ln>
        </p:spPr>
      </p:sp>
      <p:sp>
        <p:nvSpPr>
          <p:cNvPr id="21" name="Text 18"/>
          <p:cNvSpPr/>
          <p:nvPr/>
        </p:nvSpPr>
        <p:spPr>
          <a:xfrm>
            <a:off x="2660904" y="2185416"/>
            <a:ext cx="813816" cy="347472"/>
          </a:xfrm>
          <a:prstGeom prst="rect">
            <a:avLst/>
          </a:prstGeom>
          <a:noFill/>
          <a:ln/>
        </p:spPr>
        <p:txBody>
          <a:bodyPr wrap="square" lIns="0" tIns="0" rIns="0" bIns="0" rtlCol="0" anchor="ctr"/>
          <a:lstStyle/>
          <a:p>
            <a:pPr indent="0" marL="0">
              <a:buNone/>
            </a:pPr>
            <a:r>
              <a:rPr lang="en-US" sz="1400" b="1" dirty="0">
                <a:solidFill>
                  <a:srgbClr val="4B6673"/>
                </a:solidFill>
                <a:latin typeface="Segoe UI" pitchFamily="34" charset="0"/>
                <a:ea typeface="Segoe UI" pitchFamily="34" charset="-122"/>
                <a:cs typeface="Segoe UI" pitchFamily="34" charset="-120"/>
              </a:rPr>
              <a:t>HTTPS</a:t>
            </a:r>
            <a:endParaRPr lang="en-US" sz="1400" dirty="0"/>
          </a:p>
        </p:txBody>
      </p:sp>
      <p:sp>
        <p:nvSpPr>
          <p:cNvPr id="22" name="Text 19"/>
          <p:cNvSpPr/>
          <p:nvPr/>
        </p:nvSpPr>
        <p:spPr>
          <a:xfrm>
            <a:off x="6044184" y="2185416"/>
            <a:ext cx="813816" cy="347472"/>
          </a:xfrm>
          <a:prstGeom prst="rect">
            <a:avLst/>
          </a:prstGeom>
          <a:noFill/>
          <a:ln/>
        </p:spPr>
        <p:txBody>
          <a:bodyPr wrap="square" lIns="0" tIns="0" rIns="0" bIns="0" rtlCol="0" anchor="ctr"/>
          <a:lstStyle/>
          <a:p>
            <a:pPr indent="0" marL="0">
              <a:buNone/>
            </a:pPr>
            <a:r>
              <a:rPr lang="en-US" sz="1400" b="1" dirty="0">
                <a:solidFill>
                  <a:srgbClr val="4B6673"/>
                </a:solidFill>
                <a:latin typeface="Segoe UI" pitchFamily="34" charset="0"/>
                <a:ea typeface="Segoe UI" pitchFamily="34" charset="-122"/>
                <a:cs typeface="Segoe UI" pitchFamily="34" charset="-120"/>
              </a:rPr>
              <a:t>HTTPS</a:t>
            </a:r>
            <a:endParaRPr lang="en-US" sz="1400" dirty="0"/>
          </a:p>
        </p:txBody>
      </p:sp>
      <p:sp>
        <p:nvSpPr>
          <p:cNvPr id="23" name="Text 20"/>
          <p:cNvSpPr/>
          <p:nvPr/>
        </p:nvSpPr>
        <p:spPr>
          <a:xfrm>
            <a:off x="9427464" y="2185416"/>
            <a:ext cx="548640" cy="347472"/>
          </a:xfrm>
          <a:prstGeom prst="rect">
            <a:avLst/>
          </a:prstGeom>
          <a:noFill/>
          <a:ln/>
        </p:spPr>
        <p:txBody>
          <a:bodyPr wrap="square" lIns="0" tIns="0" rIns="0" bIns="0" rtlCol="0" anchor="ctr"/>
          <a:lstStyle/>
          <a:p>
            <a:pPr indent="0" marL="0">
              <a:buNone/>
            </a:pPr>
            <a:r>
              <a:rPr lang="en-US" sz="1400" b="1" dirty="0">
                <a:solidFill>
                  <a:srgbClr val="4B6673"/>
                </a:solidFill>
                <a:latin typeface="Segoe UI" pitchFamily="34" charset="0"/>
                <a:ea typeface="Segoe UI" pitchFamily="34" charset="-122"/>
                <a:cs typeface="Segoe UI" pitchFamily="34" charset="-120"/>
              </a:rPr>
              <a:t>TLS</a:t>
            </a:r>
            <a:endParaRPr lang="en-US" sz="1400" dirty="0"/>
          </a:p>
        </p:txBody>
      </p:sp>
      <p:sp>
        <p:nvSpPr>
          <p:cNvPr id="24" name="Text 21"/>
          <p:cNvSpPr/>
          <p:nvPr/>
        </p:nvSpPr>
        <p:spPr>
          <a:xfrm>
            <a:off x="457200" y="4114800"/>
            <a:ext cx="530352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Servicios separados</a:t>
            </a:r>
            <a:endParaRPr lang="en-US" sz="2000" dirty="0"/>
          </a:p>
        </p:txBody>
      </p:sp>
      <p:sp>
        <p:nvSpPr>
          <p:cNvPr id="25" name="Text 22"/>
          <p:cNvSpPr/>
          <p:nvPr/>
        </p:nvSpPr>
        <p:spPr>
          <a:xfrm>
            <a:off x="457200" y="4507992"/>
            <a:ext cx="5303520" cy="111556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Frontend y API se publican por separado. El proxy del frontend intermedia las solicitudes; la API vuelve a validar permisos.</a:t>
            </a:r>
            <a:endParaRPr lang="en-US" sz="1800" dirty="0"/>
          </a:p>
        </p:txBody>
      </p:sp>
      <p:sp>
        <p:nvSpPr>
          <p:cNvPr id="26" name="Text 23"/>
          <p:cNvSpPr/>
          <p:nvPr/>
        </p:nvSpPr>
        <p:spPr>
          <a:xfrm>
            <a:off x="6355080" y="4114800"/>
            <a:ext cx="5376672"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Disponibilidad y seguridad</a:t>
            </a:r>
            <a:endParaRPr lang="en-US" sz="2000" dirty="0"/>
          </a:p>
        </p:txBody>
      </p:sp>
      <p:sp>
        <p:nvSpPr>
          <p:cNvPr id="27" name="Text 24"/>
          <p:cNvSpPr/>
          <p:nvPr/>
        </p:nvSpPr>
        <p:spPr>
          <a:xfrm>
            <a:off x="6355080" y="4507992"/>
            <a:ext cx="5376672" cy="111556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El diseño requiere monitoreo, recuperación y capacidad suficiente. Las conexiones entre proveedores usan cifrado y credenciales restringidas.</a:t>
            </a:r>
            <a:endParaRPr lang="en-US" sz="1800" dirty="0"/>
          </a:p>
        </p:txBody>
      </p:sp>
      <p:sp>
        <p:nvSpPr>
          <p:cNvPr id="28" name="Text 25"/>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La selección de servicios no acredita una disponibilidad contratada ni una red privada entre proveedores.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Base de datos en la nube</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12</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PostgreSQL administrado en Supabase como servicio de referencia</a:t>
            </a:r>
            <a:endParaRPr lang="en-US" sz="1800" dirty="0"/>
          </a:p>
        </p:txBody>
      </p:sp>
      <p:sp>
        <p:nvSpPr>
          <p:cNvPr id="6" name="Shape 3"/>
          <p:cNvSpPr/>
          <p:nvPr/>
        </p:nvSpPr>
        <p:spPr>
          <a:xfrm>
            <a:off x="457200" y="1801368"/>
            <a:ext cx="2926080" cy="1417320"/>
          </a:xfrm>
          <a:prstGeom prst="rect">
            <a:avLst/>
          </a:prstGeom>
          <a:solidFill>
            <a:srgbClr val="E4F5FA"/>
          </a:solidFill>
          <a:ln w="10160">
            <a:solidFill>
              <a:srgbClr val="D6E3E9"/>
            </a:solidFill>
            <a:prstDash val="solid"/>
          </a:ln>
        </p:spPr>
      </p:sp>
      <p:sp>
        <p:nvSpPr>
          <p:cNvPr id="7" name="Text 4"/>
          <p:cNvSpPr/>
          <p:nvPr/>
        </p:nvSpPr>
        <p:spPr>
          <a:xfrm>
            <a:off x="594360" y="1920240"/>
            <a:ext cx="265176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Navegador</a:t>
            </a:r>
            <a:endParaRPr lang="en-US" sz="1900" dirty="0"/>
          </a:p>
        </p:txBody>
      </p:sp>
      <p:sp>
        <p:nvSpPr>
          <p:cNvPr id="8" name="Text 5"/>
          <p:cNvSpPr/>
          <p:nvPr/>
        </p:nvSpPr>
        <p:spPr>
          <a:xfrm>
            <a:off x="594360" y="2404872"/>
            <a:ext cx="2651760"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Sin acceso directo a la base de datos.</a:t>
            </a:r>
            <a:endParaRPr lang="en-US" sz="1600" dirty="0"/>
          </a:p>
        </p:txBody>
      </p:sp>
      <p:sp>
        <p:nvSpPr>
          <p:cNvPr id="9" name="Shape 6"/>
          <p:cNvSpPr/>
          <p:nvPr/>
        </p:nvSpPr>
        <p:spPr>
          <a:xfrm>
            <a:off x="4572000" y="1801368"/>
            <a:ext cx="3154680" cy="1417320"/>
          </a:xfrm>
          <a:prstGeom prst="rect">
            <a:avLst/>
          </a:prstGeom>
          <a:solidFill>
            <a:srgbClr val="E4F5FA"/>
          </a:solidFill>
          <a:ln w="10160">
            <a:solidFill>
              <a:srgbClr val="D6E3E9"/>
            </a:solidFill>
            <a:prstDash val="solid"/>
          </a:ln>
        </p:spPr>
      </p:sp>
      <p:sp>
        <p:nvSpPr>
          <p:cNvPr id="10" name="Text 7"/>
          <p:cNvSpPr/>
          <p:nvPr/>
        </p:nvSpPr>
        <p:spPr>
          <a:xfrm>
            <a:off x="4709160" y="1920240"/>
            <a:ext cx="2880360"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Backend NestJS</a:t>
            </a:r>
            <a:endParaRPr lang="en-US" sz="1900" dirty="0"/>
          </a:p>
        </p:txBody>
      </p:sp>
      <p:sp>
        <p:nvSpPr>
          <p:cNvPr id="11" name="Text 8"/>
          <p:cNvSpPr/>
          <p:nvPr/>
        </p:nvSpPr>
        <p:spPr>
          <a:xfrm>
            <a:off x="4709160" y="2404872"/>
            <a:ext cx="2880360"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Prisma accede a datos.</a:t>
            </a:r>
            <a:endParaRPr lang="en-US" sz="1600" dirty="0"/>
          </a:p>
          <a:p>
            <a:pPr indent="0" marL="0">
              <a:buNone/>
            </a:pPr>
            <a:r>
              <a:rPr lang="en-US" sz="1600" dirty="0">
                <a:solidFill>
                  <a:srgbClr val="183B4A"/>
                </a:solidFill>
                <a:latin typeface="Segoe UI" pitchFamily="34" charset="0"/>
                <a:ea typeface="Segoe UI" pitchFamily="34" charset="-122"/>
                <a:cs typeface="Segoe UI" pitchFamily="34" charset="-120"/>
              </a:rPr>
              <a:t>Conserva las credenciales.</a:t>
            </a:r>
            <a:endParaRPr lang="en-US" sz="1600" dirty="0"/>
          </a:p>
        </p:txBody>
      </p:sp>
      <p:sp>
        <p:nvSpPr>
          <p:cNvPr id="12" name="Shape 9"/>
          <p:cNvSpPr/>
          <p:nvPr/>
        </p:nvSpPr>
        <p:spPr>
          <a:xfrm>
            <a:off x="8778240" y="1801368"/>
            <a:ext cx="2953512" cy="1417320"/>
          </a:xfrm>
          <a:prstGeom prst="rect">
            <a:avLst/>
          </a:prstGeom>
          <a:solidFill>
            <a:srgbClr val="E4F5FA"/>
          </a:solidFill>
          <a:ln w="10160">
            <a:solidFill>
              <a:srgbClr val="D6E3E9"/>
            </a:solidFill>
            <a:prstDash val="solid"/>
          </a:ln>
        </p:spPr>
      </p:sp>
      <p:sp>
        <p:nvSpPr>
          <p:cNvPr id="13" name="Text 10"/>
          <p:cNvSpPr/>
          <p:nvPr/>
        </p:nvSpPr>
        <p:spPr>
          <a:xfrm>
            <a:off x="8915400" y="1920240"/>
            <a:ext cx="2679192" cy="41148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PostgreSQL</a:t>
            </a:r>
            <a:endParaRPr lang="en-US" sz="1900" dirty="0"/>
          </a:p>
        </p:txBody>
      </p:sp>
      <p:sp>
        <p:nvSpPr>
          <p:cNvPr id="14" name="Text 11"/>
          <p:cNvSpPr/>
          <p:nvPr/>
        </p:nvSpPr>
        <p:spPr>
          <a:xfrm>
            <a:off x="8915400" y="2404872"/>
            <a:ext cx="2679192" cy="749808"/>
          </a:xfrm>
          <a:prstGeom prst="rect">
            <a:avLst/>
          </a:prstGeom>
          <a:noFill/>
          <a:ln/>
        </p:spPr>
        <p:txBody>
          <a:bodyPr wrap="square" lIns="0" tIns="0" rIns="0" bIns="0" rtlCol="0" anchor="ctr"/>
          <a:lstStyle/>
          <a:p>
            <a:pPr indent="0" marL="0">
              <a:buNone/>
            </a:pPr>
            <a:r>
              <a:rPr lang="en-US" sz="1600" dirty="0">
                <a:solidFill>
                  <a:srgbClr val="183B4A"/>
                </a:solidFill>
                <a:latin typeface="Segoe UI" pitchFamily="34" charset="0"/>
                <a:ea typeface="Segoe UI" pitchFamily="34" charset="-122"/>
                <a:cs typeface="Segoe UI" pitchFamily="34" charset="-120"/>
              </a:rPr>
              <a:t>Almacena registros y relaciones</a:t>
            </a:r>
            <a:endParaRPr lang="en-US" sz="1600" dirty="0"/>
          </a:p>
          <a:p>
            <a:pPr indent="0" marL="0">
              <a:buNone/>
            </a:pPr>
            <a:r>
              <a:rPr lang="en-US" sz="1600" dirty="0">
                <a:solidFill>
                  <a:srgbClr val="183B4A"/>
                </a:solidFill>
                <a:latin typeface="Segoe UI" pitchFamily="34" charset="0"/>
                <a:ea typeface="Segoe UI" pitchFamily="34" charset="-122"/>
                <a:cs typeface="Segoe UI" pitchFamily="34" charset="-120"/>
              </a:rPr>
              <a:t>en cinco esquemas.</a:t>
            </a:r>
            <a:endParaRPr lang="en-US" sz="1600" dirty="0"/>
          </a:p>
        </p:txBody>
      </p:sp>
      <p:sp>
        <p:nvSpPr>
          <p:cNvPr id="15" name="Shape 12"/>
          <p:cNvSpPr/>
          <p:nvPr/>
        </p:nvSpPr>
        <p:spPr>
          <a:xfrm>
            <a:off x="3429000" y="2523744"/>
            <a:ext cx="1088136" cy="0"/>
          </a:xfrm>
          <a:prstGeom prst="line">
            <a:avLst/>
          </a:prstGeom>
          <a:noFill/>
          <a:ln w="19050">
            <a:solidFill>
              <a:srgbClr val="007F99"/>
            </a:solidFill>
            <a:prstDash val="solid"/>
            <a:headEnd type="none"/>
            <a:tailEnd type="triangle"/>
          </a:ln>
        </p:spPr>
      </p:sp>
      <p:sp>
        <p:nvSpPr>
          <p:cNvPr id="16" name="Text 13"/>
          <p:cNvSpPr/>
          <p:nvPr/>
        </p:nvSpPr>
        <p:spPr>
          <a:xfrm>
            <a:off x="3493008" y="2103120"/>
            <a:ext cx="960120" cy="347472"/>
          </a:xfrm>
          <a:prstGeom prst="rect">
            <a:avLst/>
          </a:prstGeom>
          <a:noFill/>
          <a:ln/>
        </p:spPr>
        <p:txBody>
          <a:bodyPr wrap="square" lIns="0" tIns="0" rIns="0" bIns="0" rtlCol="0" anchor="ctr"/>
          <a:lstStyle/>
          <a:p>
            <a:pPr indent="0" marL="0">
              <a:buNone/>
            </a:pPr>
            <a:r>
              <a:rPr lang="en-US" sz="1400" b="1" dirty="0">
                <a:solidFill>
                  <a:srgbClr val="4B6673"/>
                </a:solidFill>
                <a:latin typeface="Segoe UI" pitchFamily="34" charset="0"/>
                <a:ea typeface="Segoe UI" pitchFamily="34" charset="-122"/>
                <a:cs typeface="Segoe UI" pitchFamily="34" charset="-120"/>
              </a:rPr>
              <a:t>Vía API</a:t>
            </a:r>
            <a:endParaRPr lang="en-US" sz="1400" dirty="0"/>
          </a:p>
        </p:txBody>
      </p:sp>
      <p:sp>
        <p:nvSpPr>
          <p:cNvPr id="17" name="Shape 14"/>
          <p:cNvSpPr/>
          <p:nvPr/>
        </p:nvSpPr>
        <p:spPr>
          <a:xfrm>
            <a:off x="7772400" y="2523744"/>
            <a:ext cx="950976" cy="0"/>
          </a:xfrm>
          <a:prstGeom prst="line">
            <a:avLst/>
          </a:prstGeom>
          <a:noFill/>
          <a:ln w="19050">
            <a:solidFill>
              <a:srgbClr val="007F99"/>
            </a:solidFill>
            <a:prstDash val="solid"/>
            <a:headEnd type="none"/>
            <a:tailEnd type="triangle"/>
          </a:ln>
        </p:spPr>
      </p:sp>
      <p:sp>
        <p:nvSpPr>
          <p:cNvPr id="18" name="Text 15"/>
          <p:cNvSpPr/>
          <p:nvPr/>
        </p:nvSpPr>
        <p:spPr>
          <a:xfrm>
            <a:off x="8010144" y="2103120"/>
            <a:ext cx="548640" cy="347472"/>
          </a:xfrm>
          <a:prstGeom prst="rect">
            <a:avLst/>
          </a:prstGeom>
          <a:noFill/>
          <a:ln/>
        </p:spPr>
        <p:txBody>
          <a:bodyPr wrap="square" lIns="0" tIns="0" rIns="0" bIns="0" rtlCol="0" anchor="ctr"/>
          <a:lstStyle/>
          <a:p>
            <a:pPr indent="0" marL="0">
              <a:buNone/>
            </a:pPr>
            <a:r>
              <a:rPr lang="en-US" sz="1400" b="1" dirty="0">
                <a:solidFill>
                  <a:srgbClr val="4B6673"/>
                </a:solidFill>
                <a:latin typeface="Segoe UI" pitchFamily="34" charset="0"/>
                <a:ea typeface="Segoe UI" pitchFamily="34" charset="-122"/>
                <a:cs typeface="Segoe UI" pitchFamily="34" charset="-120"/>
              </a:rPr>
              <a:t>TLS</a:t>
            </a:r>
            <a:endParaRPr lang="en-US" sz="1400" dirty="0"/>
          </a:p>
        </p:txBody>
      </p:sp>
      <p:sp>
        <p:nvSpPr>
          <p:cNvPr id="19" name="Text 16"/>
          <p:cNvSpPr/>
          <p:nvPr/>
        </p:nvSpPr>
        <p:spPr>
          <a:xfrm>
            <a:off x="457200" y="3858768"/>
            <a:ext cx="5349240"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Acceso restringido</a:t>
            </a:r>
            <a:endParaRPr lang="en-US" sz="2000" dirty="0"/>
          </a:p>
        </p:txBody>
      </p:sp>
      <p:sp>
        <p:nvSpPr>
          <p:cNvPr id="20" name="Text 17"/>
          <p:cNvSpPr/>
          <p:nvPr/>
        </p:nvSpPr>
        <p:spPr>
          <a:xfrm>
            <a:off x="457200" y="4251960"/>
            <a:ext cx="5349240" cy="120700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Solo el backend opera con credenciales protegidas y permisos mínimos. Las migraciones utilizan una cuenta separada.</a:t>
            </a:r>
            <a:endParaRPr lang="en-US" sz="1800" dirty="0"/>
          </a:p>
        </p:txBody>
      </p:sp>
      <p:sp>
        <p:nvSpPr>
          <p:cNvPr id="21" name="Text 18"/>
          <p:cNvSpPr/>
          <p:nvPr/>
        </p:nvSpPr>
        <p:spPr>
          <a:xfrm>
            <a:off x="6355080" y="3858768"/>
            <a:ext cx="5376672" cy="347472"/>
          </a:xfrm>
          <a:prstGeom prst="rect">
            <a:avLst/>
          </a:prstGeom>
          <a:noFill/>
          <a:ln/>
        </p:spPr>
        <p:txBody>
          <a:bodyPr wrap="square" lIns="0" tIns="0" rIns="0" bIns="0" rtlCol="0" anchor="ctr"/>
          <a:lstStyle/>
          <a:p>
            <a:pPr indent="0" marL="0">
              <a:buNone/>
            </a:pPr>
            <a:r>
              <a:rPr lang="en-US" sz="2000" b="1" dirty="0">
                <a:solidFill>
                  <a:srgbClr val="123D4B"/>
                </a:solidFill>
                <a:latin typeface="Segoe UI" pitchFamily="34" charset="0"/>
                <a:ea typeface="Segoe UI" pitchFamily="34" charset="-122"/>
                <a:cs typeface="Segoe UI" pitchFamily="34" charset="-120"/>
              </a:rPr>
              <a:t>Continuidad de datos</a:t>
            </a:r>
            <a:endParaRPr lang="en-US" sz="2000" dirty="0"/>
          </a:p>
        </p:txBody>
      </p:sp>
      <p:sp>
        <p:nvSpPr>
          <p:cNvPr id="22" name="Text 19"/>
          <p:cNvSpPr/>
          <p:nvPr/>
        </p:nvSpPr>
        <p:spPr>
          <a:xfrm>
            <a:off x="6355080" y="4251960"/>
            <a:ext cx="5376672" cy="1207008"/>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Se proponen respaldos diarios y pruebas</a:t>
            </a:r>
            <a:endParaRPr lang="en-US" sz="1800" dirty="0"/>
          </a:p>
          <a:p>
            <a:pPr indent="0" marL="0">
              <a:buNone/>
            </a:pPr>
            <a:r>
              <a:rPr lang="en-US" sz="1800" dirty="0">
                <a:solidFill>
                  <a:srgbClr val="183B4A"/>
                </a:solidFill>
                <a:latin typeface="Segoe UI" pitchFamily="34" charset="0"/>
                <a:ea typeface="Segoe UI" pitchFamily="34" charset="-122"/>
                <a:cs typeface="Segoe UI" pitchFamily="34" charset="-120"/>
              </a:rPr>
              <a:t>de restauración mensuales (retención: 30 días).</a:t>
            </a:r>
            <a:endParaRPr lang="en-US" sz="1800" dirty="0"/>
          </a:p>
          <a:p>
            <a:pPr indent="0" marL="0">
              <a:buNone/>
            </a:pPr>
            <a:r>
              <a:rPr lang="en-US" sz="1800" dirty="0">
                <a:solidFill>
                  <a:srgbClr val="183B4A"/>
                </a:solidFill>
                <a:latin typeface="Segoe UI" pitchFamily="34" charset="0"/>
                <a:ea typeface="Segoe UI" pitchFamily="34" charset="-122"/>
                <a:cs typeface="Segoe UI" pitchFamily="34" charset="-120"/>
              </a:rPr>
              <a:t>Objetivos: perder como máximo 24 h de datos</a:t>
            </a:r>
            <a:endParaRPr lang="en-US" sz="1800" dirty="0"/>
          </a:p>
          <a:p>
            <a:pPr indent="0" marL="0">
              <a:buNone/>
            </a:pPr>
            <a:r>
              <a:rPr lang="en-US" sz="1800" dirty="0">
                <a:solidFill>
                  <a:srgbClr val="183B4A"/>
                </a:solidFill>
                <a:latin typeface="Segoe UI" pitchFamily="34" charset="0"/>
                <a:ea typeface="Segoe UI" pitchFamily="34" charset="-122"/>
                <a:cs typeface="Segoe UI" pitchFamily="34" charset="-120"/>
              </a:rPr>
              <a:t>y recuperar el servicio en 8 h.</a:t>
            </a:r>
            <a:endParaRPr lang="en-US" sz="1800" dirty="0"/>
          </a:p>
        </p:txBody>
      </p:sp>
      <p:sp>
        <p:nvSpPr>
          <p:cNvPr id="23" name="Text 20"/>
          <p:cNvSpPr/>
          <p:nvPr/>
        </p:nvSpPr>
        <p:spPr>
          <a:xfrm>
            <a:off x="438912" y="6245352"/>
            <a:ext cx="11292840" cy="365760"/>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Prisma es un ORM, no un servidor de base de datos. Los objetivos de recuperación requieren validación operativa.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Comunicación a través del navegador</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13</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Ejemplo: registrar una solicitud comunitaria</a:t>
            </a:r>
            <a:endParaRPr lang="en-US" sz="1800" dirty="0"/>
          </a:p>
        </p:txBody>
      </p:sp>
      <p:sp>
        <p:nvSpPr>
          <p:cNvPr id="6" name="Shape 3"/>
          <p:cNvSpPr/>
          <p:nvPr/>
        </p:nvSpPr>
        <p:spPr>
          <a:xfrm>
            <a:off x="457200" y="1719072"/>
            <a:ext cx="1874520" cy="841248"/>
          </a:xfrm>
          <a:prstGeom prst="rect">
            <a:avLst/>
          </a:prstGeom>
          <a:solidFill>
            <a:srgbClr val="E4F5FA"/>
          </a:solidFill>
          <a:ln w="10160">
            <a:solidFill>
              <a:srgbClr val="D6E3E9"/>
            </a:solidFill>
            <a:prstDash val="solid"/>
          </a:ln>
        </p:spPr>
      </p:sp>
      <p:sp>
        <p:nvSpPr>
          <p:cNvPr id="7" name="Text 4"/>
          <p:cNvSpPr/>
          <p:nvPr/>
        </p:nvSpPr>
        <p:spPr>
          <a:xfrm>
            <a:off x="548640" y="1828800"/>
            <a:ext cx="1691640" cy="32004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Usuario</a:t>
            </a:r>
            <a:endParaRPr lang="en-US" sz="1900" dirty="0"/>
          </a:p>
        </p:txBody>
      </p:sp>
      <p:sp>
        <p:nvSpPr>
          <p:cNvPr id="8" name="Text 5"/>
          <p:cNvSpPr/>
          <p:nvPr/>
        </p:nvSpPr>
        <p:spPr>
          <a:xfrm>
            <a:off x="548640" y="2258568"/>
            <a:ext cx="1691640" cy="237744"/>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Comuna</a:t>
            </a:r>
            <a:endParaRPr lang="en-US" sz="1400" dirty="0"/>
          </a:p>
        </p:txBody>
      </p:sp>
      <p:sp>
        <p:nvSpPr>
          <p:cNvPr id="9" name="Shape 6"/>
          <p:cNvSpPr/>
          <p:nvPr/>
        </p:nvSpPr>
        <p:spPr>
          <a:xfrm>
            <a:off x="1389888" y="2596896"/>
            <a:ext cx="0" cy="2496312"/>
          </a:xfrm>
          <a:prstGeom prst="line">
            <a:avLst/>
          </a:prstGeom>
          <a:noFill/>
          <a:ln w="12700">
            <a:solidFill>
              <a:srgbClr val="D6E3E9"/>
            </a:solidFill>
            <a:prstDash val="dash"/>
            <a:headEnd type="none"/>
            <a:tailEnd type="none"/>
          </a:ln>
        </p:spPr>
      </p:sp>
      <p:sp>
        <p:nvSpPr>
          <p:cNvPr id="10" name="Shape 7"/>
          <p:cNvSpPr/>
          <p:nvPr/>
        </p:nvSpPr>
        <p:spPr>
          <a:xfrm>
            <a:off x="2807208" y="1719072"/>
            <a:ext cx="1874520" cy="841248"/>
          </a:xfrm>
          <a:prstGeom prst="rect">
            <a:avLst/>
          </a:prstGeom>
          <a:solidFill>
            <a:srgbClr val="E4F5FA"/>
          </a:solidFill>
          <a:ln w="10160">
            <a:solidFill>
              <a:srgbClr val="D6E3E9"/>
            </a:solidFill>
            <a:prstDash val="solid"/>
          </a:ln>
        </p:spPr>
      </p:sp>
      <p:sp>
        <p:nvSpPr>
          <p:cNvPr id="11" name="Text 8"/>
          <p:cNvSpPr/>
          <p:nvPr/>
        </p:nvSpPr>
        <p:spPr>
          <a:xfrm>
            <a:off x="2898648" y="1828800"/>
            <a:ext cx="1691640" cy="32004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Navegador</a:t>
            </a:r>
            <a:endParaRPr lang="en-US" sz="1900" dirty="0"/>
          </a:p>
        </p:txBody>
      </p:sp>
      <p:sp>
        <p:nvSpPr>
          <p:cNvPr id="12" name="Text 9"/>
          <p:cNvSpPr/>
          <p:nvPr/>
        </p:nvSpPr>
        <p:spPr>
          <a:xfrm>
            <a:off x="2898648" y="2258568"/>
            <a:ext cx="1691640" cy="237744"/>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Formulario</a:t>
            </a:r>
            <a:endParaRPr lang="en-US" sz="1400" dirty="0"/>
          </a:p>
        </p:txBody>
      </p:sp>
      <p:sp>
        <p:nvSpPr>
          <p:cNvPr id="13" name="Shape 10"/>
          <p:cNvSpPr/>
          <p:nvPr/>
        </p:nvSpPr>
        <p:spPr>
          <a:xfrm>
            <a:off x="3739896" y="2596896"/>
            <a:ext cx="0" cy="2496312"/>
          </a:xfrm>
          <a:prstGeom prst="line">
            <a:avLst/>
          </a:prstGeom>
          <a:noFill/>
          <a:ln w="12700">
            <a:solidFill>
              <a:srgbClr val="D6E3E9"/>
            </a:solidFill>
            <a:prstDash val="dash"/>
            <a:headEnd type="none"/>
            <a:tailEnd type="none"/>
          </a:ln>
        </p:spPr>
      </p:sp>
      <p:sp>
        <p:nvSpPr>
          <p:cNvPr id="14" name="Shape 11"/>
          <p:cNvSpPr/>
          <p:nvPr/>
        </p:nvSpPr>
        <p:spPr>
          <a:xfrm>
            <a:off x="5157216" y="1719072"/>
            <a:ext cx="1874520" cy="841248"/>
          </a:xfrm>
          <a:prstGeom prst="rect">
            <a:avLst/>
          </a:prstGeom>
          <a:solidFill>
            <a:srgbClr val="E4F5FA"/>
          </a:solidFill>
          <a:ln w="10160">
            <a:solidFill>
              <a:srgbClr val="D6E3E9"/>
            </a:solidFill>
            <a:prstDash val="solid"/>
          </a:ln>
        </p:spPr>
      </p:sp>
      <p:sp>
        <p:nvSpPr>
          <p:cNvPr id="15" name="Text 12"/>
          <p:cNvSpPr/>
          <p:nvPr/>
        </p:nvSpPr>
        <p:spPr>
          <a:xfrm>
            <a:off x="5248656" y="1828800"/>
            <a:ext cx="1691640" cy="32004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Frontend</a:t>
            </a:r>
            <a:endParaRPr lang="en-US" sz="1900" dirty="0"/>
          </a:p>
        </p:txBody>
      </p:sp>
      <p:sp>
        <p:nvSpPr>
          <p:cNvPr id="16" name="Text 13"/>
          <p:cNvSpPr/>
          <p:nvPr/>
        </p:nvSpPr>
        <p:spPr>
          <a:xfrm>
            <a:off x="5248656" y="2258568"/>
            <a:ext cx="1691640" cy="237744"/>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Next.js / proxy</a:t>
            </a:r>
            <a:endParaRPr lang="en-US" sz="1400" dirty="0"/>
          </a:p>
        </p:txBody>
      </p:sp>
      <p:sp>
        <p:nvSpPr>
          <p:cNvPr id="17" name="Shape 14"/>
          <p:cNvSpPr/>
          <p:nvPr/>
        </p:nvSpPr>
        <p:spPr>
          <a:xfrm>
            <a:off x="6089904" y="2596896"/>
            <a:ext cx="0" cy="2496312"/>
          </a:xfrm>
          <a:prstGeom prst="line">
            <a:avLst/>
          </a:prstGeom>
          <a:noFill/>
          <a:ln w="12700">
            <a:solidFill>
              <a:srgbClr val="D6E3E9"/>
            </a:solidFill>
            <a:prstDash val="dash"/>
            <a:headEnd type="none"/>
            <a:tailEnd type="none"/>
          </a:ln>
        </p:spPr>
      </p:sp>
      <p:sp>
        <p:nvSpPr>
          <p:cNvPr id="18" name="Shape 15"/>
          <p:cNvSpPr/>
          <p:nvPr/>
        </p:nvSpPr>
        <p:spPr>
          <a:xfrm>
            <a:off x="7507224" y="1719072"/>
            <a:ext cx="1874520" cy="841248"/>
          </a:xfrm>
          <a:prstGeom prst="rect">
            <a:avLst/>
          </a:prstGeom>
          <a:solidFill>
            <a:srgbClr val="E4F5FA"/>
          </a:solidFill>
          <a:ln w="10160">
            <a:solidFill>
              <a:srgbClr val="D6E3E9"/>
            </a:solidFill>
            <a:prstDash val="solid"/>
          </a:ln>
        </p:spPr>
      </p:sp>
      <p:sp>
        <p:nvSpPr>
          <p:cNvPr id="19" name="Text 16"/>
          <p:cNvSpPr/>
          <p:nvPr/>
        </p:nvSpPr>
        <p:spPr>
          <a:xfrm>
            <a:off x="7598664" y="1828800"/>
            <a:ext cx="1691640" cy="32004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API</a:t>
            </a:r>
            <a:endParaRPr lang="en-US" sz="1900" dirty="0"/>
          </a:p>
        </p:txBody>
      </p:sp>
      <p:sp>
        <p:nvSpPr>
          <p:cNvPr id="20" name="Text 17"/>
          <p:cNvSpPr/>
          <p:nvPr/>
        </p:nvSpPr>
        <p:spPr>
          <a:xfrm>
            <a:off x="7598664" y="2258568"/>
            <a:ext cx="1691640" cy="237744"/>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NestJS</a:t>
            </a:r>
            <a:endParaRPr lang="en-US" sz="1400" dirty="0"/>
          </a:p>
        </p:txBody>
      </p:sp>
      <p:sp>
        <p:nvSpPr>
          <p:cNvPr id="21" name="Shape 18"/>
          <p:cNvSpPr/>
          <p:nvPr/>
        </p:nvSpPr>
        <p:spPr>
          <a:xfrm>
            <a:off x="8439912" y="2596896"/>
            <a:ext cx="0" cy="2496312"/>
          </a:xfrm>
          <a:prstGeom prst="line">
            <a:avLst/>
          </a:prstGeom>
          <a:noFill/>
          <a:ln w="12700">
            <a:solidFill>
              <a:srgbClr val="D6E3E9"/>
            </a:solidFill>
            <a:prstDash val="dash"/>
            <a:headEnd type="none"/>
            <a:tailEnd type="none"/>
          </a:ln>
        </p:spPr>
      </p:sp>
      <p:sp>
        <p:nvSpPr>
          <p:cNvPr id="22" name="Shape 19"/>
          <p:cNvSpPr/>
          <p:nvPr/>
        </p:nvSpPr>
        <p:spPr>
          <a:xfrm>
            <a:off x="9857232" y="1719072"/>
            <a:ext cx="1874520" cy="841248"/>
          </a:xfrm>
          <a:prstGeom prst="rect">
            <a:avLst/>
          </a:prstGeom>
          <a:solidFill>
            <a:srgbClr val="E4F5FA"/>
          </a:solidFill>
          <a:ln w="10160">
            <a:solidFill>
              <a:srgbClr val="D6E3E9"/>
            </a:solidFill>
            <a:prstDash val="solid"/>
          </a:ln>
        </p:spPr>
      </p:sp>
      <p:sp>
        <p:nvSpPr>
          <p:cNvPr id="23" name="Text 20"/>
          <p:cNvSpPr/>
          <p:nvPr/>
        </p:nvSpPr>
        <p:spPr>
          <a:xfrm>
            <a:off x="9948672" y="1828800"/>
            <a:ext cx="1691640" cy="320040"/>
          </a:xfrm>
          <a:prstGeom prst="rect">
            <a:avLst/>
          </a:prstGeom>
          <a:noFill/>
          <a:ln/>
        </p:spPr>
        <p:txBody>
          <a:bodyPr wrap="square" lIns="0" tIns="0" rIns="0" bIns="0" rtlCol="0" anchor="ctr"/>
          <a:lstStyle/>
          <a:p>
            <a:pPr indent="0" marL="0">
              <a:buNone/>
            </a:pPr>
            <a:r>
              <a:rPr lang="en-US" sz="1900" b="1" dirty="0">
                <a:solidFill>
                  <a:srgbClr val="123D4B"/>
                </a:solidFill>
                <a:latin typeface="Segoe UI" pitchFamily="34" charset="0"/>
                <a:ea typeface="Segoe UI" pitchFamily="34" charset="-122"/>
                <a:cs typeface="Segoe UI" pitchFamily="34" charset="-120"/>
              </a:rPr>
              <a:t>Base de datos</a:t>
            </a:r>
            <a:endParaRPr lang="en-US" sz="1900" dirty="0"/>
          </a:p>
        </p:txBody>
      </p:sp>
      <p:sp>
        <p:nvSpPr>
          <p:cNvPr id="24" name="Text 21"/>
          <p:cNvSpPr/>
          <p:nvPr/>
        </p:nvSpPr>
        <p:spPr>
          <a:xfrm>
            <a:off x="9948672" y="2258568"/>
            <a:ext cx="1691640" cy="237744"/>
          </a:xfrm>
          <a:prstGeom prst="rect">
            <a:avLst/>
          </a:prstGeom>
          <a:noFill/>
          <a:ln/>
        </p:spPr>
        <p:txBody>
          <a:bodyPr wrap="square" lIns="0" tIns="0" rIns="0" bIns="0" rtlCol="0" anchor="ctr"/>
          <a:lstStyle/>
          <a:p>
            <a:pPr indent="0" marL="0">
              <a:buNone/>
            </a:pPr>
            <a:r>
              <a:rPr lang="en-US" sz="1400" dirty="0">
                <a:solidFill>
                  <a:srgbClr val="183B4A"/>
                </a:solidFill>
                <a:latin typeface="Segoe UI" pitchFamily="34" charset="0"/>
                <a:ea typeface="Segoe UI" pitchFamily="34" charset="-122"/>
                <a:cs typeface="Segoe UI" pitchFamily="34" charset="-120"/>
              </a:rPr>
              <a:t>PostgreSQL</a:t>
            </a:r>
            <a:endParaRPr lang="en-US" sz="1400" dirty="0"/>
          </a:p>
        </p:txBody>
      </p:sp>
      <p:sp>
        <p:nvSpPr>
          <p:cNvPr id="25" name="Shape 22"/>
          <p:cNvSpPr/>
          <p:nvPr/>
        </p:nvSpPr>
        <p:spPr>
          <a:xfrm>
            <a:off x="10789920" y="2596896"/>
            <a:ext cx="0" cy="2496312"/>
          </a:xfrm>
          <a:prstGeom prst="line">
            <a:avLst/>
          </a:prstGeom>
          <a:noFill/>
          <a:ln w="12700">
            <a:solidFill>
              <a:srgbClr val="D6E3E9"/>
            </a:solidFill>
            <a:prstDash val="dash"/>
            <a:headEnd type="none"/>
            <a:tailEnd type="none"/>
          </a:ln>
        </p:spPr>
      </p:sp>
      <p:sp>
        <p:nvSpPr>
          <p:cNvPr id="26" name="Shape 23"/>
          <p:cNvSpPr/>
          <p:nvPr/>
        </p:nvSpPr>
        <p:spPr>
          <a:xfrm>
            <a:off x="1389888" y="2916936"/>
            <a:ext cx="2350008" cy="0"/>
          </a:xfrm>
          <a:prstGeom prst="line">
            <a:avLst/>
          </a:prstGeom>
          <a:noFill/>
          <a:ln w="19050">
            <a:solidFill>
              <a:srgbClr val="007F99"/>
            </a:solidFill>
            <a:prstDash val="solid"/>
            <a:headEnd type="none"/>
            <a:tailEnd type="triangle"/>
          </a:ln>
        </p:spPr>
      </p:sp>
      <p:sp>
        <p:nvSpPr>
          <p:cNvPr id="27" name="Text 24"/>
          <p:cNvSpPr/>
          <p:nvPr/>
        </p:nvSpPr>
        <p:spPr>
          <a:xfrm>
            <a:off x="1463040" y="2633472"/>
            <a:ext cx="2176272" cy="246888"/>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Confirma datos</a:t>
            </a:r>
            <a:endParaRPr lang="en-US" sz="1400" dirty="0"/>
          </a:p>
        </p:txBody>
      </p:sp>
      <p:sp>
        <p:nvSpPr>
          <p:cNvPr id="28" name="Shape 25"/>
          <p:cNvSpPr/>
          <p:nvPr/>
        </p:nvSpPr>
        <p:spPr>
          <a:xfrm>
            <a:off x="3739896" y="3310128"/>
            <a:ext cx="2350008" cy="0"/>
          </a:xfrm>
          <a:prstGeom prst="line">
            <a:avLst/>
          </a:prstGeom>
          <a:noFill/>
          <a:ln w="19050">
            <a:solidFill>
              <a:srgbClr val="007F99"/>
            </a:solidFill>
            <a:prstDash val="solid"/>
            <a:headEnd type="none"/>
            <a:tailEnd type="triangle"/>
          </a:ln>
        </p:spPr>
      </p:sp>
      <p:sp>
        <p:nvSpPr>
          <p:cNvPr id="29" name="Text 26"/>
          <p:cNvSpPr/>
          <p:nvPr/>
        </p:nvSpPr>
        <p:spPr>
          <a:xfrm>
            <a:off x="3813048" y="3026664"/>
            <a:ext cx="2176272" cy="246888"/>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HTTPS al mismo origen</a:t>
            </a:r>
            <a:endParaRPr lang="en-US" sz="1400" dirty="0"/>
          </a:p>
        </p:txBody>
      </p:sp>
      <p:sp>
        <p:nvSpPr>
          <p:cNvPr id="30" name="Shape 27"/>
          <p:cNvSpPr/>
          <p:nvPr/>
        </p:nvSpPr>
        <p:spPr>
          <a:xfrm>
            <a:off x="6089904" y="3703320"/>
            <a:ext cx="2350008" cy="0"/>
          </a:xfrm>
          <a:prstGeom prst="line">
            <a:avLst/>
          </a:prstGeom>
          <a:noFill/>
          <a:ln w="19050">
            <a:solidFill>
              <a:srgbClr val="007F99"/>
            </a:solidFill>
            <a:prstDash val="solid"/>
            <a:headEnd type="none"/>
            <a:tailEnd type="triangle"/>
          </a:ln>
        </p:spPr>
      </p:sp>
      <p:sp>
        <p:nvSpPr>
          <p:cNvPr id="31" name="Text 28"/>
          <p:cNvSpPr/>
          <p:nvPr/>
        </p:nvSpPr>
        <p:spPr>
          <a:xfrm>
            <a:off x="6163056" y="3419856"/>
            <a:ext cx="2176272" cy="246888"/>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HTTPS · REST / JSON</a:t>
            </a:r>
            <a:endParaRPr lang="en-US" sz="1400" dirty="0"/>
          </a:p>
        </p:txBody>
      </p:sp>
      <p:sp>
        <p:nvSpPr>
          <p:cNvPr id="32" name="Shape 29"/>
          <p:cNvSpPr/>
          <p:nvPr/>
        </p:nvSpPr>
        <p:spPr>
          <a:xfrm>
            <a:off x="8439912" y="4096512"/>
            <a:ext cx="2350008" cy="0"/>
          </a:xfrm>
          <a:prstGeom prst="line">
            <a:avLst/>
          </a:prstGeom>
          <a:noFill/>
          <a:ln w="19050">
            <a:solidFill>
              <a:srgbClr val="007F99"/>
            </a:solidFill>
            <a:prstDash val="solid"/>
            <a:headEnd type="none"/>
            <a:tailEnd type="triangle"/>
          </a:ln>
        </p:spPr>
      </p:sp>
      <p:sp>
        <p:nvSpPr>
          <p:cNvPr id="33" name="Text 30"/>
          <p:cNvSpPr/>
          <p:nvPr/>
        </p:nvSpPr>
        <p:spPr>
          <a:xfrm>
            <a:off x="8513064" y="3813048"/>
            <a:ext cx="2176272" cy="246888"/>
          </a:xfrm>
          <a:prstGeom prst="rect">
            <a:avLst/>
          </a:prstGeom>
          <a:noFill/>
          <a:ln/>
        </p:spPr>
        <p:txBody>
          <a:bodyPr wrap="square" lIns="0" tIns="0" rIns="0" bIns="0" rtlCol="0" anchor="ctr"/>
          <a:lstStyle/>
          <a:p>
            <a:pPr indent="0" marL="0">
              <a:buNone/>
            </a:pPr>
            <a:r>
              <a:rPr lang="en-US" sz="1400" dirty="0">
                <a:solidFill>
                  <a:srgbClr val="4B6673"/>
                </a:solidFill>
                <a:latin typeface="Segoe UI" pitchFamily="34" charset="0"/>
                <a:ea typeface="Segoe UI" pitchFamily="34" charset="-122"/>
                <a:cs typeface="Segoe UI" pitchFamily="34" charset="-120"/>
              </a:rPr>
              <a:t>Transacción validada</a:t>
            </a:r>
            <a:endParaRPr lang="en-US" sz="1400" dirty="0"/>
          </a:p>
        </p:txBody>
      </p:sp>
      <p:sp>
        <p:nvSpPr>
          <p:cNvPr id="34" name="Shape 31"/>
          <p:cNvSpPr/>
          <p:nvPr/>
        </p:nvSpPr>
        <p:spPr>
          <a:xfrm flipH="1">
            <a:off x="1389888" y="4681728"/>
            <a:ext cx="9400032" cy="0"/>
          </a:xfrm>
          <a:prstGeom prst="line">
            <a:avLst/>
          </a:prstGeom>
          <a:noFill/>
          <a:ln w="19050">
            <a:solidFill>
              <a:srgbClr val="007F99"/>
            </a:solidFill>
            <a:prstDash val="dash"/>
            <a:headEnd type="none"/>
            <a:tailEnd type="triangle"/>
          </a:ln>
        </p:spPr>
      </p:sp>
      <p:sp>
        <p:nvSpPr>
          <p:cNvPr id="35" name="Text 32"/>
          <p:cNvSpPr/>
          <p:nvPr/>
        </p:nvSpPr>
        <p:spPr>
          <a:xfrm>
            <a:off x="2167128" y="4846320"/>
            <a:ext cx="7772400" cy="411480"/>
          </a:xfrm>
          <a:prstGeom prst="rect">
            <a:avLst/>
          </a:prstGeom>
          <a:noFill/>
          <a:ln/>
        </p:spPr>
        <p:txBody>
          <a:bodyPr wrap="square" lIns="0" tIns="0" rIns="0" bIns="0" rtlCol="0" anchor="ctr"/>
          <a:lstStyle/>
          <a:p>
            <a:pPr algn="ctr" indent="0" marL="0">
              <a:buNone/>
            </a:pPr>
            <a:r>
              <a:rPr lang="en-US" sz="1700" b="1" dirty="0">
                <a:solidFill>
                  <a:srgbClr val="007F99"/>
                </a:solidFill>
                <a:latin typeface="Segoe UI" pitchFamily="34" charset="0"/>
                <a:ea typeface="Segoe UI" pitchFamily="34" charset="-122"/>
                <a:cs typeface="Segoe UI" pitchFamily="34" charset="-120"/>
              </a:rPr>
              <a:t>Respuesta: identificador y estado confirmado, o errores específicos</a:t>
            </a:r>
            <a:endParaRPr lang="en-US" sz="1700" dirty="0"/>
          </a:p>
        </p:txBody>
      </p:sp>
      <p:sp>
        <p:nvSpPr>
          <p:cNvPr id="36" name="Text 33"/>
          <p:cNvSpPr/>
          <p:nvPr/>
        </p:nvSpPr>
        <p:spPr>
          <a:xfrm>
            <a:off x="457200" y="5577840"/>
            <a:ext cx="11201400" cy="86868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La sesión identifica al usuario; la API autoriza su rol y comunidad, valida productos y cantidades, y persiste la solicitud antes de informar éxito. Los contratos REST definen peticiones y respuestas JSON. Los reintentos críticos usan claves idempotentes.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Diseño general de interfaz</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14</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La experiencia mantiene un marco común y cambia con la responsabilidad del rol</a:t>
            </a:r>
            <a:endParaRPr lang="en-US" sz="1800" dirty="0"/>
          </a:p>
        </p:txBody>
      </p:sp>
      <p:pic>
        <p:nvPicPr>
          <p:cNvPr id="6" name="Image 0" descr="C:\Users\ederev\AppData\Local\Temp\alivia-ppt-assets-iXBMk1\sidebar.png">    </p:cNvPr>
          <p:cNvPicPr>
            <a:picLocks noChangeAspect="1"/>
          </p:cNvPicPr>
          <p:nvPr/>
        </p:nvPicPr>
        <p:blipFill>
          <a:blip r:embed="rId1"/>
          <a:stretch>
            <a:fillRect/>
          </a:stretch>
        </p:blipFill>
        <p:spPr>
          <a:xfrm>
            <a:off x="457200" y="1673352"/>
            <a:ext cx="1920240" cy="2560320"/>
          </a:xfrm>
          <a:prstGeom prst="rect">
            <a:avLst/>
          </a:prstGeom>
        </p:spPr>
      </p:pic>
      <p:pic>
        <p:nvPicPr>
          <p:cNvPr id="7" name="Image 1" descr="C:\Users\ederev\AppData\Local\Temp\alivia-ppt-assets-iXBMk1\topbar.png">    </p:cNvPr>
          <p:cNvPicPr>
            <a:picLocks noChangeAspect="1"/>
          </p:cNvPicPr>
          <p:nvPr/>
        </p:nvPicPr>
        <p:blipFill>
          <a:blip r:embed="rId2"/>
          <a:stretch>
            <a:fillRect/>
          </a:stretch>
        </p:blipFill>
        <p:spPr>
          <a:xfrm>
            <a:off x="2743200" y="1673352"/>
            <a:ext cx="8988552" cy="449428"/>
          </a:xfrm>
          <a:prstGeom prst="rect">
            <a:avLst/>
          </a:prstGeom>
        </p:spPr>
      </p:pic>
      <p:pic>
        <p:nvPicPr>
          <p:cNvPr id="8" name="Image 2" descr="C:\Users\ederev\AppData\Local\Temp\alivia-ppt-assets-iXBMk1\form.png">    </p:cNvPr>
          <p:cNvPicPr>
            <a:picLocks noChangeAspect="1"/>
          </p:cNvPicPr>
          <p:nvPr/>
        </p:nvPicPr>
        <p:blipFill>
          <a:blip r:embed="rId3"/>
          <a:stretch>
            <a:fillRect/>
          </a:stretch>
        </p:blipFill>
        <p:spPr>
          <a:xfrm>
            <a:off x="2743200" y="2551176"/>
            <a:ext cx="5413248" cy="2120494"/>
          </a:xfrm>
          <a:prstGeom prst="rect">
            <a:avLst/>
          </a:prstGeom>
        </p:spPr>
      </p:pic>
      <p:pic>
        <p:nvPicPr>
          <p:cNvPr id="9" name="Image 3" descr="C:\Users\ederev\AppData\Local\Temp\alivia-ppt-assets-iXBMk1\mapcontrols.png">    </p:cNvPr>
          <p:cNvPicPr>
            <a:picLocks noChangeAspect="1"/>
          </p:cNvPicPr>
          <p:nvPr/>
        </p:nvPicPr>
        <p:blipFill>
          <a:blip r:embed="rId4"/>
          <a:stretch>
            <a:fillRect/>
          </a:stretch>
        </p:blipFill>
        <p:spPr>
          <a:xfrm>
            <a:off x="8467344" y="2551176"/>
            <a:ext cx="3264408" cy="446227"/>
          </a:xfrm>
          <a:prstGeom prst="rect">
            <a:avLst/>
          </a:prstGeom>
        </p:spPr>
      </p:pic>
      <p:sp>
        <p:nvSpPr>
          <p:cNvPr id="10" name="Text 3"/>
          <p:cNvSpPr/>
          <p:nvPr/>
        </p:nvSpPr>
        <p:spPr>
          <a:xfrm>
            <a:off x="457200" y="4462272"/>
            <a:ext cx="1920240" cy="320040"/>
          </a:xfrm>
          <a:prstGeom prst="rect">
            <a:avLst/>
          </a:prstGeom>
          <a:noFill/>
          <a:ln/>
        </p:spPr>
        <p:txBody>
          <a:bodyPr wrap="square" lIns="0" tIns="0" rIns="0" bIns="0" rtlCol="0" anchor="ctr"/>
          <a:lstStyle/>
          <a:p>
            <a:pPr indent="0" marL="0">
              <a:buNone/>
            </a:pPr>
            <a:r>
              <a:rPr lang="en-US" sz="1700" b="1" dirty="0">
                <a:solidFill>
                  <a:srgbClr val="123D4B"/>
                </a:solidFill>
                <a:latin typeface="Segoe UI" pitchFamily="34" charset="0"/>
                <a:ea typeface="Segoe UI" pitchFamily="34" charset="-122"/>
                <a:cs typeface="Segoe UI" pitchFamily="34" charset="-120"/>
              </a:rPr>
              <a:t>Sidebar por rol</a:t>
            </a:r>
            <a:endParaRPr lang="en-US" sz="1700" dirty="0"/>
          </a:p>
        </p:txBody>
      </p:sp>
      <p:sp>
        <p:nvSpPr>
          <p:cNvPr id="11" name="Text 4"/>
          <p:cNvSpPr/>
          <p:nvPr/>
        </p:nvSpPr>
        <p:spPr>
          <a:xfrm>
            <a:off x="8467344" y="3364992"/>
            <a:ext cx="3264408" cy="1417320"/>
          </a:xfrm>
          <a:prstGeom prst="rect">
            <a:avLst/>
          </a:prstGeom>
          <a:noFill/>
          <a:ln/>
        </p:spPr>
        <p:txBody>
          <a:bodyPr wrap="square" lIns="0" tIns="0" rIns="0" bIns="0" rtlCol="0" anchor="ctr"/>
          <a:lstStyle/>
          <a:p>
            <a:pPr indent="0" marL="0">
              <a:buNone/>
            </a:pPr>
            <a:r>
              <a:rPr lang="en-US" sz="1800" dirty="0">
                <a:solidFill>
                  <a:srgbClr val="183B4A"/>
                </a:solidFill>
                <a:latin typeface="Segoe UI" pitchFamily="34" charset="0"/>
                <a:ea typeface="Segoe UI" pitchFamily="34" charset="-122"/>
                <a:cs typeface="Segoe UI" pitchFamily="34" charset="-120"/>
              </a:rPr>
              <a:t>Tablas y estados separan cantidades y etapas. Las alertas conservan fuente, fecha y grado de verificación.</a:t>
            </a:r>
            <a:endParaRPr lang="en-US" sz="1800" dirty="0"/>
          </a:p>
        </p:txBody>
      </p:sp>
      <p:sp>
        <p:nvSpPr>
          <p:cNvPr id="12" name="Shape 5"/>
          <p:cNvSpPr/>
          <p:nvPr/>
        </p:nvSpPr>
        <p:spPr>
          <a:xfrm>
            <a:off x="457200" y="5074920"/>
            <a:ext cx="11274552" cy="0"/>
          </a:xfrm>
          <a:prstGeom prst="line">
            <a:avLst/>
          </a:prstGeom>
          <a:noFill/>
          <a:ln w="12700">
            <a:solidFill>
              <a:srgbClr val="D6E3E9"/>
            </a:solidFill>
            <a:prstDash val="solid"/>
            <a:headEnd type="none"/>
            <a:tailEnd type="none"/>
          </a:ln>
        </p:spPr>
      </p:sp>
      <p:sp>
        <p:nvSpPr>
          <p:cNvPr id="13" name="Text 6"/>
          <p:cNvSpPr/>
          <p:nvPr/>
        </p:nvSpPr>
        <p:spPr>
          <a:xfrm>
            <a:off x="457200" y="5385816"/>
            <a:ext cx="11201400" cy="1207008"/>
          </a:xfrm>
          <a:prstGeom prst="rect">
            <a:avLst/>
          </a:prstGeom>
          <a:noFill/>
          <a:ln/>
        </p:spPr>
        <p:txBody>
          <a:bodyPr wrap="square" lIns="0" tIns="0" rIns="0" bIns="0" rtlCol="0" anchor="ctr"/>
          <a:lstStyle/>
          <a:p>
            <a:pPr indent="0" marL="0">
              <a:buNone/>
            </a:pPr>
            <a:r>
              <a:rPr lang="en-US" sz="1900" dirty="0">
                <a:solidFill>
                  <a:srgbClr val="183B4A"/>
                </a:solidFill>
                <a:latin typeface="Segoe UI" pitchFamily="34" charset="0"/>
                <a:ea typeface="Segoe UI" pitchFamily="34" charset="-122"/>
                <a:cs typeface="Segoe UI" pitchFamily="34" charset="-120"/>
              </a:rPr>
              <a:t>Sidebar y topbar compartidos orientan al usuario. Formularios y controles reutilizables mantienen etiquetas, unidades y confirmaciones coherentes. Cyan identifica acciones y selección; los estados incluyen texto además de color. La cartografía ofrece filtros y detalle textual para consultar riesgo y atención por separado.</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Interfaz Comuna: registro de solicitudes</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15</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MK-02 · Primera etapa del flujo</a:t>
            </a:r>
            <a:endParaRPr lang="en-US" sz="1800" dirty="0"/>
          </a:p>
        </p:txBody>
      </p:sp>
      <p:pic>
        <p:nvPicPr>
          <p:cNvPr id="6" name="Image 0" descr="C:\Users\ederev\AppData\Local\Temp\alivia-ppt-assets-iXBMk1\mk15.png">    </p:cNvPr>
          <p:cNvPicPr>
            <a:picLocks noChangeAspect="1"/>
          </p:cNvPicPr>
          <p:nvPr/>
        </p:nvPicPr>
        <p:blipFill>
          <a:blip r:embed="rId1"/>
          <a:stretch>
            <a:fillRect/>
          </a:stretch>
        </p:blipFill>
        <p:spPr>
          <a:xfrm>
            <a:off x="420624" y="1298448"/>
            <a:ext cx="8257032" cy="5317028"/>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Comunidad vinculada</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La cuenta identifica Las Palmeras y registra la afectación de 180 personas.</a:t>
            </a:r>
            <a:endParaRPr lang="en-US" sz="1700" dirty="0"/>
          </a:p>
        </p:txBody>
      </p:sp>
      <p:sp>
        <p:nvSpPr>
          <p:cNvPr id="11" name="Shape 7"/>
          <p:cNvSpPr/>
          <p:nvPr/>
        </p:nvSpPr>
        <p:spPr>
          <a:xfrm>
            <a:off x="2860202" y="2643343"/>
            <a:ext cx="246888" cy="246888"/>
          </a:xfrm>
          <a:prstGeom prst="ellipse">
            <a:avLst/>
          </a:prstGeom>
          <a:solidFill>
            <a:srgbClr val="FFFFFF"/>
          </a:solidFill>
          <a:ln w="17780">
            <a:solidFill>
              <a:srgbClr val="007F99"/>
            </a:solidFill>
            <a:prstDash val="solid"/>
          </a:ln>
        </p:spPr>
      </p:sp>
      <p:sp>
        <p:nvSpPr>
          <p:cNvPr id="12" name="Text 8"/>
          <p:cNvSpPr/>
          <p:nvPr/>
        </p:nvSpPr>
        <p:spPr>
          <a:xfrm>
            <a:off x="2860202" y="2647915"/>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Productos y cantidades</a:t>
            </a:r>
            <a:endParaRPr lang="en-US" sz="1800" dirty="0"/>
          </a:p>
        </p:txBody>
      </p:sp>
      <p:sp>
        <p:nvSpPr>
          <p:cNvPr id="16" name="Text 12"/>
          <p:cNvSpPr/>
          <p:nvPr/>
        </p:nvSpPr>
        <p:spPr>
          <a:xfrm>
            <a:off x="9025128" y="3803904"/>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Se solicitan 120 bidones de agua de 20 L y 80 frazadas.</a:t>
            </a:r>
            <a:endParaRPr lang="en-US" sz="1700" dirty="0"/>
          </a:p>
        </p:txBody>
      </p:sp>
      <p:sp>
        <p:nvSpPr>
          <p:cNvPr id="17" name="Shape 13"/>
          <p:cNvSpPr/>
          <p:nvPr/>
        </p:nvSpPr>
        <p:spPr>
          <a:xfrm>
            <a:off x="2860202" y="4457388"/>
            <a:ext cx="246888" cy="246888"/>
          </a:xfrm>
          <a:prstGeom prst="ellipse">
            <a:avLst/>
          </a:prstGeom>
          <a:solidFill>
            <a:srgbClr val="FFFFFF"/>
          </a:solidFill>
          <a:ln w="17780">
            <a:solidFill>
              <a:srgbClr val="007F99"/>
            </a:solidFill>
            <a:prstDash val="solid"/>
          </a:ln>
        </p:spPr>
      </p:sp>
      <p:sp>
        <p:nvSpPr>
          <p:cNvPr id="18" name="Text 14"/>
          <p:cNvSpPr/>
          <p:nvPr/>
        </p:nvSpPr>
        <p:spPr>
          <a:xfrm>
            <a:off x="2860202" y="44619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Shape 15"/>
          <p:cNvSpPr/>
          <p:nvPr/>
        </p:nvSpPr>
        <p:spPr>
          <a:xfrm>
            <a:off x="9015984" y="4855464"/>
            <a:ext cx="246888" cy="246888"/>
          </a:xfrm>
          <a:prstGeom prst="ellipse">
            <a:avLst/>
          </a:prstGeom>
          <a:solidFill>
            <a:srgbClr val="FFFFFF"/>
          </a:solidFill>
          <a:ln w="17780">
            <a:solidFill>
              <a:srgbClr val="007F99"/>
            </a:solidFill>
            <a:prstDash val="solid"/>
          </a:ln>
        </p:spPr>
      </p:sp>
      <p:sp>
        <p:nvSpPr>
          <p:cNvPr id="20" name="Text 16"/>
          <p:cNvSpPr/>
          <p:nvPr/>
        </p:nvSpPr>
        <p:spPr>
          <a:xfrm>
            <a:off x="9015984" y="486003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
        <p:nvSpPr>
          <p:cNvPr id="21" name="Text 17"/>
          <p:cNvSpPr/>
          <p:nvPr/>
        </p:nvSpPr>
        <p:spPr>
          <a:xfrm>
            <a:off x="9372600" y="4841748"/>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Validar y confirmar</a:t>
            </a:r>
            <a:endParaRPr lang="en-US" sz="1800" dirty="0"/>
          </a:p>
        </p:txBody>
      </p:sp>
      <p:sp>
        <p:nvSpPr>
          <p:cNvPr id="22" name="Text 18"/>
          <p:cNvSpPr/>
          <p:nvPr/>
        </p:nvSpPr>
        <p:spPr>
          <a:xfrm>
            <a:off x="9025128" y="5440680"/>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Valida cantidades, unidades y duplicados antes de confirmar. La solicitud queda inmutable.</a:t>
            </a:r>
            <a:endParaRPr lang="en-US" sz="1700" dirty="0"/>
          </a:p>
        </p:txBody>
      </p:sp>
      <p:sp>
        <p:nvSpPr>
          <p:cNvPr id="23" name="Shape 19"/>
          <p:cNvSpPr/>
          <p:nvPr/>
        </p:nvSpPr>
        <p:spPr>
          <a:xfrm>
            <a:off x="5737652" y="4050792"/>
            <a:ext cx="246888" cy="246888"/>
          </a:xfrm>
          <a:prstGeom prst="ellipse">
            <a:avLst/>
          </a:prstGeom>
          <a:solidFill>
            <a:srgbClr val="FFFFFF"/>
          </a:solidFill>
          <a:ln w="17780">
            <a:solidFill>
              <a:srgbClr val="007F99"/>
            </a:solidFill>
            <a:prstDash val="solid"/>
          </a:ln>
        </p:spPr>
      </p:sp>
      <p:sp>
        <p:nvSpPr>
          <p:cNvPr id="24" name="Text 20"/>
          <p:cNvSpPr/>
          <p:nvPr/>
        </p:nvSpPr>
        <p:spPr>
          <a:xfrm>
            <a:off x="5737652" y="405536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Interfaz ONG: evaluación de matching</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16</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MK-04 · La propuesta automática requiere una decisión humana</a:t>
            </a:r>
            <a:endParaRPr lang="en-US" sz="1800" dirty="0"/>
          </a:p>
        </p:txBody>
      </p:sp>
      <p:pic>
        <p:nvPicPr>
          <p:cNvPr id="6" name="Image 0" descr="C:\Users\ederev\AppData\Local\Temp\alivia-ppt-assets-iXBMk1\mk16.png">    </p:cNvPr>
          <p:cNvPicPr>
            <a:picLocks noChangeAspect="1"/>
          </p:cNvPicPr>
          <p:nvPr/>
        </p:nvPicPr>
        <p:blipFill>
          <a:blip r:embed="rId1"/>
          <a:stretch>
            <a:fillRect/>
          </a:stretch>
        </p:blipFill>
        <p:spPr>
          <a:xfrm>
            <a:off x="420624" y="1298448"/>
            <a:ext cx="8257032" cy="5317028"/>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Origen de la propuesta</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SOL-2026-001 vincula la necesidad de Las Palmeras con el aporte sugerido a Puente Verde.</a:t>
            </a:r>
            <a:endParaRPr lang="en-US" sz="1700" dirty="0"/>
          </a:p>
        </p:txBody>
      </p:sp>
      <p:sp>
        <p:nvSpPr>
          <p:cNvPr id="11" name="Shape 7"/>
          <p:cNvSpPr/>
          <p:nvPr/>
        </p:nvSpPr>
        <p:spPr>
          <a:xfrm>
            <a:off x="3923607" y="2705897"/>
            <a:ext cx="246888" cy="246888"/>
          </a:xfrm>
          <a:prstGeom prst="ellipse">
            <a:avLst/>
          </a:prstGeom>
          <a:solidFill>
            <a:srgbClr val="FFFFFF"/>
          </a:solidFill>
          <a:ln w="17780">
            <a:solidFill>
              <a:srgbClr val="007F99"/>
            </a:solidFill>
            <a:prstDash val="solid"/>
          </a:ln>
        </p:spPr>
      </p:sp>
      <p:sp>
        <p:nvSpPr>
          <p:cNvPr id="12" name="Text 8"/>
          <p:cNvSpPr/>
          <p:nvPr/>
        </p:nvSpPr>
        <p:spPr>
          <a:xfrm>
            <a:off x="3923607" y="2710469"/>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Propuesta y disponibilidad</a:t>
            </a:r>
            <a:endParaRPr lang="en-US" sz="1800" dirty="0"/>
          </a:p>
        </p:txBody>
      </p:sp>
      <p:sp>
        <p:nvSpPr>
          <p:cNvPr id="16" name="Text 12"/>
          <p:cNvSpPr/>
          <p:nvPr/>
        </p:nvSpPr>
        <p:spPr>
          <a:xfrm>
            <a:off x="9025128" y="3803904"/>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Se proponen 70 bidones y 40 frazadas; están disponibles 80 y 50, respectivamente.</a:t>
            </a:r>
            <a:endParaRPr lang="en-US" sz="1700" dirty="0"/>
          </a:p>
        </p:txBody>
      </p:sp>
      <p:sp>
        <p:nvSpPr>
          <p:cNvPr id="17" name="Shape 13"/>
          <p:cNvSpPr/>
          <p:nvPr/>
        </p:nvSpPr>
        <p:spPr>
          <a:xfrm>
            <a:off x="5549992" y="3581642"/>
            <a:ext cx="246888" cy="246888"/>
          </a:xfrm>
          <a:prstGeom prst="ellipse">
            <a:avLst/>
          </a:prstGeom>
          <a:solidFill>
            <a:srgbClr val="FFFFFF"/>
          </a:solidFill>
          <a:ln w="17780">
            <a:solidFill>
              <a:srgbClr val="007F99"/>
            </a:solidFill>
            <a:prstDash val="solid"/>
          </a:ln>
        </p:spPr>
      </p:sp>
      <p:sp>
        <p:nvSpPr>
          <p:cNvPr id="18" name="Text 14"/>
          <p:cNvSpPr/>
          <p:nvPr/>
        </p:nvSpPr>
        <p:spPr>
          <a:xfrm>
            <a:off x="5549992" y="358621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Shape 15"/>
          <p:cNvSpPr/>
          <p:nvPr/>
        </p:nvSpPr>
        <p:spPr>
          <a:xfrm>
            <a:off x="9015984" y="4855464"/>
            <a:ext cx="246888" cy="246888"/>
          </a:xfrm>
          <a:prstGeom prst="ellipse">
            <a:avLst/>
          </a:prstGeom>
          <a:solidFill>
            <a:srgbClr val="FFFFFF"/>
          </a:solidFill>
          <a:ln w="17780">
            <a:solidFill>
              <a:srgbClr val="007F99"/>
            </a:solidFill>
            <a:prstDash val="solid"/>
          </a:ln>
        </p:spPr>
      </p:sp>
      <p:sp>
        <p:nvSpPr>
          <p:cNvPr id="20" name="Text 16"/>
          <p:cNvSpPr/>
          <p:nvPr/>
        </p:nvSpPr>
        <p:spPr>
          <a:xfrm>
            <a:off x="9015984" y="486003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
        <p:nvSpPr>
          <p:cNvPr id="21" name="Text 17"/>
          <p:cNvSpPr/>
          <p:nvPr/>
        </p:nvSpPr>
        <p:spPr>
          <a:xfrm>
            <a:off x="9372600" y="4841748"/>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Decisión de la ONG</a:t>
            </a:r>
            <a:endParaRPr lang="en-US" sz="1800" dirty="0"/>
          </a:p>
        </p:txBody>
      </p:sp>
      <p:sp>
        <p:nvSpPr>
          <p:cNvPr id="22" name="Text 18"/>
          <p:cNvSpPr/>
          <p:nvPr/>
        </p:nvSpPr>
        <p:spPr>
          <a:xfrm>
            <a:off x="9025128" y="5440680"/>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Puede confirmar, reducir o rechazar. Confirmar todavía no autoriza la salida ni compromete inventario.</a:t>
            </a:r>
            <a:endParaRPr lang="en-US" sz="1700" dirty="0"/>
          </a:p>
        </p:txBody>
      </p:sp>
      <p:sp>
        <p:nvSpPr>
          <p:cNvPr id="23" name="Shape 19"/>
          <p:cNvSpPr/>
          <p:nvPr/>
        </p:nvSpPr>
        <p:spPr>
          <a:xfrm>
            <a:off x="5549992" y="5477007"/>
            <a:ext cx="246888" cy="246888"/>
          </a:xfrm>
          <a:prstGeom prst="ellipse">
            <a:avLst/>
          </a:prstGeom>
          <a:solidFill>
            <a:srgbClr val="FFFFFF"/>
          </a:solidFill>
          <a:ln w="17780">
            <a:solidFill>
              <a:srgbClr val="007F99"/>
            </a:solidFill>
            <a:prstDash val="solid"/>
          </a:ln>
        </p:spPr>
      </p:sp>
      <p:sp>
        <p:nvSpPr>
          <p:cNvPr id="24" name="Text 20"/>
          <p:cNvSpPr/>
          <p:nvPr/>
        </p:nvSpPr>
        <p:spPr>
          <a:xfrm>
            <a:off x="5549992" y="5481579"/>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Interfaz ONG: autorización de salida</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17</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MK-05 · Después de confirmar, se revalida y autoriza el aporte</a:t>
            </a:r>
            <a:endParaRPr lang="en-US" sz="1800" dirty="0"/>
          </a:p>
        </p:txBody>
      </p:sp>
      <p:pic>
        <p:nvPicPr>
          <p:cNvPr id="6" name="Image 0" descr="C:\Users\ederev\AppData\Local\Temp\alivia-ppt-assets-iXBMk1\mk17.png">    </p:cNvPr>
          <p:cNvPicPr>
            <a:picLocks noChangeAspect="1"/>
          </p:cNvPicPr>
          <p:nvPr/>
        </p:nvPicPr>
        <p:blipFill>
          <a:blip r:embed="rId1"/>
          <a:stretch>
            <a:fillRect/>
          </a:stretch>
        </p:blipFill>
        <p:spPr>
          <a:xfrm>
            <a:off x="420624" y="1298448"/>
            <a:ext cx="8257032" cy="5317028"/>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Cantidades confirmadas</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La ONG revisa 70 bidones y 40 frazadas, con su almacén y destino.</a:t>
            </a:r>
            <a:endParaRPr lang="en-US" sz="1700" dirty="0"/>
          </a:p>
        </p:txBody>
      </p:sp>
      <p:sp>
        <p:nvSpPr>
          <p:cNvPr id="11" name="Shape 7"/>
          <p:cNvSpPr/>
          <p:nvPr/>
        </p:nvSpPr>
        <p:spPr>
          <a:xfrm>
            <a:off x="5424886" y="3831856"/>
            <a:ext cx="246888" cy="246888"/>
          </a:xfrm>
          <a:prstGeom prst="ellipse">
            <a:avLst/>
          </a:prstGeom>
          <a:solidFill>
            <a:srgbClr val="FFFFFF"/>
          </a:solidFill>
          <a:ln w="17780">
            <a:solidFill>
              <a:srgbClr val="007F99"/>
            </a:solidFill>
            <a:prstDash val="solid"/>
          </a:ln>
        </p:spPr>
      </p:sp>
      <p:sp>
        <p:nvSpPr>
          <p:cNvPr id="12" name="Text 8"/>
          <p:cNvSpPr/>
          <p:nvPr/>
        </p:nvSpPr>
        <p:spPr>
          <a:xfrm>
            <a:off x="5424886" y="3836428"/>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Revalidación</a:t>
            </a:r>
            <a:endParaRPr lang="en-US" sz="1800" dirty="0"/>
          </a:p>
        </p:txBody>
      </p:sp>
      <p:sp>
        <p:nvSpPr>
          <p:cNvPr id="16" name="Text 12"/>
          <p:cNvSpPr/>
          <p:nvPr/>
        </p:nvSpPr>
        <p:spPr>
          <a:xfrm>
            <a:off x="9025128" y="3803904"/>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Comprueba lotes, disponibilidad y demanda pendiente. Un conflicto bloquea la operación.</a:t>
            </a:r>
            <a:endParaRPr lang="en-US" sz="1700" dirty="0"/>
          </a:p>
        </p:txBody>
      </p:sp>
      <p:sp>
        <p:nvSpPr>
          <p:cNvPr id="17" name="Shape 13"/>
          <p:cNvSpPr/>
          <p:nvPr/>
        </p:nvSpPr>
        <p:spPr>
          <a:xfrm>
            <a:off x="5549992" y="4645048"/>
            <a:ext cx="246888" cy="246888"/>
          </a:xfrm>
          <a:prstGeom prst="ellipse">
            <a:avLst/>
          </a:prstGeom>
          <a:solidFill>
            <a:srgbClr val="FFFFFF"/>
          </a:solidFill>
          <a:ln w="17780">
            <a:solidFill>
              <a:srgbClr val="007F99"/>
            </a:solidFill>
            <a:prstDash val="solid"/>
          </a:ln>
        </p:spPr>
      </p:sp>
      <p:sp>
        <p:nvSpPr>
          <p:cNvPr id="18" name="Text 14"/>
          <p:cNvSpPr/>
          <p:nvPr/>
        </p:nvSpPr>
        <p:spPr>
          <a:xfrm>
            <a:off x="5549992" y="464962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Shape 15"/>
          <p:cNvSpPr/>
          <p:nvPr/>
        </p:nvSpPr>
        <p:spPr>
          <a:xfrm>
            <a:off x="9015984" y="4855464"/>
            <a:ext cx="246888" cy="246888"/>
          </a:xfrm>
          <a:prstGeom prst="ellipse">
            <a:avLst/>
          </a:prstGeom>
          <a:solidFill>
            <a:srgbClr val="FFFFFF"/>
          </a:solidFill>
          <a:ln w="17780">
            <a:solidFill>
              <a:srgbClr val="007F99"/>
            </a:solidFill>
            <a:prstDash val="solid"/>
          </a:ln>
        </p:spPr>
      </p:sp>
      <p:sp>
        <p:nvSpPr>
          <p:cNvPr id="20" name="Text 16"/>
          <p:cNvSpPr/>
          <p:nvPr/>
        </p:nvSpPr>
        <p:spPr>
          <a:xfrm>
            <a:off x="9015984" y="486003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
        <p:nvSpPr>
          <p:cNvPr id="21" name="Text 17"/>
          <p:cNvSpPr/>
          <p:nvPr/>
        </p:nvSpPr>
        <p:spPr>
          <a:xfrm>
            <a:off x="9372600" y="4841748"/>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Compromiso de stock</a:t>
            </a:r>
            <a:endParaRPr lang="en-US" sz="1800" dirty="0"/>
          </a:p>
        </p:txBody>
      </p:sp>
      <p:sp>
        <p:nvSpPr>
          <p:cNvPr id="22" name="Text 18"/>
          <p:cNvSpPr/>
          <p:nvPr/>
        </p:nvSpPr>
        <p:spPr>
          <a:xfrm>
            <a:off x="9025128" y="5440680"/>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Autorizar compromete stock. El retiro completo descuenta las existencias físicas.</a:t>
            </a:r>
            <a:endParaRPr lang="en-US" sz="1700" dirty="0"/>
          </a:p>
        </p:txBody>
      </p:sp>
      <p:sp>
        <p:nvSpPr>
          <p:cNvPr id="23" name="Shape 19"/>
          <p:cNvSpPr/>
          <p:nvPr/>
        </p:nvSpPr>
        <p:spPr>
          <a:xfrm>
            <a:off x="6613398" y="3456536"/>
            <a:ext cx="246888" cy="246888"/>
          </a:xfrm>
          <a:prstGeom prst="ellipse">
            <a:avLst/>
          </a:prstGeom>
          <a:solidFill>
            <a:srgbClr val="FFFFFF"/>
          </a:solidFill>
          <a:ln w="17780">
            <a:solidFill>
              <a:srgbClr val="007F99"/>
            </a:solidFill>
            <a:prstDash val="solid"/>
          </a:ln>
        </p:spPr>
      </p:sp>
      <p:sp>
        <p:nvSpPr>
          <p:cNvPr id="24" name="Text 20"/>
          <p:cNvSpPr/>
          <p:nvPr/>
        </p:nvSpPr>
        <p:spPr>
          <a:xfrm>
            <a:off x="6613398" y="3461108"/>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Interfaz Brigada: ruta y traslado</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18</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MK-07 · El acceso condicionado por las lluvias exige verificación</a:t>
            </a:r>
            <a:endParaRPr lang="en-US" sz="1800" dirty="0"/>
          </a:p>
        </p:txBody>
      </p:sp>
      <p:pic>
        <p:nvPicPr>
          <p:cNvPr id="6" name="Image 0" descr="C:\Users\ederev\AppData\Local\Temp\alivia-ppt-assets-iXBMk1\mk18.png">    </p:cNvPr>
          <p:cNvPicPr>
            <a:picLocks noChangeAspect="1"/>
          </p:cNvPicPr>
          <p:nvPr/>
        </p:nvPicPr>
        <p:blipFill>
          <a:blip r:embed="rId1"/>
          <a:stretch>
            <a:fillRect/>
          </a:stretch>
        </p:blipFill>
        <p:spPr>
          <a:xfrm>
            <a:off x="420624" y="1298448"/>
            <a:ext cx="8257032" cy="5442135"/>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Origen y destino</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El esquema une Puente Verde con Las Palmeras e identifica los tramos de acceso.</a:t>
            </a:r>
            <a:endParaRPr lang="en-US" sz="1700" dirty="0"/>
          </a:p>
        </p:txBody>
      </p:sp>
      <p:sp>
        <p:nvSpPr>
          <p:cNvPr id="11" name="Shape 7"/>
          <p:cNvSpPr/>
          <p:nvPr/>
        </p:nvSpPr>
        <p:spPr>
          <a:xfrm>
            <a:off x="3110415" y="3738026"/>
            <a:ext cx="246888" cy="246888"/>
          </a:xfrm>
          <a:prstGeom prst="ellipse">
            <a:avLst/>
          </a:prstGeom>
          <a:solidFill>
            <a:srgbClr val="FFFFFF"/>
          </a:solidFill>
          <a:ln w="17780">
            <a:solidFill>
              <a:srgbClr val="007F99"/>
            </a:solidFill>
            <a:prstDash val="solid"/>
          </a:ln>
        </p:spPr>
      </p:sp>
      <p:sp>
        <p:nvSpPr>
          <p:cNvPr id="12" name="Text 8"/>
          <p:cNvSpPr/>
          <p:nvPr/>
        </p:nvSpPr>
        <p:spPr>
          <a:xfrm>
            <a:off x="3110415" y="3742598"/>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Ruta y restricciones</a:t>
            </a:r>
            <a:endParaRPr lang="en-US" sz="1800" dirty="0"/>
          </a:p>
        </p:txBody>
      </p:sp>
      <p:sp>
        <p:nvSpPr>
          <p:cNvPr id="16" name="Text 12"/>
          <p:cNvSpPr/>
          <p:nvPr/>
        </p:nvSpPr>
        <p:spPr>
          <a:xfrm>
            <a:off x="9025128" y="3803904"/>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Exige tramos transitables y verificación menor a 30 minutos; la incertidumbre bloquea.</a:t>
            </a:r>
            <a:endParaRPr lang="en-US" sz="1700" dirty="0"/>
          </a:p>
        </p:txBody>
      </p:sp>
      <p:sp>
        <p:nvSpPr>
          <p:cNvPr id="17" name="Shape 13"/>
          <p:cNvSpPr/>
          <p:nvPr/>
        </p:nvSpPr>
        <p:spPr>
          <a:xfrm>
            <a:off x="8239783" y="3519089"/>
            <a:ext cx="246888" cy="246888"/>
          </a:xfrm>
          <a:prstGeom prst="ellipse">
            <a:avLst/>
          </a:prstGeom>
          <a:solidFill>
            <a:srgbClr val="FFFFFF"/>
          </a:solidFill>
          <a:ln w="17780">
            <a:solidFill>
              <a:srgbClr val="007F99"/>
            </a:solidFill>
            <a:prstDash val="solid"/>
          </a:ln>
        </p:spPr>
      </p:sp>
      <p:sp>
        <p:nvSpPr>
          <p:cNvPr id="18" name="Text 14"/>
          <p:cNvSpPr/>
          <p:nvPr/>
        </p:nvSpPr>
        <p:spPr>
          <a:xfrm>
            <a:off x="8239783" y="3523661"/>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Shape 15"/>
          <p:cNvSpPr/>
          <p:nvPr/>
        </p:nvSpPr>
        <p:spPr>
          <a:xfrm>
            <a:off x="9015984" y="4855464"/>
            <a:ext cx="246888" cy="246888"/>
          </a:xfrm>
          <a:prstGeom prst="ellipse">
            <a:avLst/>
          </a:prstGeom>
          <a:solidFill>
            <a:srgbClr val="FFFFFF"/>
          </a:solidFill>
          <a:ln w="17780">
            <a:solidFill>
              <a:srgbClr val="007F99"/>
            </a:solidFill>
            <a:prstDash val="solid"/>
          </a:ln>
        </p:spPr>
      </p:sp>
      <p:sp>
        <p:nvSpPr>
          <p:cNvPr id="20" name="Text 16"/>
          <p:cNvSpPr/>
          <p:nvPr/>
        </p:nvSpPr>
        <p:spPr>
          <a:xfrm>
            <a:off x="9015984" y="486003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
        <p:nvSpPr>
          <p:cNvPr id="21" name="Text 17"/>
          <p:cNvSpPr/>
          <p:nvPr/>
        </p:nvSpPr>
        <p:spPr>
          <a:xfrm>
            <a:off x="9372600" y="4841748"/>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Retiro y llegada</a:t>
            </a:r>
            <a:endParaRPr lang="en-US" sz="1800" dirty="0"/>
          </a:p>
        </p:txBody>
      </p:sp>
      <p:sp>
        <p:nvSpPr>
          <p:cNvPr id="22" name="Text 18"/>
          <p:cNvSpPr/>
          <p:nvPr/>
        </p:nvSpPr>
        <p:spPr>
          <a:xfrm>
            <a:off x="9025128" y="5440680"/>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Se coteja y retira la carga completa. La llegada aún requiere recepción comunitaria.</a:t>
            </a:r>
            <a:endParaRPr lang="en-US" sz="1700" dirty="0"/>
          </a:p>
        </p:txBody>
      </p:sp>
      <p:sp>
        <p:nvSpPr>
          <p:cNvPr id="23" name="Shape 19"/>
          <p:cNvSpPr/>
          <p:nvPr/>
        </p:nvSpPr>
        <p:spPr>
          <a:xfrm>
            <a:off x="8239783" y="5896114"/>
            <a:ext cx="246888" cy="246888"/>
          </a:xfrm>
          <a:prstGeom prst="ellipse">
            <a:avLst/>
          </a:prstGeom>
          <a:solidFill>
            <a:srgbClr val="FFFFFF"/>
          </a:solidFill>
          <a:ln w="17780">
            <a:solidFill>
              <a:srgbClr val="007F99"/>
            </a:solidFill>
            <a:prstDash val="solid"/>
          </a:ln>
        </p:spPr>
      </p:sp>
      <p:sp>
        <p:nvSpPr>
          <p:cNvPr id="24" name="Text 20"/>
          <p:cNvSpPr/>
          <p:nvPr/>
        </p:nvSpPr>
        <p:spPr>
          <a:xfrm>
            <a:off x="8239783" y="590068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Defensa Civil: supervisión territorial</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19</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MK-09 · Riesgo y atención se consultan con significados diferentes</a:t>
            </a:r>
            <a:endParaRPr lang="en-US" sz="1800" dirty="0"/>
          </a:p>
        </p:txBody>
      </p:sp>
      <p:pic>
        <p:nvPicPr>
          <p:cNvPr id="6" name="Image 0" descr="C:\Users\ederev\AppData\Local\Temp\alivia-ppt-assets-iXBMk1\mk19.png">    </p:cNvPr>
          <p:cNvPicPr>
            <a:picLocks noChangeAspect="1"/>
          </p:cNvPicPr>
          <p:nvPr/>
        </p:nvPicPr>
        <p:blipFill>
          <a:blip r:embed="rId1"/>
          <a:stretch>
            <a:fillRect/>
          </a:stretch>
        </p:blipFill>
        <p:spPr>
          <a:xfrm>
            <a:off x="420624" y="1298448"/>
            <a:ext cx="8257032" cy="5317028"/>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Mapa y filtros</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Comunidad, fenómeno y capas permiten consultar riesgo, atención y observaciones.</a:t>
            </a:r>
            <a:endParaRPr lang="en-US" sz="1700" dirty="0"/>
          </a:p>
        </p:txBody>
      </p:sp>
      <p:sp>
        <p:nvSpPr>
          <p:cNvPr id="11" name="Shape 7"/>
          <p:cNvSpPr/>
          <p:nvPr/>
        </p:nvSpPr>
        <p:spPr>
          <a:xfrm>
            <a:off x="3110415" y="3268876"/>
            <a:ext cx="246888" cy="246888"/>
          </a:xfrm>
          <a:prstGeom prst="ellipse">
            <a:avLst/>
          </a:prstGeom>
          <a:solidFill>
            <a:srgbClr val="FFFFFF"/>
          </a:solidFill>
          <a:ln w="17780">
            <a:solidFill>
              <a:srgbClr val="007F99"/>
            </a:solidFill>
            <a:prstDash val="solid"/>
          </a:ln>
        </p:spPr>
      </p:sp>
      <p:sp>
        <p:nvSpPr>
          <p:cNvPr id="12" name="Text 8"/>
          <p:cNvSpPr/>
          <p:nvPr/>
        </p:nvSpPr>
        <p:spPr>
          <a:xfrm>
            <a:off x="3110415" y="3273448"/>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Riesgo y cobertura</a:t>
            </a:r>
            <a:endParaRPr lang="en-US" sz="1800" dirty="0"/>
          </a:p>
        </p:txBody>
      </p:sp>
      <p:sp>
        <p:nvSpPr>
          <p:cNvPr id="16" name="Text 12"/>
          <p:cNvSpPr/>
          <p:nvPr/>
        </p:nvSpPr>
        <p:spPr>
          <a:xfrm>
            <a:off x="9025128" y="3803904"/>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El riesgo de inundación sigue alto, con 118 bidones y 78 frazadas conformes.</a:t>
            </a:r>
            <a:endParaRPr lang="en-US" sz="1700" dirty="0"/>
          </a:p>
        </p:txBody>
      </p:sp>
      <p:sp>
        <p:nvSpPr>
          <p:cNvPr id="17" name="Shape 13"/>
          <p:cNvSpPr/>
          <p:nvPr/>
        </p:nvSpPr>
        <p:spPr>
          <a:xfrm>
            <a:off x="8114677" y="4082069"/>
            <a:ext cx="246888" cy="246888"/>
          </a:xfrm>
          <a:prstGeom prst="ellipse">
            <a:avLst/>
          </a:prstGeom>
          <a:solidFill>
            <a:srgbClr val="FFFFFF"/>
          </a:solidFill>
          <a:ln w="17780">
            <a:solidFill>
              <a:srgbClr val="007F99"/>
            </a:solidFill>
            <a:prstDash val="solid"/>
          </a:ln>
        </p:spPr>
      </p:sp>
      <p:sp>
        <p:nvSpPr>
          <p:cNvPr id="18" name="Text 14"/>
          <p:cNvSpPr/>
          <p:nvPr/>
        </p:nvSpPr>
        <p:spPr>
          <a:xfrm>
            <a:off x="8114677" y="4086641"/>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Shape 15"/>
          <p:cNvSpPr/>
          <p:nvPr/>
        </p:nvSpPr>
        <p:spPr>
          <a:xfrm>
            <a:off x="9015984" y="4855464"/>
            <a:ext cx="246888" cy="246888"/>
          </a:xfrm>
          <a:prstGeom prst="ellipse">
            <a:avLst/>
          </a:prstGeom>
          <a:solidFill>
            <a:srgbClr val="FFFFFF"/>
          </a:solidFill>
          <a:ln w="17780">
            <a:solidFill>
              <a:srgbClr val="007F99"/>
            </a:solidFill>
            <a:prstDash val="solid"/>
          </a:ln>
        </p:spPr>
      </p:sp>
      <p:sp>
        <p:nvSpPr>
          <p:cNvPr id="20" name="Text 16"/>
          <p:cNvSpPr/>
          <p:nvPr/>
        </p:nvSpPr>
        <p:spPr>
          <a:xfrm>
            <a:off x="9015984" y="4860036"/>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
        <p:nvSpPr>
          <p:cNvPr id="21" name="Text 17"/>
          <p:cNvSpPr/>
          <p:nvPr/>
        </p:nvSpPr>
        <p:spPr>
          <a:xfrm>
            <a:off x="9372600" y="4841748"/>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Evidencia y alertas</a:t>
            </a:r>
            <a:endParaRPr lang="en-US" sz="1800" dirty="0"/>
          </a:p>
        </p:txBody>
      </p:sp>
      <p:sp>
        <p:nvSpPr>
          <p:cNvPr id="22" name="Text 18"/>
          <p:cNvSpPr/>
          <p:nvPr/>
        </p:nvSpPr>
        <p:spPr>
          <a:xfrm>
            <a:off x="9025128" y="5440680"/>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Conservan fuente, fecha y verificación. Las alertas no declaran una emergencia.</a:t>
            </a:r>
            <a:endParaRPr lang="en-US" sz="1700" dirty="0"/>
          </a:p>
        </p:txBody>
      </p:sp>
      <p:sp>
        <p:nvSpPr>
          <p:cNvPr id="23" name="Shape 19"/>
          <p:cNvSpPr/>
          <p:nvPr/>
        </p:nvSpPr>
        <p:spPr>
          <a:xfrm>
            <a:off x="8114677" y="5395687"/>
            <a:ext cx="246888" cy="246888"/>
          </a:xfrm>
          <a:prstGeom prst="ellipse">
            <a:avLst/>
          </a:prstGeom>
          <a:solidFill>
            <a:srgbClr val="FFFFFF"/>
          </a:solidFill>
          <a:ln w="17780">
            <a:solidFill>
              <a:srgbClr val="007F99"/>
            </a:solidFill>
            <a:prstDash val="solid"/>
          </a:ln>
        </p:spPr>
      </p:sp>
      <p:sp>
        <p:nvSpPr>
          <p:cNvPr id="24" name="Text 20"/>
          <p:cNvSpPr/>
          <p:nvPr/>
        </p:nvSpPr>
        <p:spPr>
          <a:xfrm>
            <a:off x="8114677" y="5400259"/>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10896"/>
            <a:ext cx="10917936" cy="566928"/>
          </a:xfrm>
          <a:prstGeom prst="rect">
            <a:avLst/>
          </a:prstGeom>
          <a:noFill/>
          <a:ln/>
        </p:spPr>
        <p:txBody>
          <a:bodyPr wrap="square" lIns="0" tIns="0" rIns="0" bIns="0" rtlCol="0" anchor="ctr"/>
          <a:lstStyle/>
          <a:p>
            <a:pPr indent="0" marL="0">
              <a:buNone/>
            </a:pPr>
            <a:r>
              <a:rPr lang="en-US" sz="3100" b="1" dirty="0">
                <a:solidFill>
                  <a:srgbClr val="123D4B"/>
                </a:solidFill>
                <a:latin typeface="Segoe UI" pitchFamily="34" charset="0"/>
                <a:ea typeface="Segoe UI" pitchFamily="34" charset="-122"/>
                <a:cs typeface="Segoe UI" pitchFamily="34" charset="-120"/>
              </a:rPr>
              <a:t>Informe final y conclusión</a:t>
            </a:r>
            <a:endParaRPr lang="en-US" sz="3100" dirty="0"/>
          </a:p>
        </p:txBody>
      </p:sp>
      <p:sp>
        <p:nvSpPr>
          <p:cNvPr id="3" name="Text 1"/>
          <p:cNvSpPr/>
          <p:nvPr/>
        </p:nvSpPr>
        <p:spPr>
          <a:xfrm>
            <a:off x="11365992" y="393192"/>
            <a:ext cx="384048" cy="274320"/>
          </a:xfrm>
          <a:prstGeom prst="rect">
            <a:avLst/>
          </a:prstGeom>
          <a:noFill/>
          <a:ln/>
        </p:spPr>
        <p:txBody>
          <a:bodyPr wrap="square" lIns="0" tIns="0" rIns="0" bIns="0" rtlCol="0" anchor="ctr"/>
          <a:lstStyle/>
          <a:p>
            <a:pPr algn="r" indent="0" marL="0">
              <a:buNone/>
            </a:pPr>
            <a:r>
              <a:rPr lang="en-US" sz="1400" dirty="0">
                <a:solidFill>
                  <a:srgbClr val="007F99"/>
                </a:solidFill>
                <a:latin typeface="Segoe UI" pitchFamily="34" charset="0"/>
                <a:ea typeface="Segoe UI" pitchFamily="34" charset="-122"/>
                <a:cs typeface="Segoe UI" pitchFamily="34" charset="-120"/>
              </a:rPr>
              <a:t>20</a:t>
            </a:r>
            <a:endParaRPr lang="en-US" sz="1400" dirty="0"/>
          </a:p>
        </p:txBody>
      </p:sp>
      <p:sp>
        <p:nvSpPr>
          <p:cNvPr id="4" name="Text 2"/>
          <p:cNvSpPr/>
          <p:nvPr/>
        </p:nvSpPr>
        <p:spPr>
          <a:xfrm>
            <a:off x="457200" y="923544"/>
            <a:ext cx="11247120" cy="402336"/>
          </a:xfrm>
          <a:prstGeom prst="rect">
            <a:avLst/>
          </a:prstGeom>
          <a:noFill/>
          <a:ln/>
        </p:spPr>
        <p:txBody>
          <a:bodyPr wrap="square" lIns="0" tIns="0" rIns="0" bIns="0" rtlCol="0" anchor="ctr"/>
          <a:lstStyle/>
          <a:p>
            <a:pPr indent="0" marL="0">
              <a:buNone/>
            </a:pPr>
            <a:r>
              <a:rPr lang="en-US" sz="1800" dirty="0">
                <a:solidFill>
                  <a:srgbClr val="4B6673"/>
                </a:solidFill>
                <a:latin typeface="Segoe UI" pitchFamily="34" charset="0"/>
                <a:ea typeface="Segoe UI" pitchFamily="34" charset="-122"/>
                <a:cs typeface="Segoe UI" pitchFamily="34" charset="-120"/>
              </a:rPr>
              <a:t>MK-10 · El resultado conserva cantidades, responsables y diferencias</a:t>
            </a:r>
            <a:endParaRPr lang="en-US" sz="1800" dirty="0"/>
          </a:p>
        </p:txBody>
      </p:sp>
      <p:pic>
        <p:nvPicPr>
          <p:cNvPr id="6" name="Image 0" descr="C:\Users\ederev\AppData\Local\Temp\alivia-ppt-assets-iXBMk1\mk20.png">    </p:cNvPr>
          <p:cNvPicPr>
            <a:picLocks noChangeAspect="1"/>
          </p:cNvPicPr>
          <p:nvPr/>
        </p:nvPicPr>
        <p:blipFill>
          <a:blip r:embed="rId1"/>
          <a:stretch>
            <a:fillRect/>
          </a:stretch>
        </p:blipFill>
        <p:spPr>
          <a:xfrm>
            <a:off x="420624" y="1298448"/>
            <a:ext cx="8257032" cy="4941709"/>
          </a:xfrm>
          <a:prstGeom prst="rect">
            <a:avLst/>
          </a:prstGeom>
        </p:spPr>
      </p:pic>
      <p:sp>
        <p:nvSpPr>
          <p:cNvPr id="7" name="Shape 3"/>
          <p:cNvSpPr/>
          <p:nvPr/>
        </p:nvSpPr>
        <p:spPr>
          <a:xfrm>
            <a:off x="9015984" y="1581912"/>
            <a:ext cx="246888" cy="246888"/>
          </a:xfrm>
          <a:prstGeom prst="ellipse">
            <a:avLst/>
          </a:prstGeom>
          <a:solidFill>
            <a:srgbClr val="FFFFFF"/>
          </a:solidFill>
          <a:ln w="17780">
            <a:solidFill>
              <a:srgbClr val="007F99"/>
            </a:solidFill>
            <a:prstDash val="solid"/>
          </a:ln>
        </p:spPr>
      </p:sp>
      <p:sp>
        <p:nvSpPr>
          <p:cNvPr id="8" name="Text 4"/>
          <p:cNvSpPr/>
          <p:nvPr/>
        </p:nvSpPr>
        <p:spPr>
          <a:xfrm>
            <a:off x="9015984" y="158648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9" name="Text 5"/>
          <p:cNvSpPr/>
          <p:nvPr/>
        </p:nvSpPr>
        <p:spPr>
          <a:xfrm>
            <a:off x="9372600" y="1568196"/>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Resultado consolidado</a:t>
            </a:r>
            <a:endParaRPr lang="en-US" sz="1800" dirty="0"/>
          </a:p>
        </p:txBody>
      </p:sp>
      <p:sp>
        <p:nvSpPr>
          <p:cNvPr id="10" name="Text 6"/>
          <p:cNvSpPr/>
          <p:nvPr/>
        </p:nvSpPr>
        <p:spPr>
          <a:xfrm>
            <a:off x="9025128" y="2167128"/>
            <a:ext cx="2715768" cy="1033272"/>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Una solicitud y dos despachos. Conformes: 118 de 120 bidones y 78 de 80 frazadas.</a:t>
            </a:r>
            <a:endParaRPr lang="en-US" sz="1700" dirty="0"/>
          </a:p>
        </p:txBody>
      </p:sp>
      <p:sp>
        <p:nvSpPr>
          <p:cNvPr id="11" name="Shape 7"/>
          <p:cNvSpPr/>
          <p:nvPr/>
        </p:nvSpPr>
        <p:spPr>
          <a:xfrm>
            <a:off x="5174673" y="4332282"/>
            <a:ext cx="246888" cy="246888"/>
          </a:xfrm>
          <a:prstGeom prst="ellipse">
            <a:avLst/>
          </a:prstGeom>
          <a:solidFill>
            <a:srgbClr val="FFFFFF"/>
          </a:solidFill>
          <a:ln w="17780">
            <a:solidFill>
              <a:srgbClr val="007F99"/>
            </a:solidFill>
            <a:prstDash val="solid"/>
          </a:ln>
        </p:spPr>
      </p:sp>
      <p:sp>
        <p:nvSpPr>
          <p:cNvPr id="12" name="Text 8"/>
          <p:cNvSpPr/>
          <p:nvPr/>
        </p:nvSpPr>
        <p:spPr>
          <a:xfrm>
            <a:off x="5174673" y="4336854"/>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1</a:t>
            </a:r>
            <a:endParaRPr lang="en-US" sz="1200" dirty="0"/>
          </a:p>
        </p:txBody>
      </p:sp>
      <p:sp>
        <p:nvSpPr>
          <p:cNvPr id="13" name="Shape 9"/>
          <p:cNvSpPr/>
          <p:nvPr/>
        </p:nvSpPr>
        <p:spPr>
          <a:xfrm>
            <a:off x="9015984" y="3218688"/>
            <a:ext cx="246888" cy="246888"/>
          </a:xfrm>
          <a:prstGeom prst="ellipse">
            <a:avLst/>
          </a:prstGeom>
          <a:solidFill>
            <a:srgbClr val="FFFFFF"/>
          </a:solidFill>
          <a:ln w="17780">
            <a:solidFill>
              <a:srgbClr val="007F99"/>
            </a:solidFill>
            <a:prstDash val="solid"/>
          </a:ln>
        </p:spPr>
      </p:sp>
      <p:sp>
        <p:nvSpPr>
          <p:cNvPr id="14" name="Text 10"/>
          <p:cNvSpPr/>
          <p:nvPr/>
        </p:nvSpPr>
        <p:spPr>
          <a:xfrm>
            <a:off x="9015984" y="3223260"/>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5" name="Text 11"/>
          <p:cNvSpPr/>
          <p:nvPr/>
        </p:nvSpPr>
        <p:spPr>
          <a:xfrm>
            <a:off x="9372600" y="3204972"/>
            <a:ext cx="2395728" cy="548640"/>
          </a:xfrm>
          <a:prstGeom prst="rect">
            <a:avLst/>
          </a:prstGeom>
          <a:noFill/>
          <a:ln/>
        </p:spPr>
        <p:txBody>
          <a:bodyPr wrap="square" lIns="0" tIns="0" rIns="0" bIns="0" rtlCol="0" anchor="ctr"/>
          <a:lstStyle/>
          <a:p>
            <a:pPr indent="0" marL="0">
              <a:buNone/>
            </a:pPr>
            <a:r>
              <a:rPr lang="en-US" sz="1800" b="1" dirty="0">
                <a:solidFill>
                  <a:srgbClr val="123D4B"/>
                </a:solidFill>
                <a:latin typeface="Segoe UI" pitchFamily="34" charset="0"/>
                <a:ea typeface="Segoe UI" pitchFamily="34" charset="-122"/>
                <a:cs typeface="Segoe UI" pitchFamily="34" charset="-120"/>
              </a:rPr>
              <a:t>Diferencias visibles</a:t>
            </a:r>
            <a:endParaRPr lang="en-US" sz="1800" dirty="0"/>
          </a:p>
        </p:txBody>
      </p:sp>
      <p:sp>
        <p:nvSpPr>
          <p:cNvPr id="16" name="Text 12"/>
          <p:cNvSpPr/>
          <p:nvPr/>
        </p:nvSpPr>
        <p:spPr>
          <a:xfrm>
            <a:off x="9025128" y="3803904"/>
            <a:ext cx="2715768" cy="1874520"/>
          </a:xfrm>
          <a:prstGeom prst="rect">
            <a:avLst/>
          </a:prstGeom>
          <a:noFill/>
          <a:ln/>
        </p:spPr>
        <p:txBody>
          <a:bodyPr wrap="square" lIns="0" tIns="0" rIns="0" bIns="0" rtlCol="0" anchor="ctr"/>
          <a:lstStyle/>
          <a:p>
            <a:pPr indent="0" marL="0">
              <a:buNone/>
            </a:pPr>
            <a:r>
              <a:rPr lang="en-US" sz="1700" dirty="0">
                <a:solidFill>
                  <a:srgbClr val="183B4A"/>
                </a:solidFill>
                <a:latin typeface="Segoe UI" pitchFamily="34" charset="0"/>
                <a:ea typeface="Segoe UI" pitchFamily="34" charset="-122"/>
                <a:cs typeface="Segoe UI" pitchFamily="34" charset="-120"/>
              </a:rPr>
              <a:t>Quedan dos bidones faltantes y dos frazadas dañadas. Demanda sin autorizar: cero; satisfacción pendiente: dos por producto.</a:t>
            </a:r>
            <a:endParaRPr lang="en-US" sz="1700" dirty="0"/>
          </a:p>
        </p:txBody>
      </p:sp>
      <p:sp>
        <p:nvSpPr>
          <p:cNvPr id="17" name="Shape 13"/>
          <p:cNvSpPr/>
          <p:nvPr/>
        </p:nvSpPr>
        <p:spPr>
          <a:xfrm>
            <a:off x="8114677" y="4582495"/>
            <a:ext cx="246888" cy="246888"/>
          </a:xfrm>
          <a:prstGeom prst="ellipse">
            <a:avLst/>
          </a:prstGeom>
          <a:solidFill>
            <a:srgbClr val="FFFFFF"/>
          </a:solidFill>
          <a:ln w="17780">
            <a:solidFill>
              <a:srgbClr val="007F99"/>
            </a:solidFill>
            <a:prstDash val="solid"/>
          </a:ln>
        </p:spPr>
      </p:sp>
      <p:sp>
        <p:nvSpPr>
          <p:cNvPr id="18" name="Text 14"/>
          <p:cNvSpPr/>
          <p:nvPr/>
        </p:nvSpPr>
        <p:spPr>
          <a:xfrm>
            <a:off x="8114677" y="4587067"/>
            <a:ext cx="246888" cy="201168"/>
          </a:xfrm>
          <a:prstGeom prst="rect">
            <a:avLst/>
          </a:prstGeom>
          <a:noFill/>
          <a:ln/>
        </p:spPr>
        <p:txBody>
          <a:bodyPr wrap="square" lIns="0" tIns="0" rIns="0" bIns="0" rtlCol="0" anchor="ctr"/>
          <a:lstStyle/>
          <a:p>
            <a:pPr algn="ctr" indent="0" marL="0">
              <a:buNone/>
            </a:pPr>
            <a:r>
              <a:rPr lang="en-US" sz="1200" b="1" dirty="0">
                <a:solidFill>
                  <a:srgbClr val="007F99"/>
                </a:solidFill>
                <a:latin typeface="Segoe UI" pitchFamily="34" charset="0"/>
                <a:ea typeface="Segoe UI" pitchFamily="34" charset="-122"/>
                <a:cs typeface="Segoe UI" pitchFamily="34" charset="-120"/>
              </a:rPr>
              <a:t>2</a:t>
            </a:r>
            <a:endParaRPr lang="en-US" sz="1200" dirty="0"/>
          </a:p>
        </p:txBody>
      </p:sp>
      <p:sp>
        <p:nvSpPr>
          <p:cNvPr id="19" name="Text 15"/>
          <p:cNvSpPr/>
          <p:nvPr/>
        </p:nvSpPr>
        <p:spPr>
          <a:xfrm>
            <a:off x="457200" y="6291072"/>
            <a:ext cx="11274552" cy="539496"/>
          </a:xfrm>
          <a:prstGeom prst="rect">
            <a:avLst/>
          </a:prstGeom>
          <a:noFill/>
          <a:ln/>
        </p:spPr>
        <p:txBody>
          <a:bodyPr wrap="square" lIns="0" tIns="0" rIns="0" bIns="0" rtlCol="0" anchor="ctr"/>
          <a:lstStyle/>
          <a:p>
            <a:pPr indent="0" marL="0">
              <a:buNone/>
            </a:pPr>
            <a:r>
              <a:rPr lang="en-US" sz="1700" b="1" dirty="0">
                <a:solidFill>
                  <a:srgbClr val="123D4B"/>
                </a:solidFill>
                <a:latin typeface="Segoe UI" pitchFamily="34" charset="0"/>
                <a:ea typeface="Segoe UI" pitchFamily="34" charset="-122"/>
                <a:cs typeface="Segoe UI" pitchFamily="34" charset="-120"/>
              </a:rPr>
              <a:t>Alivía organiza la coordinación humanitaria mediante procesos definidos, datos trazables, responsabilidades diferenciadas y una interfaz que permite consultar el estado de atención.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Universidad Nacional de Piura (UNP)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Alivía — Análisis y diseño del sistema</dc:title>
  <dc:subject>Ingeniería de Software · Análisis y diseño del sistema</dc:subject>
  <dc:creator>Equipo Alivía · Universidad Nacional de Piura</dc:creator>
  <cp:lastModifiedBy>Equipo Alivía · Universidad Nacional de Piura</cp:lastModifiedBy>
  <cp:revision>1</cp:revision>
  <dcterms:created xsi:type="dcterms:W3CDTF">2026-10-19T12:15:37Z</dcterms:created>
  <dcterms:modified xsi:type="dcterms:W3CDTF">2026-10-19T12:15:37Z</dcterms:modified>
</cp:coreProperties>
</file>