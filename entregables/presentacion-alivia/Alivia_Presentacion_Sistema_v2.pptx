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T05, información académica; prototipos/00-sistema-diseno/identidad-visual.md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docs/00-definicion/01-problema-objetivos.md; docs/00-definicion/02-alcance-supuestos.md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docs/00-definicion/01-problema-objetivos.md; docs/02-procesos/00-flujo-general.md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docs/01-negocio/02-actores-responsabilidades.md; docs/03-requisitos/01-requisitos-funcionales.md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docs/02-procesos/00-flujo-general.md; diagramas/02-casos-uso-procesos/; diagramas/04-secuencias-automaticas/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docs/05-analisis/02-estados-transiciones.md; docs/01-negocio/03-reglas-negocio.md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docs/07-datos/05-territory.md; docs/08-comunicaciones/04-integraciones-externas.md; docs/09-interfaz/03-visualizacion-cartografica.md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docs/05-analisis/01-modelo-dominio.md; diagramas/05-estructura/EST-01-clases-dominio.puml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docs/07-datos/00-diagrama-er-global.md; 02-shelter.md; 03-inventory.md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docs/07-datos/00-diagrama-er-global.md; 02-shelter.md; 03-inventory.md; 04-logistics.md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docs/07-datos/01-identity.md; docs/07-datos/02-shelter.md; docs/07-datos/05-territory.md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docs/07-datos/06-integridad-transaccional.md; docs/07-datos/03-inventory.md; docs/07-datos/02-shelter.md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docs/06-arquitectura/01-arquitectura-logica.md; docs/06-arquitectura/02-decisiones-arquitectonicas.md; diagramas/05-estructura/EST-03-componentes.puml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docs/06-arquitectura/01-arquitectura-logica.md; diagramas/05-estructura/EST-02-paquetes.puml; EST-03-componentes.puml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docs/12-infraestructura/01-topologia-cloud.md; docs/12-infraestructura/03-servidor-web-cloud.md; diagramas/05-estructura/EST-04-despliegue.puml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docs/12-infraestructura/02-base-datos-cloud.md; docs/07-datos/06-integridad-transaccional.md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docs/08-comunicaciones/01-navegador-servidor.md; docs/08-comunicaciones/02-contratos-api.md; docs/08-comunicaciones/03-seguridad-comunicaciones.md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prototipos/00-sistema-diseno/identidad-visual.md; docs/09-interfaz/01-navegacion-roles.md; docs/09-interfaz/02-especificacion-interfaces.md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prototipos/01-solicitud/MK-02-registro-solicitud.png; prototipos/00-sistema-diseno/escenario-demostracion.md; docs/09-interfaz/02-especificacion-interfaces.md
La captura procede del PNG final del repositorio. Se omite el marco común para ampliar la tarea. Ningún control o dato ha sido reconstruido.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prototipos/02-matching/MK-04-propuesta.png; prototipos/00-sistema-diseno/escenario-demostracion.md; docs/09-interfaz/02-especificacion-interfaces.md
La captura procede del PNG final del repositorio. Se omite el marco común para ampliar la tarea. Ningún control o dato ha sido reconstruido.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prototipos/03-autorizacion/MK-05-autorizacion.png; prototipos/00-sistema-diseno/escenario-demostracion.md; docs/09-interfaz/02-especificacion-interfaces.md
La captura procede del PNG final del repositorio. Se omite el marco común para ampliar la tarea. Ningún control o dato ha sido reconstruido.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prototipos/04-traslado/MK-07-ruta-traslado.png; prototipos/00-sistema-diseno/escenario-demostracion.md; docs/09-interfaz/02-especificacion-interfaces.md
La captura procede del PNG final del repositorio. Se omite el marco común para ampliar la tarea. Ningún control o dato ha sido reconstruido.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prototipos/05-recepcion/MK-08-recepcion-variante.png; prototipos/00-sistema-diseno/escenario-demostracion.md; docs/09-interfaz/02-especificacion-interfaces.md
El PNG de variante es el final existente del repositorio. La recepción conserva discrepancias sin descontar inventario nuevamente ni reactivar matching. Documentos únicos XLSX/PDF tras finalizar; la imagen conserva el momento de verificación, anterior a su habilitación.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prototipos/06-supervision/MK-09-mapa-territorial.png; prototipos/00-sistema-diseno/escenario-demostracion.md; docs/09-interfaz/02-especificacion-interfaces.md
La captura procede del PNG final del repositorio. Se omite el marco común para ampliar la tarea. Ningún control o dato ha sido reconstruido.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locales: prototipos/06-supervision/MK-10-informe-final.png; prototipos/00-sistema-diseno/escenario-demostracion.md; docs/09-interfaz/02-especificacion-interfaces.md
Cierre por EMERGENCIA_FINALIZADA, preconfigurado al 20 de octubre 18:00; publicación 18:01. Una recepción conforme y otra con observaciones. 118 bidones físicos/conformes; 80 frazadas físicas y 78 conformes. El informe no es una operación de cierre de Defensa Civil.
Versión revisada T05. Diseño de referencia; prototipos locales con datos ficticios. Fecha académica: 13 de octubre de 2026. Los cortes de demostración son del 18 y 20 de octubre.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s-PE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344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6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 Nacional de Piura (UNP)</a:t>
            </a:r>
            <a:endParaRPr lang="es-PE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1344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Curso: Ingeniería de Software</a:t>
            </a:r>
            <a:endParaRPr lang="es-PE" sz="2200" dirty="0"/>
          </a:p>
        </p:txBody>
      </p:sp>
      <p:pic>
        <p:nvPicPr>
          <p:cNvPr id="7" name="Image 0" descr="Escudo de Alivía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874520"/>
            <a:ext cx="685800" cy="7543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6192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4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Alivía</a:t>
            </a:r>
            <a:endParaRPr lang="es-PE" sz="4800" dirty="0"/>
          </a:p>
        </p:txBody>
      </p:sp>
      <p:sp>
        <p:nvSpPr>
          <p:cNvPr id="9" name="Text 5"/>
          <p:cNvSpPr/>
          <p:nvPr/>
        </p:nvSpPr>
        <p:spPr>
          <a:xfrm>
            <a:off x="548640" y="3017520"/>
            <a:ext cx="1344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y diseño de un sistema de coordinación</a:t>
            </a:r>
            <a:endParaRPr lang="es-PE" sz="3200" dirty="0"/>
          </a:p>
          <a:p>
            <a:pPr indent="0" marL="0">
              <a:buNone/>
            </a:pPr>
            <a:r>
              <a:rPr lang="es-PE" altLang="en-US" sz="3200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trazabilidad de ayuda humanitaria</a:t>
            </a:r>
            <a:endParaRPr lang="es-PE" sz="3200" dirty="0"/>
          </a:p>
        </p:txBody>
      </p:sp>
      <p:sp>
        <p:nvSpPr>
          <p:cNvPr id="10" name="Shape 6"/>
          <p:cNvSpPr/>
          <p:nvPr/>
        </p:nvSpPr>
        <p:spPr>
          <a:xfrm>
            <a:off x="548640" y="4599432"/>
            <a:ext cx="13533120" cy="0"/>
          </a:xfrm>
          <a:prstGeom prst="line">
            <a:avLst/>
          </a:prstGeom>
          <a:noFill/>
          <a:ln w="12700">
            <a:solidFill>
              <a:srgbClr val="D6E3E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910328"/>
            <a:ext cx="1344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3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 grupal — Análisis y diseño del sistema</a:t>
            </a:r>
            <a:endParaRPr lang="es-PE" sz="2300" dirty="0"/>
          </a:p>
        </p:txBody>
      </p:sp>
      <p:sp>
        <p:nvSpPr>
          <p:cNvPr id="12" name="Text 8"/>
          <p:cNvSpPr/>
          <p:nvPr/>
        </p:nvSpPr>
        <p:spPr>
          <a:xfrm>
            <a:off x="548640" y="5623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Integrantes</a:t>
            </a:r>
            <a:endParaRPr lang="es-PE" sz="2000" dirty="0"/>
          </a:p>
        </p:txBody>
      </p:sp>
      <p:sp>
        <p:nvSpPr>
          <p:cNvPr id="13" name="Text 9"/>
          <p:cNvSpPr/>
          <p:nvPr/>
        </p:nvSpPr>
        <p:spPr>
          <a:xfrm>
            <a:off x="3108960" y="553212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Paucar Campoverder Kenyi Yair</a:t>
            </a:r>
            <a:endParaRPr lang="es-PE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Villegas Saavedra Axel Alberto</a:t>
            </a:r>
            <a:endParaRPr lang="es-PE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Panta Sanchez Eder Daniel</a:t>
            </a:r>
            <a:endParaRPr lang="es-PE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Inoñan González Justin Hafid</a:t>
            </a:r>
            <a:endParaRPr lang="es-PE" sz="2200" dirty="0"/>
          </a:p>
        </p:txBody>
      </p:sp>
      <p:sp>
        <p:nvSpPr>
          <p:cNvPr id="14" name="Text 10"/>
          <p:cNvSpPr/>
          <p:nvPr/>
        </p:nvSpPr>
        <p:spPr>
          <a:xfrm>
            <a:off x="548640" y="76992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de octubre de 2026</a:t>
            </a:r>
            <a:endParaRPr lang="es-PE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fragmentación impide saber qué ayuda llegó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Lluvias intensas asociadas a El Niño en Piura</a:t>
            </a:r>
            <a:endParaRPr lang="es-PE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4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Registros dispersos</a:t>
            </a:r>
            <a:endParaRPr lang="es-PE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2560320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comunidades registran necesidades por separado. Cada ONG conoce su inventario, pero no el conjunto de la demanda.</a:t>
            </a:r>
            <a:endParaRPr lang="es-PE" sz="2200" dirty="0"/>
          </a:p>
        </p:txBody>
      </p:sp>
      <p:sp>
        <p:nvSpPr>
          <p:cNvPr id="8" name="Text 5"/>
          <p:cNvSpPr/>
          <p:nvPr/>
        </p:nvSpPr>
        <p:spPr>
          <a:xfrm>
            <a:off x="530352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4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Decisiones inciertas</a:t>
            </a:r>
            <a:endParaRPr lang="es-PE" sz="2400" dirty="0"/>
          </a:p>
        </p:txBody>
      </p:sp>
      <p:sp>
        <p:nvSpPr>
          <p:cNvPr id="9" name="Text 6"/>
          <p:cNvSpPr/>
          <p:nvPr/>
        </p:nvSpPr>
        <p:spPr>
          <a:xfrm>
            <a:off x="5303520" y="2560320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coordinación pierde la relación entre lo solicitado, lo comprometido y lo recibido. Las restricciones de acceso cambian durante la atención.</a:t>
            </a:r>
            <a:endParaRPr lang="es-PE" sz="2200" dirty="0"/>
          </a:p>
        </p:txBody>
      </p:sp>
      <p:sp>
        <p:nvSpPr>
          <p:cNvPr id="10" name="Text 7"/>
          <p:cNvSpPr/>
          <p:nvPr/>
        </p:nvSpPr>
        <p:spPr>
          <a:xfrm>
            <a:off x="10058400" y="1874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4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Consecuencias operativas</a:t>
            </a:r>
            <a:endParaRPr lang="es-PE" sz="2400" dirty="0"/>
          </a:p>
        </p:txBody>
      </p:sp>
      <p:sp>
        <p:nvSpPr>
          <p:cNvPr id="11" name="Text 8"/>
          <p:cNvSpPr/>
          <p:nvPr/>
        </p:nvSpPr>
        <p:spPr>
          <a:xfrm>
            <a:off x="10058400" y="2560320"/>
            <a:ext cx="4023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dificulta evitar sobreasignaciones, identificar brechas y reconstruir responsables. Una entrega anunciada o un arribo puede confundirse con ayuda recibida conforme.</a:t>
            </a:r>
            <a:endParaRPr lang="es-PE" sz="2200" dirty="0"/>
          </a:p>
        </p:txBody>
      </p:sp>
      <p:sp>
        <p:nvSpPr>
          <p:cNvPr id="12" name="Shape 9"/>
          <p:cNvSpPr/>
          <p:nvPr/>
        </p:nvSpPr>
        <p:spPr>
          <a:xfrm>
            <a:off x="4480560" y="3703320"/>
            <a:ext cx="59436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9235440" y="3703320"/>
            <a:ext cx="59436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48640" y="6053328"/>
            <a:ext cx="13533120" cy="86868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6254496"/>
            <a:ext cx="1307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4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Coordinar decisiones y evidencias permite reconstruir la historia de cada recurso.</a:t>
            </a:r>
            <a:endParaRPr lang="es-PE" sz="2400" dirty="0"/>
          </a:p>
        </p:txBody>
      </p:sp>
      <p:sp>
        <p:nvSpPr>
          <p:cNvPr id="16" name="Text 13"/>
          <p:cNvSpPr/>
          <p:nvPr/>
        </p:nvSpPr>
        <p:spPr>
          <a:xfrm>
            <a:off x="548640" y="7680960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Escenario académico ficticio: no se presentan cifras de daños ni boletines oficiales de un evento real.</a:t>
            </a:r>
            <a:endParaRPr lang="es-PE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Alivía vincula necesidades, aportes y evidencias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web de coordinación y trazabilidad de ayuda humanitaria</a:t>
            </a:r>
            <a:endParaRPr lang="es-PE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362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necesidad conserva su vínculo con las propuestas de las ONG, las salidas autorizadas y la verificación comunitaria. Esto permite consultar el estado de atención sin equiparar una intención de aporte con una entrega conforme.</a:t>
            </a:r>
            <a:endParaRPr lang="es-PE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3200400"/>
            <a:ext cx="1353312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Necesidad</a:t>
            </a:r>
            <a:endParaRPr lang="es-PE" sz="2400" dirty="0"/>
          </a:p>
        </p:txBody>
      </p:sp>
      <p:sp>
        <p:nvSpPr>
          <p:cNvPr id="9" name="Text 6"/>
          <p:cNvSpPr/>
          <p:nvPr/>
        </p:nvSpPr>
        <p:spPr>
          <a:xfrm>
            <a:off x="4572000" y="33375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Comunidad, productos, unidades y cantidades requeridas.</a:t>
            </a:r>
            <a:endParaRPr lang="es-PE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4206240"/>
            <a:ext cx="1353312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Decisión de aporte</a:t>
            </a:r>
            <a:endParaRPr lang="es-PE" sz="2400" dirty="0"/>
          </a:p>
        </p:txBody>
      </p:sp>
      <p:sp>
        <p:nvSpPr>
          <p:cNvPr id="12" name="Text 9"/>
          <p:cNvSpPr/>
          <p:nvPr/>
        </p:nvSpPr>
        <p:spPr>
          <a:xfrm>
            <a:off x="4572000" y="43434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Origen, cantidades confirmadas, autorización y responsable.</a:t>
            </a:r>
            <a:endParaRPr lang="es-PE" sz="2200" dirty="0"/>
          </a:p>
        </p:txBody>
      </p:sp>
      <p:sp>
        <p:nvSpPr>
          <p:cNvPr id="13" name="Shape 10"/>
          <p:cNvSpPr/>
          <p:nvPr/>
        </p:nvSpPr>
        <p:spPr>
          <a:xfrm>
            <a:off x="548640" y="5212080"/>
            <a:ext cx="1353312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5349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Ejecución y resultado</a:t>
            </a:r>
            <a:endParaRPr lang="es-PE" sz="2400" dirty="0"/>
          </a:p>
        </p:txBody>
      </p:sp>
      <p:sp>
        <p:nvSpPr>
          <p:cNvPr id="15" name="Text 12"/>
          <p:cNvSpPr/>
          <p:nvPr/>
        </p:nvSpPr>
        <p:spPr>
          <a:xfrm>
            <a:off x="4572000" y="534924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Retiro, llegada, recepción física, conformidad y discrepancias.</a:t>
            </a:r>
            <a:endParaRPr lang="es-PE" sz="2200" dirty="0"/>
          </a:p>
        </p:txBody>
      </p:sp>
      <p:sp>
        <p:nvSpPr>
          <p:cNvPr id="16" name="Text 13"/>
          <p:cNvSpPr/>
          <p:nvPr/>
        </p:nvSpPr>
        <p:spPr>
          <a:xfrm>
            <a:off x="548640" y="7680960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del trabajo: análisis, diseño y prototipos locales. La plataforma no declara oficialmente emergencias.</a:t>
            </a:r>
            <a:endParaRPr lang="es-PE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roles comparten el proceso, con permisos distintos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responsable opera sobre su entidad; la supervisión territorial mantiene acceso de lectura</a:t>
            </a:r>
            <a:endParaRPr lang="es-PE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</a:t>
            </a:r>
            <a:endParaRPr lang="es-PE" sz="1900" dirty="0"/>
          </a:p>
        </p:txBody>
      </p:sp>
      <p:sp>
        <p:nvSpPr>
          <p:cNvPr id="7" name="Text 4"/>
          <p:cNvSpPr/>
          <p:nvPr/>
        </p:nvSpPr>
        <p:spPr>
          <a:xfrm>
            <a:off x="333756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Operación a su cargo</a:t>
            </a:r>
            <a:endParaRPr lang="es-PE" sz="1900" dirty="0"/>
          </a:p>
        </p:txBody>
      </p:sp>
      <p:sp>
        <p:nvSpPr>
          <p:cNvPr id="8" name="Text 5"/>
          <p:cNvSpPr/>
          <p:nvPr/>
        </p:nvSpPr>
        <p:spPr>
          <a:xfrm>
            <a:off x="763524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Información visible</a:t>
            </a:r>
            <a:endParaRPr lang="es-PE" sz="1900" dirty="0"/>
          </a:p>
        </p:txBody>
      </p:sp>
      <p:sp>
        <p:nvSpPr>
          <p:cNvPr id="9" name="Text 6"/>
          <p:cNvSpPr/>
          <p:nvPr/>
        </p:nvSpPr>
        <p:spPr>
          <a:xfrm>
            <a:off x="11064240" y="1783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Límite operativo</a:t>
            </a:r>
            <a:endParaRPr lang="es-PE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2322576"/>
            <a:ext cx="1353312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46888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Jefe de Comuna</a:t>
            </a:r>
            <a:endParaRPr lang="es-PE" sz="2000" dirty="0"/>
          </a:p>
        </p:txBody>
      </p:sp>
      <p:sp>
        <p:nvSpPr>
          <p:cNvPr id="12" name="Text 9"/>
          <p:cNvSpPr/>
          <p:nvPr/>
        </p:nvSpPr>
        <p:spPr>
          <a:xfrm>
            <a:off x="3337560" y="246888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 necesidades y confirma recepción.</a:t>
            </a:r>
            <a:endParaRPr lang="es-PE" sz="2000" dirty="0"/>
          </a:p>
        </p:txBody>
      </p:sp>
      <p:sp>
        <p:nvSpPr>
          <p:cNvPr id="13" name="Text 10"/>
          <p:cNvSpPr/>
          <p:nvPr/>
        </p:nvSpPr>
        <p:spPr>
          <a:xfrm>
            <a:off x="7635240" y="2468880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Solicitudes y entregas propias.</a:t>
            </a:r>
            <a:endParaRPr lang="es-PE" sz="2000" dirty="0"/>
          </a:p>
        </p:txBody>
      </p:sp>
      <p:sp>
        <p:nvSpPr>
          <p:cNvPr id="14" name="Text 11"/>
          <p:cNvSpPr/>
          <p:nvPr/>
        </p:nvSpPr>
        <p:spPr>
          <a:xfrm>
            <a:off x="11064240" y="246888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consulta stock privado.</a:t>
            </a:r>
            <a:endParaRPr lang="es-PE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3374136"/>
            <a:ext cx="1353312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52044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Jefe de ONG</a:t>
            </a:r>
            <a:endParaRPr lang="es-PE" sz="2000" dirty="0"/>
          </a:p>
        </p:txBody>
      </p:sp>
      <p:sp>
        <p:nvSpPr>
          <p:cNvPr id="17" name="Text 14"/>
          <p:cNvSpPr/>
          <p:nvPr/>
        </p:nvSpPr>
        <p:spPr>
          <a:xfrm>
            <a:off x="3337560" y="352044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Gestiona inventario, decide aportes y autoriza.</a:t>
            </a:r>
            <a:endParaRPr lang="es-PE" sz="2000" dirty="0"/>
          </a:p>
        </p:txBody>
      </p:sp>
      <p:sp>
        <p:nvSpPr>
          <p:cNvPr id="18" name="Text 15"/>
          <p:cNvSpPr/>
          <p:nvPr/>
        </p:nvSpPr>
        <p:spPr>
          <a:xfrm>
            <a:off x="7635240" y="3520440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Lotes y propuestas de su ONG.</a:t>
            </a:r>
            <a:endParaRPr lang="es-PE" sz="2000" dirty="0"/>
          </a:p>
        </p:txBody>
      </p:sp>
      <p:sp>
        <p:nvSpPr>
          <p:cNvPr id="19" name="Text 16"/>
          <p:cNvSpPr/>
          <p:nvPr/>
        </p:nvSpPr>
        <p:spPr>
          <a:xfrm>
            <a:off x="11064240" y="352044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verifica recepción.</a:t>
            </a:r>
            <a:endParaRPr lang="es-PE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4425696"/>
            <a:ext cx="1353312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57200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Jefe de Brigada</a:t>
            </a:r>
            <a:endParaRPr lang="es-PE" sz="2000" dirty="0"/>
          </a:p>
        </p:txBody>
      </p:sp>
      <p:sp>
        <p:nvSpPr>
          <p:cNvPr id="22" name="Text 19"/>
          <p:cNvSpPr/>
          <p:nvPr/>
        </p:nvSpPr>
        <p:spPr>
          <a:xfrm>
            <a:off x="3337560" y="457200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 ruta, retira la carga y registra llegada.</a:t>
            </a:r>
            <a:endParaRPr lang="es-PE" sz="2000" dirty="0"/>
          </a:p>
        </p:txBody>
      </p:sp>
      <p:sp>
        <p:nvSpPr>
          <p:cNvPr id="23" name="Text 20"/>
          <p:cNvSpPr/>
          <p:nvPr/>
        </p:nvSpPr>
        <p:spPr>
          <a:xfrm>
            <a:off x="7635240" y="4572000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Despachos asignados.</a:t>
            </a:r>
            <a:endParaRPr lang="es-PE" sz="2000" dirty="0"/>
          </a:p>
        </p:txBody>
      </p:sp>
      <p:sp>
        <p:nvSpPr>
          <p:cNvPr id="24" name="Text 21"/>
          <p:cNvSpPr/>
          <p:nvPr/>
        </p:nvSpPr>
        <p:spPr>
          <a:xfrm>
            <a:off x="11064240" y="457200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cambia cantidades.</a:t>
            </a:r>
            <a:endParaRPr lang="es-PE" sz="2000" dirty="0"/>
          </a:p>
        </p:txBody>
      </p:sp>
      <p:sp>
        <p:nvSpPr>
          <p:cNvPr id="25" name="Shape 22"/>
          <p:cNvSpPr/>
          <p:nvPr/>
        </p:nvSpPr>
        <p:spPr>
          <a:xfrm>
            <a:off x="548640" y="5477256"/>
            <a:ext cx="1353312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562356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Jefe de Defensa Civil</a:t>
            </a:r>
            <a:endParaRPr lang="es-PE" sz="2000" dirty="0"/>
          </a:p>
        </p:txBody>
      </p:sp>
      <p:sp>
        <p:nvSpPr>
          <p:cNvPr id="27" name="Text 24"/>
          <p:cNvSpPr/>
          <p:nvPr/>
        </p:nvSpPr>
        <p:spPr>
          <a:xfrm>
            <a:off x="3337560" y="562356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riesgo, cobertura e informe final.</a:t>
            </a:r>
            <a:endParaRPr lang="es-PE" sz="2000" dirty="0"/>
          </a:p>
        </p:txBody>
      </p:sp>
      <p:sp>
        <p:nvSpPr>
          <p:cNvPr id="28" name="Text 25"/>
          <p:cNvSpPr/>
          <p:nvPr/>
        </p:nvSpPr>
        <p:spPr>
          <a:xfrm>
            <a:off x="7635240" y="5623560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Visión territorial autorizada.</a:t>
            </a:r>
            <a:endParaRPr lang="es-PE" sz="2000" dirty="0"/>
          </a:p>
        </p:txBody>
      </p:sp>
      <p:sp>
        <p:nvSpPr>
          <p:cNvPr id="29" name="Text 26"/>
          <p:cNvSpPr/>
          <p:nvPr/>
        </p:nvSpPr>
        <p:spPr>
          <a:xfrm>
            <a:off x="11064240" y="562356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modifica operaciones.</a:t>
            </a:r>
            <a:endParaRPr lang="es-PE" sz="2000" dirty="0"/>
          </a:p>
        </p:txBody>
      </p:sp>
      <p:sp>
        <p:nvSpPr>
          <p:cNvPr id="30" name="Text 27"/>
          <p:cNvSpPr/>
          <p:nvPr/>
        </p:nvSpPr>
        <p:spPr>
          <a:xfrm>
            <a:off x="548640" y="7680960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backend debe aplicar rol y titularidad en cada operación; ocultar un menú no constituye autorización.</a:t>
            </a:r>
            <a:endParaRPr lang="es-PE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la solicitud a la recepción, cada hecho tiene un responsable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Seis macroprocesos; la supervisión acompaña toda la operación</a:t>
            </a:r>
            <a:endParaRPr lang="es-PE" sz="2000" dirty="0"/>
          </a:p>
        </p:txBody>
      </p:sp>
      <p:sp>
        <p:nvSpPr>
          <p:cNvPr id="6" name="Text 3"/>
          <p:cNvSpPr/>
          <p:nvPr/>
        </p:nvSpPr>
        <p:spPr>
          <a:xfrm>
            <a:off x="2926080" y="1709928"/>
            <a:ext cx="20848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Solicitud</a:t>
            </a:r>
            <a:endParaRPr lang="es-PE" sz="1900" dirty="0"/>
          </a:p>
        </p:txBody>
      </p:sp>
      <p:sp>
        <p:nvSpPr>
          <p:cNvPr id="7" name="Text 4"/>
          <p:cNvSpPr/>
          <p:nvPr/>
        </p:nvSpPr>
        <p:spPr>
          <a:xfrm>
            <a:off x="5193792" y="1709928"/>
            <a:ext cx="20848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Matching</a:t>
            </a:r>
            <a:endParaRPr lang="es-PE" sz="1900" dirty="0"/>
          </a:p>
        </p:txBody>
      </p:sp>
      <p:sp>
        <p:nvSpPr>
          <p:cNvPr id="8" name="Text 5"/>
          <p:cNvSpPr/>
          <p:nvPr/>
        </p:nvSpPr>
        <p:spPr>
          <a:xfrm>
            <a:off x="7461504" y="1709928"/>
            <a:ext cx="20848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Confirmación</a:t>
            </a:r>
            <a:endParaRPr lang="es-PE" sz="1900" dirty="0"/>
          </a:p>
          <a:p>
            <a:pPr indent="0" marL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autorización</a:t>
            </a:r>
            <a:endParaRPr lang="es-PE" sz="1900" dirty="0"/>
          </a:p>
        </p:txBody>
      </p:sp>
      <p:sp>
        <p:nvSpPr>
          <p:cNvPr id="9" name="Text 6"/>
          <p:cNvSpPr/>
          <p:nvPr/>
        </p:nvSpPr>
        <p:spPr>
          <a:xfrm>
            <a:off x="9729216" y="1709928"/>
            <a:ext cx="20848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Traslado</a:t>
            </a:r>
            <a:endParaRPr lang="es-PE" sz="1900" dirty="0"/>
          </a:p>
        </p:txBody>
      </p:sp>
      <p:sp>
        <p:nvSpPr>
          <p:cNvPr id="10" name="Text 7"/>
          <p:cNvSpPr/>
          <p:nvPr/>
        </p:nvSpPr>
        <p:spPr>
          <a:xfrm>
            <a:off x="11996928" y="1709928"/>
            <a:ext cx="20848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Recepción</a:t>
            </a:r>
            <a:endParaRPr lang="es-PE" sz="1900" dirty="0"/>
          </a:p>
        </p:txBody>
      </p:sp>
      <p:sp>
        <p:nvSpPr>
          <p:cNvPr id="11" name="Text 8"/>
          <p:cNvSpPr/>
          <p:nvPr/>
        </p:nvSpPr>
        <p:spPr>
          <a:xfrm>
            <a:off x="548640" y="2715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Comuna</a:t>
            </a:r>
            <a:endParaRPr lang="es-PE" sz="2000" dirty="0"/>
          </a:p>
        </p:txBody>
      </p:sp>
      <p:sp>
        <p:nvSpPr>
          <p:cNvPr id="12" name="Shape 9"/>
          <p:cNvSpPr/>
          <p:nvPr/>
        </p:nvSpPr>
        <p:spPr>
          <a:xfrm>
            <a:off x="2651760" y="3429000"/>
            <a:ext cx="11430000" cy="0"/>
          </a:xfrm>
          <a:prstGeom prst="line">
            <a:avLst/>
          </a:prstGeom>
          <a:noFill/>
          <a:ln w="7620">
            <a:solidFill>
              <a:srgbClr val="D6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7216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</a:t>
            </a:r>
            <a:endParaRPr lang="es-PE" sz="2000" dirty="0"/>
          </a:p>
        </p:txBody>
      </p:sp>
      <p:sp>
        <p:nvSpPr>
          <p:cNvPr id="14" name="Shape 11"/>
          <p:cNvSpPr/>
          <p:nvPr/>
        </p:nvSpPr>
        <p:spPr>
          <a:xfrm>
            <a:off x="2651760" y="4434840"/>
            <a:ext cx="11430000" cy="0"/>
          </a:xfrm>
          <a:prstGeom prst="line">
            <a:avLst/>
          </a:prstGeom>
          <a:noFill/>
          <a:ln w="7620">
            <a:solidFill>
              <a:srgbClr val="D6E3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7274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</a:t>
            </a:r>
            <a:endParaRPr lang="es-PE" sz="2000" dirty="0"/>
          </a:p>
        </p:txBody>
      </p:sp>
      <p:sp>
        <p:nvSpPr>
          <p:cNvPr id="16" name="Shape 13"/>
          <p:cNvSpPr/>
          <p:nvPr/>
        </p:nvSpPr>
        <p:spPr>
          <a:xfrm>
            <a:off x="2651760" y="5440680"/>
            <a:ext cx="11430000" cy="0"/>
          </a:xfrm>
          <a:prstGeom prst="line">
            <a:avLst/>
          </a:prstGeom>
          <a:noFill/>
          <a:ln w="7620">
            <a:solidFill>
              <a:srgbClr val="D6E3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5733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Brigada</a:t>
            </a:r>
            <a:endParaRPr lang="es-PE" sz="2000" dirty="0"/>
          </a:p>
        </p:txBody>
      </p:sp>
      <p:sp>
        <p:nvSpPr>
          <p:cNvPr id="18" name="Shape 15"/>
          <p:cNvSpPr/>
          <p:nvPr/>
        </p:nvSpPr>
        <p:spPr>
          <a:xfrm>
            <a:off x="2651760" y="6446520"/>
            <a:ext cx="11430000" cy="0"/>
          </a:xfrm>
          <a:prstGeom prst="line">
            <a:avLst/>
          </a:prstGeom>
          <a:noFill/>
          <a:ln w="7620">
            <a:solidFill>
              <a:srgbClr val="D6E3E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26080" y="2606040"/>
            <a:ext cx="2084832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35808" y="2724912"/>
            <a:ext cx="1865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 necesidades</a:t>
            </a:r>
            <a:endParaRPr lang="es-PE" sz="1800" dirty="0"/>
          </a:p>
        </p:txBody>
      </p:sp>
      <p:sp>
        <p:nvSpPr>
          <p:cNvPr id="21" name="Shape 18"/>
          <p:cNvSpPr/>
          <p:nvPr/>
        </p:nvSpPr>
        <p:spPr>
          <a:xfrm>
            <a:off x="5193792" y="3611880"/>
            <a:ext cx="2084832" cy="758952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0" y="3730752"/>
            <a:ext cx="1865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 propuestas</a:t>
            </a:r>
            <a:endParaRPr lang="es-PE" sz="1800" dirty="0"/>
          </a:p>
        </p:txBody>
      </p:sp>
      <p:sp>
        <p:nvSpPr>
          <p:cNvPr id="23" name="Shape 20"/>
          <p:cNvSpPr/>
          <p:nvPr/>
        </p:nvSpPr>
        <p:spPr>
          <a:xfrm>
            <a:off x="7461504" y="4617720"/>
            <a:ext cx="2084832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71232" y="4736592"/>
            <a:ext cx="1865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 y autoriza</a:t>
            </a:r>
            <a:endParaRPr lang="es-PE" sz="1800" dirty="0"/>
          </a:p>
        </p:txBody>
      </p:sp>
      <p:sp>
        <p:nvSpPr>
          <p:cNvPr id="25" name="Shape 22"/>
          <p:cNvSpPr/>
          <p:nvPr/>
        </p:nvSpPr>
        <p:spPr>
          <a:xfrm>
            <a:off x="9729216" y="5623560"/>
            <a:ext cx="2084832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38944" y="5742432"/>
            <a:ext cx="1865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Retira y registra llegada</a:t>
            </a:r>
            <a:endParaRPr lang="es-PE" sz="1800" dirty="0"/>
          </a:p>
        </p:txBody>
      </p:sp>
      <p:sp>
        <p:nvSpPr>
          <p:cNvPr id="27" name="Shape 24"/>
          <p:cNvSpPr/>
          <p:nvPr/>
        </p:nvSpPr>
        <p:spPr>
          <a:xfrm>
            <a:off x="11996928" y="2606040"/>
            <a:ext cx="2084832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106656" y="2724912"/>
            <a:ext cx="1865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 recepción</a:t>
            </a:r>
            <a:endParaRPr lang="es-PE" sz="1800" dirty="0"/>
          </a:p>
        </p:txBody>
      </p:sp>
      <p:sp>
        <p:nvSpPr>
          <p:cNvPr id="29" name="Shape 26"/>
          <p:cNvSpPr/>
          <p:nvPr/>
        </p:nvSpPr>
        <p:spPr>
          <a:xfrm>
            <a:off x="5020056" y="2999232"/>
            <a:ext cx="118872" cy="996696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306056" y="3995928"/>
            <a:ext cx="100584" cy="100584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9573768" y="5001768"/>
            <a:ext cx="100584" cy="100584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 flipV="1">
            <a:off x="11868912" y="2999232"/>
            <a:ext cx="54864" cy="3008376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548640" y="6830568"/>
            <a:ext cx="9692640" cy="576072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1520" y="694944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Supervisión: Defensa Civil consulta avance, riesgos y resultados.</a:t>
            </a:r>
            <a:endParaRPr lang="es-PE" sz="1900" dirty="0"/>
          </a:p>
        </p:txBody>
      </p:sp>
      <p:sp>
        <p:nvSpPr>
          <p:cNvPr id="35" name="Text 32"/>
          <p:cNvSpPr/>
          <p:nvPr/>
        </p:nvSpPr>
        <p:spPr>
          <a:xfrm>
            <a:off x="10789920" y="6793992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Ingesta de observaciones</a:t>
            </a:r>
            <a:endParaRPr lang="es-PE" sz="1700" dirty="0"/>
          </a:p>
          <a:p>
            <a:pPr indent="0" marL="0">
              <a:buNone/>
            </a:pPr>
            <a:r>
              <a:rPr lang="es-PE" altLang="en-US" sz="17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Complemento informativo</a:t>
            </a:r>
            <a:endParaRPr lang="es-PE" sz="1700" dirty="0"/>
          </a:p>
        </p:txBody>
      </p:sp>
      <p:sp>
        <p:nvSpPr>
          <p:cNvPr id="36" name="Shape 33"/>
          <p:cNvSpPr/>
          <p:nvPr/>
        </p:nvSpPr>
        <p:spPr>
          <a:xfrm flipH="1">
            <a:off x="10287000" y="7132320"/>
            <a:ext cx="32004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dash"/>
            <a:tailEnd type="triangle"/>
          </a:ln>
        </p:spPr>
      </p:sp>
      <p:sp>
        <p:nvSpPr>
          <p:cNvPr id="37" name="Text 34"/>
          <p:cNvSpPr/>
          <p:nvPr/>
        </p:nvSpPr>
        <p:spPr>
          <a:xfrm>
            <a:off x="548640" y="7680960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solicitud no necesita esperar una alerta externa. Las propuestas automáticas siempre requieren decisión de la ONG.</a:t>
            </a:r>
            <a:endParaRPr lang="es-PE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Confirmar, autorizar, retirar y recibir son hechos distintos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transiciones tienen precondiciones y efectos sobre cantidades diferentes</a:t>
            </a:r>
            <a:endParaRPr lang="es-PE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3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Decisión de aporte</a:t>
            </a:r>
            <a:endParaRPr lang="es-PE" sz="2300" dirty="0"/>
          </a:p>
        </p:txBody>
      </p:sp>
      <p:sp>
        <p:nvSpPr>
          <p:cNvPr id="7" name="Shape 4"/>
          <p:cNvSpPr/>
          <p:nvPr/>
        </p:nvSpPr>
        <p:spPr>
          <a:xfrm>
            <a:off x="3154680" y="1874520"/>
            <a:ext cx="3154680" cy="114300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91840" y="196596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</a:t>
            </a:r>
            <a:endParaRPr lang="es-PE" sz="2000" dirty="0"/>
          </a:p>
        </p:txBody>
      </p:sp>
      <p:sp>
        <p:nvSpPr>
          <p:cNvPr id="9" name="Text 6"/>
          <p:cNvSpPr/>
          <p:nvPr/>
        </p:nvSpPr>
        <p:spPr>
          <a:xfrm>
            <a:off x="3291840" y="241401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Propuesta sin compromiso</a:t>
            </a:r>
            <a:endParaRPr lang="es-PE" sz="1800" dirty="0"/>
          </a:p>
        </p:txBody>
      </p:sp>
      <p:sp>
        <p:nvSpPr>
          <p:cNvPr id="10" name="Shape 7"/>
          <p:cNvSpPr/>
          <p:nvPr/>
        </p:nvSpPr>
        <p:spPr>
          <a:xfrm>
            <a:off x="6373368" y="2441448"/>
            <a:ext cx="59436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040880" y="1874520"/>
            <a:ext cx="3154680" cy="114300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78040" y="196596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</a:t>
            </a:r>
            <a:endParaRPr lang="es-PE" sz="2000" dirty="0"/>
          </a:p>
        </p:txBody>
      </p:sp>
      <p:sp>
        <p:nvSpPr>
          <p:cNvPr id="13" name="Text 10"/>
          <p:cNvSpPr/>
          <p:nvPr/>
        </p:nvSpPr>
        <p:spPr>
          <a:xfrm>
            <a:off x="7178040" y="241401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Aporte aceptado sin compromiso</a:t>
            </a:r>
            <a:endParaRPr lang="es-PE" sz="1800" dirty="0"/>
          </a:p>
        </p:txBody>
      </p:sp>
      <p:sp>
        <p:nvSpPr>
          <p:cNvPr id="14" name="Shape 11"/>
          <p:cNvSpPr/>
          <p:nvPr/>
        </p:nvSpPr>
        <p:spPr>
          <a:xfrm>
            <a:off x="10259568" y="2441448"/>
            <a:ext cx="59436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0927080" y="1874520"/>
            <a:ext cx="3154680" cy="114300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064240" y="196596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AUTHORIZED</a:t>
            </a:r>
            <a:endParaRPr lang="es-PE" sz="2000" dirty="0"/>
          </a:p>
        </p:txBody>
      </p:sp>
      <p:sp>
        <p:nvSpPr>
          <p:cNvPr id="17" name="Text 14"/>
          <p:cNvSpPr/>
          <p:nvPr/>
        </p:nvSpPr>
        <p:spPr>
          <a:xfrm>
            <a:off x="11064240" y="241401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comprometido</a:t>
            </a:r>
            <a:endParaRPr lang="es-PE" sz="1800" dirty="0"/>
          </a:p>
        </p:txBody>
      </p:sp>
      <p:sp>
        <p:nvSpPr>
          <p:cNvPr id="18" name="Shape 15"/>
          <p:cNvSpPr/>
          <p:nvPr/>
        </p:nvSpPr>
        <p:spPr>
          <a:xfrm>
            <a:off x="4709160" y="3063240"/>
            <a:ext cx="0" cy="374904"/>
          </a:xfrm>
          <a:prstGeom prst="line">
            <a:avLst/>
          </a:prstGeom>
          <a:noFill/>
          <a:ln w="17780">
            <a:solidFill>
              <a:srgbClr val="B83E48"/>
            </a:solidFill>
            <a:prstDash val="dash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3154680" y="354787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B83E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REJECTED: rechazo motivado</a:t>
            </a:r>
            <a:endParaRPr lang="es-PE" sz="1800" dirty="0"/>
          </a:p>
        </p:txBody>
      </p:sp>
      <p:sp>
        <p:nvSpPr>
          <p:cNvPr id="20" name="Text 17"/>
          <p:cNvSpPr/>
          <p:nvPr/>
        </p:nvSpPr>
        <p:spPr>
          <a:xfrm>
            <a:off x="8229600" y="349300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autorizar se revalidan lotes y demanda pendiente.</a:t>
            </a:r>
            <a:endParaRPr lang="es-PE" sz="1900" dirty="0"/>
          </a:p>
        </p:txBody>
      </p:sp>
      <p:sp>
        <p:nvSpPr>
          <p:cNvPr id="21" name="Shape 18"/>
          <p:cNvSpPr/>
          <p:nvPr/>
        </p:nvSpPr>
        <p:spPr>
          <a:xfrm>
            <a:off x="548640" y="4370832"/>
            <a:ext cx="13533120" cy="0"/>
          </a:xfrm>
          <a:prstGeom prst="line">
            <a:avLst/>
          </a:prstGeom>
          <a:noFill/>
          <a:ln w="12700">
            <a:solidFill>
              <a:srgbClr val="D6E3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6360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3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Ejecución logística</a:t>
            </a:r>
            <a:endParaRPr lang="es-PE" sz="2300" dirty="0"/>
          </a:p>
        </p:txBody>
      </p:sp>
      <p:sp>
        <p:nvSpPr>
          <p:cNvPr id="23" name="Shape 20"/>
          <p:cNvSpPr/>
          <p:nvPr/>
        </p:nvSpPr>
        <p:spPr>
          <a:xfrm>
            <a:off x="548640" y="5349240"/>
            <a:ext cx="2971800" cy="132588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544068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AUTHORIZED</a:t>
            </a:r>
            <a:endParaRPr lang="es-PE" sz="2000" dirty="0"/>
          </a:p>
        </p:txBody>
      </p:sp>
      <p:sp>
        <p:nvSpPr>
          <p:cNvPr id="25" name="Text 22"/>
          <p:cNvSpPr/>
          <p:nvPr/>
        </p:nvSpPr>
        <p:spPr>
          <a:xfrm>
            <a:off x="685800" y="5888736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Habilita el despacho.</a:t>
            </a:r>
            <a:endParaRPr lang="es-PE" sz="1800" dirty="0"/>
          </a:p>
        </p:txBody>
      </p:sp>
      <p:sp>
        <p:nvSpPr>
          <p:cNvPr id="26" name="Shape 23"/>
          <p:cNvSpPr/>
          <p:nvPr/>
        </p:nvSpPr>
        <p:spPr>
          <a:xfrm>
            <a:off x="3584448" y="5980176"/>
            <a:ext cx="41148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069080" y="5349240"/>
            <a:ext cx="2971800" cy="132588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06240" y="544068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WITHDRAWN</a:t>
            </a:r>
            <a:endParaRPr lang="es-PE" sz="2000" dirty="0"/>
          </a:p>
        </p:txBody>
      </p:sp>
      <p:sp>
        <p:nvSpPr>
          <p:cNvPr id="29" name="Text 26"/>
          <p:cNvSpPr/>
          <p:nvPr/>
        </p:nvSpPr>
        <p:spPr>
          <a:xfrm>
            <a:off x="4206240" y="5888736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 total con ruta vigente.</a:t>
            </a:r>
            <a:endParaRPr lang="es-PE" sz="1800" dirty="0"/>
          </a:p>
        </p:txBody>
      </p:sp>
      <p:sp>
        <p:nvSpPr>
          <p:cNvPr id="30" name="Shape 27"/>
          <p:cNvSpPr/>
          <p:nvPr/>
        </p:nvSpPr>
        <p:spPr>
          <a:xfrm>
            <a:off x="7104888" y="5980176"/>
            <a:ext cx="41148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7589520" y="5349240"/>
            <a:ext cx="2971800" cy="132588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26680" y="544068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ARRIVED</a:t>
            </a:r>
            <a:endParaRPr lang="es-PE" sz="2000" dirty="0"/>
          </a:p>
        </p:txBody>
      </p:sp>
      <p:sp>
        <p:nvSpPr>
          <p:cNvPr id="33" name="Text 30"/>
          <p:cNvSpPr/>
          <p:nvPr/>
        </p:nvSpPr>
        <p:spPr>
          <a:xfrm>
            <a:off x="7726680" y="5888736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 el arribo.</a:t>
            </a:r>
            <a:endParaRPr lang="es-PE" sz="1800" dirty="0"/>
          </a:p>
        </p:txBody>
      </p:sp>
      <p:sp>
        <p:nvSpPr>
          <p:cNvPr id="34" name="Shape 31"/>
          <p:cNvSpPr/>
          <p:nvPr/>
        </p:nvSpPr>
        <p:spPr>
          <a:xfrm>
            <a:off x="10625328" y="5980176"/>
            <a:ext cx="41148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11109960" y="5349240"/>
            <a:ext cx="2971800" cy="132588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247120" y="544068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FINALIZED</a:t>
            </a:r>
            <a:endParaRPr lang="es-PE" sz="2000" dirty="0"/>
          </a:p>
        </p:txBody>
      </p:sp>
      <p:sp>
        <p:nvSpPr>
          <p:cNvPr id="37" name="Text 34"/>
          <p:cNvSpPr/>
          <p:nvPr/>
        </p:nvSpPr>
        <p:spPr>
          <a:xfrm>
            <a:off x="11247120" y="5888736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Recepción comunitaria validada.</a:t>
            </a:r>
            <a:endParaRPr lang="es-PE" sz="1800" dirty="0"/>
          </a:p>
        </p:txBody>
      </p:sp>
      <p:sp>
        <p:nvSpPr>
          <p:cNvPr id="38" name="Text 35"/>
          <p:cNvSpPr/>
          <p:nvPr/>
        </p:nvSpPr>
        <p:spPr>
          <a:xfrm>
            <a:off x="548640" y="7680960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recepción finaliza conforme o con observaciones. Un ciclo cerrado puede conservar necesidades no satisfechas.</a:t>
            </a:r>
            <a:endParaRPr lang="es-PE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observación aporta contexto; la atención se mide aparte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lluvias de El Niño requieren conservar procedencia, fecha e incertidumbre</a:t>
            </a:r>
            <a:endParaRPr lang="es-PE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181051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Incorporación controlada</a:t>
            </a:r>
            <a:endParaRPr lang="es-PE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61264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SENAMHI es una fuente considerada para datos meteorológicos e hidrológicos. La ingesta valida procedencia, fecha, fenómeno y duplicados, respetando las condiciones de acceso.</a:t>
            </a:r>
            <a:endParaRPr lang="es-PE" sz="2100" dirty="0"/>
          </a:p>
        </p:txBody>
      </p:sp>
      <p:sp>
        <p:nvSpPr>
          <p:cNvPr id="8" name="Shape 5"/>
          <p:cNvSpPr/>
          <p:nvPr/>
        </p:nvSpPr>
        <p:spPr>
          <a:xfrm>
            <a:off x="7452360" y="1828800"/>
            <a:ext cx="2926080" cy="150876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920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Observación</a:t>
            </a:r>
            <a:endParaRPr lang="es-PE" sz="2000" dirty="0"/>
          </a:p>
        </p:txBody>
      </p:sp>
      <p:sp>
        <p:nvSpPr>
          <p:cNvPr id="10" name="Text 7"/>
          <p:cNvSpPr/>
          <p:nvPr/>
        </p:nvSpPr>
        <p:spPr>
          <a:xfrm>
            <a:off x="7589520" y="236829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Fuente, fecha</a:t>
            </a:r>
            <a:endParaRPr lang="es-PE" sz="1800" dirty="0"/>
          </a:p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certeza.</a:t>
            </a:r>
            <a:endParaRPr lang="es-PE" sz="1800" dirty="0"/>
          </a:p>
        </p:txBody>
      </p:sp>
      <p:sp>
        <p:nvSpPr>
          <p:cNvPr id="11" name="Shape 8"/>
          <p:cNvSpPr/>
          <p:nvPr/>
        </p:nvSpPr>
        <p:spPr>
          <a:xfrm>
            <a:off x="10451592" y="2606040"/>
            <a:ext cx="521208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dash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1109960" y="1828800"/>
            <a:ext cx="2971800" cy="150876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247120" y="19202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Evaluación de riesgo</a:t>
            </a:r>
            <a:endParaRPr lang="es-PE" sz="2000" dirty="0"/>
          </a:p>
        </p:txBody>
      </p:sp>
      <p:sp>
        <p:nvSpPr>
          <p:cNvPr id="14" name="Text 11"/>
          <p:cNvSpPr/>
          <p:nvPr/>
        </p:nvSpPr>
        <p:spPr>
          <a:xfrm>
            <a:off x="11247120" y="2368296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Comunidad, fenómeno, nivel y fecha.</a:t>
            </a:r>
            <a:endParaRPr lang="es-PE" sz="1800" dirty="0"/>
          </a:p>
        </p:txBody>
      </p:sp>
      <p:sp>
        <p:nvSpPr>
          <p:cNvPr id="15" name="Text 12"/>
          <p:cNvSpPr/>
          <p:nvPr/>
        </p:nvSpPr>
        <p:spPr>
          <a:xfrm>
            <a:off x="7452360" y="370332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una evaluación respaldada y validada puede sustentar un nivel de riesgo.</a:t>
            </a:r>
            <a:endParaRPr lang="es-PE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4818888"/>
            <a:ext cx="13533120" cy="0"/>
          </a:xfrm>
          <a:prstGeom prst="line">
            <a:avLst/>
          </a:prstGeom>
          <a:noFill/>
          <a:ln w="12700">
            <a:solidFill>
              <a:srgbClr val="D6E3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523036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Riesgo territorial</a:t>
            </a:r>
            <a:endParaRPr lang="es-PE" sz="2200" dirty="0"/>
          </a:p>
        </p:txBody>
      </p:sp>
      <p:sp>
        <p:nvSpPr>
          <p:cNvPr id="18" name="Text 15"/>
          <p:cNvSpPr/>
          <p:nvPr/>
        </p:nvSpPr>
        <p:spPr>
          <a:xfrm>
            <a:off x="548640" y="5751576"/>
            <a:ext cx="6126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un fenómeno y su severidad. Una entrega humanitaria no modifica automáticamente ese riesgo.</a:t>
            </a:r>
            <a:endParaRPr lang="es-PE" sz="2200" dirty="0"/>
          </a:p>
        </p:txBody>
      </p:sp>
      <p:sp>
        <p:nvSpPr>
          <p:cNvPr id="19" name="Text 16"/>
          <p:cNvSpPr/>
          <p:nvPr/>
        </p:nvSpPr>
        <p:spPr>
          <a:xfrm>
            <a:off x="7452360" y="5230368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Atención humanitaria</a:t>
            </a:r>
            <a:endParaRPr lang="es-PE" sz="2200" dirty="0"/>
          </a:p>
        </p:txBody>
      </p:sp>
      <p:sp>
        <p:nvSpPr>
          <p:cNvPr id="20" name="Text 17"/>
          <p:cNvSpPr/>
          <p:nvPr/>
        </p:nvSpPr>
        <p:spPr>
          <a:xfrm>
            <a:off x="7452360" y="5751576"/>
            <a:ext cx="6629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 cantidades autorizadas, enviadas y conformes. Recibir ayuda no elimina un riesgo alto.</a:t>
            </a:r>
            <a:endParaRPr lang="es-PE" sz="2200" dirty="0"/>
          </a:p>
        </p:txBody>
      </p:sp>
      <p:sp>
        <p:nvSpPr>
          <p:cNvPr id="21" name="Text 18"/>
          <p:cNvSpPr/>
          <p:nvPr/>
        </p:nvSpPr>
        <p:spPr>
          <a:xfrm>
            <a:off x="548640" y="7680960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prototipos usan observaciones internas ficticias. La importación no declara emergencias ni autoriza recursos.</a:t>
            </a:r>
            <a:endParaRPr lang="es-PE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dominio distingue necesidad, compromiso, traslado y verificación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conceptual: entidades y responsabilidades, sin columnas ni decisiones de almacenamiento</a:t>
            </a:r>
            <a:endParaRPr lang="es-PE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4206240" cy="12344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9659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Comunidad</a:t>
            </a:r>
            <a:endParaRPr lang="es-PE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24140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destinataria y origina necesidades.</a:t>
            </a:r>
            <a:endParaRPr lang="es-PE" sz="1800" dirty="0"/>
          </a:p>
        </p:txBody>
      </p:sp>
      <p:sp>
        <p:nvSpPr>
          <p:cNvPr id="9" name="Shape 6"/>
          <p:cNvSpPr/>
          <p:nvPr/>
        </p:nvSpPr>
        <p:spPr>
          <a:xfrm>
            <a:off x="5212080" y="1874520"/>
            <a:ext cx="4206240" cy="12344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49240" y="19659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Solicitud</a:t>
            </a:r>
            <a:endParaRPr lang="es-PE" sz="2000" dirty="0"/>
          </a:p>
        </p:txBody>
      </p:sp>
      <p:sp>
        <p:nvSpPr>
          <p:cNvPr id="11" name="Text 8"/>
          <p:cNvSpPr/>
          <p:nvPr/>
        </p:nvSpPr>
        <p:spPr>
          <a:xfrm>
            <a:off x="5349240" y="24140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Agrupa líneas de productos y cantidades.</a:t>
            </a:r>
            <a:endParaRPr lang="es-PE" sz="1800" dirty="0"/>
          </a:p>
        </p:txBody>
      </p:sp>
      <p:sp>
        <p:nvSpPr>
          <p:cNvPr id="12" name="Shape 9"/>
          <p:cNvSpPr/>
          <p:nvPr/>
        </p:nvSpPr>
        <p:spPr>
          <a:xfrm>
            <a:off x="9875520" y="1874520"/>
            <a:ext cx="4206240" cy="12344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12680" y="19659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Propuesta</a:t>
            </a:r>
            <a:endParaRPr lang="es-PE" sz="2000" dirty="0"/>
          </a:p>
        </p:txBody>
      </p:sp>
      <p:sp>
        <p:nvSpPr>
          <p:cNvPr id="14" name="Text 11"/>
          <p:cNvSpPr/>
          <p:nvPr/>
        </p:nvSpPr>
        <p:spPr>
          <a:xfrm>
            <a:off x="10012680" y="24140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Relaciona una necesidad con lotes aptos.</a:t>
            </a:r>
            <a:endParaRPr lang="es-PE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4251960"/>
            <a:ext cx="4206240" cy="12344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3434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Lote de stock</a:t>
            </a:r>
            <a:endParaRPr lang="es-PE" sz="2000" dirty="0"/>
          </a:p>
        </p:txBody>
      </p:sp>
      <p:sp>
        <p:nvSpPr>
          <p:cNvPr id="17" name="Text 14"/>
          <p:cNvSpPr/>
          <p:nvPr/>
        </p:nvSpPr>
        <p:spPr>
          <a:xfrm>
            <a:off x="685800" y="47914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Producto disponible en un almacén de ONG.</a:t>
            </a:r>
            <a:endParaRPr lang="es-PE" sz="1800" dirty="0"/>
          </a:p>
        </p:txBody>
      </p:sp>
      <p:sp>
        <p:nvSpPr>
          <p:cNvPr id="18" name="Shape 15"/>
          <p:cNvSpPr/>
          <p:nvPr/>
        </p:nvSpPr>
        <p:spPr>
          <a:xfrm>
            <a:off x="9875520" y="4251960"/>
            <a:ext cx="4206240" cy="12344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12680" y="43434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Autorización</a:t>
            </a:r>
            <a:endParaRPr lang="es-PE" sz="2000" dirty="0"/>
          </a:p>
        </p:txBody>
      </p:sp>
      <p:sp>
        <p:nvSpPr>
          <p:cNvPr id="20" name="Text 17"/>
          <p:cNvSpPr/>
          <p:nvPr/>
        </p:nvSpPr>
        <p:spPr>
          <a:xfrm>
            <a:off x="10012680" y="47914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Compromete el aporte aceptado.</a:t>
            </a:r>
            <a:endParaRPr lang="es-PE" sz="1800" dirty="0"/>
          </a:p>
        </p:txBody>
      </p:sp>
      <p:sp>
        <p:nvSpPr>
          <p:cNvPr id="21" name="Shape 18"/>
          <p:cNvSpPr/>
          <p:nvPr/>
        </p:nvSpPr>
        <p:spPr>
          <a:xfrm>
            <a:off x="5212080" y="6080760"/>
            <a:ext cx="4206240" cy="12344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49240" y="61722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Despacho</a:t>
            </a:r>
            <a:endParaRPr lang="es-PE" sz="2000" dirty="0"/>
          </a:p>
        </p:txBody>
      </p:sp>
      <p:sp>
        <p:nvSpPr>
          <p:cNvPr id="23" name="Text 20"/>
          <p:cNvSpPr/>
          <p:nvPr/>
        </p:nvSpPr>
        <p:spPr>
          <a:xfrm>
            <a:off x="5349240" y="66202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Representa la salida de un almacén.</a:t>
            </a:r>
            <a:endParaRPr lang="es-PE" sz="1800" dirty="0"/>
          </a:p>
        </p:txBody>
      </p:sp>
      <p:sp>
        <p:nvSpPr>
          <p:cNvPr id="24" name="Shape 21"/>
          <p:cNvSpPr/>
          <p:nvPr/>
        </p:nvSpPr>
        <p:spPr>
          <a:xfrm>
            <a:off x="548640" y="6080760"/>
            <a:ext cx="4206240" cy="12344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61722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Recepción</a:t>
            </a:r>
            <a:endParaRPr lang="es-PE" sz="2000" dirty="0"/>
          </a:p>
        </p:txBody>
      </p:sp>
      <p:sp>
        <p:nvSpPr>
          <p:cNvPr id="26" name="Text 23"/>
          <p:cNvSpPr/>
          <p:nvPr/>
        </p:nvSpPr>
        <p:spPr>
          <a:xfrm>
            <a:off x="685800" y="66202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 cantidad y condición recibidas.</a:t>
            </a:r>
            <a:endParaRPr lang="es-PE" sz="1800" dirty="0"/>
          </a:p>
        </p:txBody>
      </p:sp>
      <p:sp>
        <p:nvSpPr>
          <p:cNvPr id="27" name="Shape 24"/>
          <p:cNvSpPr/>
          <p:nvPr/>
        </p:nvSpPr>
        <p:spPr>
          <a:xfrm>
            <a:off x="4809744" y="2468880"/>
            <a:ext cx="338328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473184" y="2468880"/>
            <a:ext cx="338328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1978640" y="3172968"/>
            <a:ext cx="0" cy="1014984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 flipH="1">
            <a:off x="9482328" y="5212080"/>
            <a:ext cx="329184" cy="146304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 flipH="1">
            <a:off x="4809744" y="6675120"/>
            <a:ext cx="338328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 flipV="1">
            <a:off x="2651760" y="3584448"/>
            <a:ext cx="0" cy="603504"/>
          </a:xfrm>
          <a:prstGeom prst="line">
            <a:avLst/>
          </a:prstGeom>
          <a:noFill/>
          <a:ln w="17780">
            <a:solidFill>
              <a:srgbClr val="007F99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2651760" y="3584448"/>
            <a:ext cx="841248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dash"/>
          </a:ln>
        </p:spPr>
      </p:sp>
      <p:sp>
        <p:nvSpPr>
          <p:cNvPr id="34" name="Shape 31"/>
          <p:cNvSpPr/>
          <p:nvPr/>
        </p:nvSpPr>
        <p:spPr>
          <a:xfrm flipV="1">
            <a:off x="11064240" y="3172968"/>
            <a:ext cx="0" cy="411480"/>
          </a:xfrm>
          <a:prstGeom prst="line">
            <a:avLst/>
          </a:prstGeom>
          <a:noFill/>
          <a:ln w="17780">
            <a:solidFill>
              <a:srgbClr val="007F99"/>
            </a:solidFill>
            <a:prstDash val="dash"/>
            <a:tailEnd type="triangle"/>
          </a:ln>
        </p:spPr>
      </p:sp>
      <p:sp>
        <p:nvSpPr>
          <p:cNvPr id="35" name="Text 32"/>
          <p:cNvSpPr/>
          <p:nvPr/>
        </p:nvSpPr>
        <p:spPr>
          <a:xfrm>
            <a:off x="3657600" y="37033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lotes respaldan las líneas propuestas</a:t>
            </a:r>
            <a:endParaRPr lang="es-PE" sz="1700" dirty="0"/>
          </a:p>
        </p:txBody>
      </p:sp>
      <p:sp>
        <p:nvSpPr>
          <p:cNvPr id="36" name="Text 33"/>
          <p:cNvSpPr/>
          <p:nvPr/>
        </p:nvSpPr>
        <p:spPr>
          <a:xfrm>
            <a:off x="5212080" y="4297680"/>
            <a:ext cx="4343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emergencia contextualiza solicitudes.</a:t>
            </a:r>
            <a:endParaRPr lang="es-PE" sz="1900" dirty="0"/>
          </a:p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usuario mantiene rol y pertenencia.</a:t>
            </a:r>
            <a:endParaRPr lang="es-PE" sz="1900" dirty="0"/>
          </a:p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evaluación describe el riesgo,</a:t>
            </a:r>
            <a:endParaRPr lang="es-PE" sz="1900" dirty="0"/>
          </a:p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independiente de la atención.</a:t>
            </a:r>
            <a:endParaRPr lang="es-PE" sz="1900" dirty="0"/>
          </a:p>
        </p:txBody>
      </p:sp>
      <p:sp>
        <p:nvSpPr>
          <p:cNvPr id="37" name="Text 34"/>
          <p:cNvSpPr/>
          <p:nvPr/>
        </p:nvSpPr>
        <p:spPr>
          <a:xfrm>
            <a:off x="548640" y="7680960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solicitud admite aportes de distintas ONG; cada autorización origina despachos y cada despacho tiene su verificación.</a:t>
            </a:r>
            <a:endParaRPr lang="es-PE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ER: de la necesidad al lote propuesto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 1: una línea de matching conecta una línea solicitada con un lote concreto</a:t>
            </a:r>
            <a:endParaRPr lang="es-PE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353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5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PK: clave primaria UUID     FK: clave foránea interna     R: referencia lógica UUID     U: unicidad</a:t>
            </a:r>
            <a:endParaRPr lang="es-PE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1353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Línea continua: FK interna     Línea discontinua: referencia lógica</a:t>
            </a:r>
            <a:endParaRPr lang="es-PE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48840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18084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shelter.community</a:t>
            </a:r>
            <a:endParaRPr lang="es-PE" sz="1700" dirty="0"/>
          </a:p>
        </p:txBody>
      </p:sp>
      <p:sp>
        <p:nvSpPr>
          <p:cNvPr id="11" name="Text 8"/>
          <p:cNvSpPr/>
          <p:nvPr/>
        </p:nvSpPr>
        <p:spPr>
          <a:xfrm>
            <a:off x="658368" y="2651760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district_id</a:t>
            </a:r>
            <a:endParaRPr lang="es-PE" sz="1400" dirty="0"/>
          </a:p>
        </p:txBody>
      </p:sp>
      <p:sp>
        <p:nvSpPr>
          <p:cNvPr id="12" name="Shape 9"/>
          <p:cNvSpPr/>
          <p:nvPr/>
        </p:nvSpPr>
        <p:spPr>
          <a:xfrm>
            <a:off x="5532120" y="2148840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32120" y="2148840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41848" y="218084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shelter.request</a:t>
            </a:r>
            <a:endParaRPr lang="es-PE" sz="1700" dirty="0"/>
          </a:p>
        </p:txBody>
      </p:sp>
      <p:sp>
        <p:nvSpPr>
          <p:cNvPr id="15" name="Text 12"/>
          <p:cNvSpPr/>
          <p:nvPr/>
        </p:nvSpPr>
        <p:spPr>
          <a:xfrm>
            <a:off x="5641848" y="2651760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community_id · emergency_id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created_by_user_id</a:t>
            </a:r>
            <a:endParaRPr lang="es-PE" sz="1400" dirty="0"/>
          </a:p>
        </p:txBody>
      </p:sp>
      <p:sp>
        <p:nvSpPr>
          <p:cNvPr id="16" name="Shape 13"/>
          <p:cNvSpPr/>
          <p:nvPr/>
        </p:nvSpPr>
        <p:spPr>
          <a:xfrm>
            <a:off x="10515600" y="2148840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515600" y="2148840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25328" y="218084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inventory.matching</a:t>
            </a:r>
            <a:endParaRPr lang="es-PE" sz="1700" dirty="0"/>
          </a:p>
        </p:txBody>
      </p:sp>
      <p:sp>
        <p:nvSpPr>
          <p:cNvPr id="19" name="Text 16"/>
          <p:cNvSpPr/>
          <p:nvPr/>
        </p:nvSpPr>
        <p:spPr>
          <a:xfrm>
            <a:off x="10625328" y="2651760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request_id · ong_id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s-PE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160520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4160520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419252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inventory.warehouse</a:t>
            </a:r>
            <a:endParaRPr lang="es-PE" sz="1700" dirty="0"/>
          </a:p>
        </p:txBody>
      </p:sp>
      <p:sp>
        <p:nvSpPr>
          <p:cNvPr id="23" name="Text 20"/>
          <p:cNvSpPr/>
          <p:nvPr/>
        </p:nvSpPr>
        <p:spPr>
          <a:xfrm>
            <a:off x="658368" y="4663440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ong_id</a:t>
            </a:r>
            <a:endParaRPr lang="es-PE" sz="1400" dirty="0"/>
          </a:p>
        </p:txBody>
      </p:sp>
      <p:sp>
        <p:nvSpPr>
          <p:cNvPr id="24" name="Shape 21"/>
          <p:cNvSpPr/>
          <p:nvPr/>
        </p:nvSpPr>
        <p:spPr>
          <a:xfrm>
            <a:off x="5532120" y="4160520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32120" y="4160520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41848" y="419252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shelter.request_item</a:t>
            </a:r>
            <a:endParaRPr lang="es-PE" sz="1700" dirty="0"/>
          </a:p>
        </p:txBody>
      </p:sp>
      <p:sp>
        <p:nvSpPr>
          <p:cNvPr id="27" name="Text 24"/>
          <p:cNvSpPr/>
          <p:nvPr/>
        </p:nvSpPr>
        <p:spPr>
          <a:xfrm>
            <a:off x="5641848" y="4663440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request_id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product_id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requested_quantity</a:t>
            </a:r>
            <a:endParaRPr lang="es-PE" sz="1400" dirty="0"/>
          </a:p>
        </p:txBody>
      </p:sp>
      <p:sp>
        <p:nvSpPr>
          <p:cNvPr id="28" name="Shape 25"/>
          <p:cNvSpPr/>
          <p:nvPr/>
        </p:nvSpPr>
        <p:spPr>
          <a:xfrm>
            <a:off x="10515600" y="4160520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15600" y="4160520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625328" y="419252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inventory.matching_item</a:t>
            </a:r>
            <a:endParaRPr lang="es-PE" sz="1700" dirty="0"/>
          </a:p>
        </p:txBody>
      </p:sp>
      <p:sp>
        <p:nvSpPr>
          <p:cNvPr id="31" name="Text 28"/>
          <p:cNvSpPr/>
          <p:nvPr/>
        </p:nvSpPr>
        <p:spPr>
          <a:xfrm>
            <a:off x="10625328" y="4663440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matching_id · stock_id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request_item_id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proposed_quantity · confirmed_quantity</a:t>
            </a:r>
            <a:endParaRPr lang="es-PE" sz="1400" dirty="0"/>
          </a:p>
        </p:txBody>
      </p:sp>
      <p:sp>
        <p:nvSpPr>
          <p:cNvPr id="32" name="Shape 29"/>
          <p:cNvSpPr/>
          <p:nvPr/>
        </p:nvSpPr>
        <p:spPr>
          <a:xfrm>
            <a:off x="548640" y="6172200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6172200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" y="620420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inventory.product</a:t>
            </a:r>
            <a:endParaRPr lang="es-PE" sz="1700" dirty="0"/>
          </a:p>
        </p:txBody>
      </p:sp>
      <p:sp>
        <p:nvSpPr>
          <p:cNvPr id="35" name="Text 32"/>
          <p:cNvSpPr/>
          <p:nvPr/>
        </p:nvSpPr>
        <p:spPr>
          <a:xfrm>
            <a:off x="658368" y="6675120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category_id · unit_of_measure_id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delivery_multiple</a:t>
            </a:r>
            <a:endParaRPr lang="es-PE" sz="1400" dirty="0"/>
          </a:p>
        </p:txBody>
      </p:sp>
      <p:sp>
        <p:nvSpPr>
          <p:cNvPr id="36" name="Shape 33"/>
          <p:cNvSpPr/>
          <p:nvPr/>
        </p:nvSpPr>
        <p:spPr>
          <a:xfrm>
            <a:off x="5532120" y="6172200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532120" y="6172200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41848" y="620420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inventory.stock</a:t>
            </a:r>
            <a:endParaRPr lang="es-PE" sz="1700" dirty="0"/>
          </a:p>
        </p:txBody>
      </p:sp>
      <p:sp>
        <p:nvSpPr>
          <p:cNvPr id="39" name="Text 36"/>
          <p:cNvSpPr/>
          <p:nvPr/>
        </p:nvSpPr>
        <p:spPr>
          <a:xfrm>
            <a:off x="5641848" y="6675120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warehouse_id · product_id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physical_quantity · expires_on · status</a:t>
            </a:r>
            <a:endParaRPr lang="es-PE" sz="1400" dirty="0"/>
          </a:p>
        </p:txBody>
      </p:sp>
      <p:sp>
        <p:nvSpPr>
          <p:cNvPr id="40" name="Shape 37"/>
          <p:cNvSpPr/>
          <p:nvPr/>
        </p:nvSpPr>
        <p:spPr>
          <a:xfrm>
            <a:off x="10515600" y="6172200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515600" y="6172200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25328" y="620420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inventory.movement</a:t>
            </a:r>
            <a:endParaRPr lang="es-PE" sz="1700" dirty="0"/>
          </a:p>
        </p:txBody>
      </p:sp>
      <p:sp>
        <p:nvSpPr>
          <p:cNvPr id="43" name="Text 40"/>
          <p:cNvSpPr/>
          <p:nvPr/>
        </p:nvSpPr>
        <p:spPr>
          <a:xfrm>
            <a:off x="10625328" y="6675120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 · U operation_key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stock_id · R dispatch_id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actor_user_id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· quantity_delta · created_at</a:t>
            </a:r>
            <a:endParaRPr lang="es-PE" sz="1400" dirty="0"/>
          </a:p>
        </p:txBody>
      </p:sp>
      <p:sp>
        <p:nvSpPr>
          <p:cNvPr id="44" name="Shape 41"/>
          <p:cNvSpPr/>
          <p:nvPr/>
        </p:nvSpPr>
        <p:spPr>
          <a:xfrm>
            <a:off x="4114800" y="2880360"/>
            <a:ext cx="141732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151376" y="25877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46" name="Text 43"/>
          <p:cNvSpPr/>
          <p:nvPr/>
        </p:nvSpPr>
        <p:spPr>
          <a:xfrm>
            <a:off x="4892040" y="25877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47" name="Shape 44"/>
          <p:cNvSpPr/>
          <p:nvPr/>
        </p:nvSpPr>
        <p:spPr>
          <a:xfrm>
            <a:off x="9098280" y="2880360"/>
            <a:ext cx="141732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48" name="Text 45"/>
          <p:cNvSpPr/>
          <p:nvPr/>
        </p:nvSpPr>
        <p:spPr>
          <a:xfrm>
            <a:off x="9134856" y="25877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49" name="Text 46"/>
          <p:cNvSpPr/>
          <p:nvPr/>
        </p:nvSpPr>
        <p:spPr>
          <a:xfrm>
            <a:off x="9875520" y="25877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50" name="Shape 47"/>
          <p:cNvSpPr/>
          <p:nvPr/>
        </p:nvSpPr>
        <p:spPr>
          <a:xfrm>
            <a:off x="7315200" y="3657600"/>
            <a:ext cx="0" cy="50292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56832" y="36850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2" name="Text 49"/>
          <p:cNvSpPr/>
          <p:nvPr/>
        </p:nvSpPr>
        <p:spPr>
          <a:xfrm>
            <a:off x="7388352" y="38679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1..*</a:t>
            </a:r>
            <a:endParaRPr lang="es-PE" sz="1400" dirty="0"/>
          </a:p>
        </p:txBody>
      </p:sp>
      <p:sp>
        <p:nvSpPr>
          <p:cNvPr id="53" name="Shape 50"/>
          <p:cNvSpPr/>
          <p:nvPr/>
        </p:nvSpPr>
        <p:spPr>
          <a:xfrm>
            <a:off x="12298680" y="3657600"/>
            <a:ext cx="0" cy="50292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1640312" y="36850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5" name="Text 52"/>
          <p:cNvSpPr/>
          <p:nvPr/>
        </p:nvSpPr>
        <p:spPr>
          <a:xfrm>
            <a:off x="12371832" y="38679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1..*</a:t>
            </a:r>
            <a:endParaRPr lang="es-PE" sz="1400" dirty="0"/>
          </a:p>
        </p:txBody>
      </p:sp>
      <p:sp>
        <p:nvSpPr>
          <p:cNvPr id="56" name="Shape 53"/>
          <p:cNvSpPr/>
          <p:nvPr/>
        </p:nvSpPr>
        <p:spPr>
          <a:xfrm>
            <a:off x="9098280" y="4892040"/>
            <a:ext cx="141732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57" name="Text 54"/>
          <p:cNvSpPr/>
          <p:nvPr/>
        </p:nvSpPr>
        <p:spPr>
          <a:xfrm>
            <a:off x="9134856" y="45994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8" name="Text 55"/>
          <p:cNvSpPr/>
          <p:nvPr/>
        </p:nvSpPr>
        <p:spPr>
          <a:xfrm>
            <a:off x="9875520" y="45994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59" name="Shape 56"/>
          <p:cNvSpPr/>
          <p:nvPr/>
        </p:nvSpPr>
        <p:spPr>
          <a:xfrm>
            <a:off x="4114800" y="6903720"/>
            <a:ext cx="141732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151376" y="66111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61" name="Text 58"/>
          <p:cNvSpPr/>
          <p:nvPr/>
        </p:nvSpPr>
        <p:spPr>
          <a:xfrm>
            <a:off x="4892040" y="66111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62" name="Shape 59"/>
          <p:cNvSpPr/>
          <p:nvPr/>
        </p:nvSpPr>
        <p:spPr>
          <a:xfrm>
            <a:off x="4114800" y="6510528"/>
            <a:ext cx="64008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63" name="Shape 60"/>
          <p:cNvSpPr/>
          <p:nvPr/>
        </p:nvSpPr>
        <p:spPr>
          <a:xfrm flipV="1">
            <a:off x="4754880" y="5230368"/>
            <a:ext cx="0" cy="128016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64" name="Shape 61"/>
          <p:cNvSpPr/>
          <p:nvPr/>
        </p:nvSpPr>
        <p:spPr>
          <a:xfrm>
            <a:off x="4754880" y="5230368"/>
            <a:ext cx="77724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65" name="Text 62"/>
          <p:cNvSpPr/>
          <p:nvPr/>
        </p:nvSpPr>
        <p:spPr>
          <a:xfrm>
            <a:off x="4151376" y="62179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66" name="Text 63"/>
          <p:cNvSpPr/>
          <p:nvPr/>
        </p:nvSpPr>
        <p:spPr>
          <a:xfrm>
            <a:off x="4892040" y="4937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67" name="Shape 64"/>
          <p:cNvSpPr/>
          <p:nvPr/>
        </p:nvSpPr>
        <p:spPr>
          <a:xfrm>
            <a:off x="2331720" y="5669280"/>
            <a:ext cx="0" cy="256032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2331720" y="5925312"/>
            <a:ext cx="498348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315200" y="5925312"/>
            <a:ext cx="0" cy="246888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673352" y="56967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71" name="Text 68"/>
          <p:cNvSpPr/>
          <p:nvPr/>
        </p:nvSpPr>
        <p:spPr>
          <a:xfrm>
            <a:off x="7388352" y="58795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72" name="Shape 69"/>
          <p:cNvSpPr/>
          <p:nvPr/>
        </p:nvSpPr>
        <p:spPr>
          <a:xfrm flipV="1">
            <a:off x="8778240" y="5897880"/>
            <a:ext cx="0" cy="27432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778240" y="5897880"/>
            <a:ext cx="352044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 flipV="1">
            <a:off x="12298680" y="5669280"/>
            <a:ext cx="0" cy="22860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119872" y="58795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76" name="Text 73"/>
          <p:cNvSpPr/>
          <p:nvPr/>
        </p:nvSpPr>
        <p:spPr>
          <a:xfrm>
            <a:off x="12371832" y="56967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77" name="Shape 74"/>
          <p:cNvSpPr/>
          <p:nvPr/>
        </p:nvSpPr>
        <p:spPr>
          <a:xfrm>
            <a:off x="9098280" y="6903720"/>
            <a:ext cx="141732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9134856" y="66111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79" name="Text 76"/>
          <p:cNvSpPr/>
          <p:nvPr/>
        </p:nvSpPr>
        <p:spPr>
          <a:xfrm>
            <a:off x="9875520" y="66111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80" name="Text 77"/>
          <p:cNvSpPr/>
          <p:nvPr/>
        </p:nvSpPr>
        <p:spPr>
          <a:xfrm>
            <a:off x="548640" y="7836408"/>
            <a:ext cx="1353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UNIQUE(request_id, product_id); cantidades numeric(18,3); solicitado &gt; 0; lotes USABLE.</a:t>
            </a:r>
            <a:endParaRPr lang="es-PE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ER: cada salida y cada recepción conservan su detalle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 2: las referencias enlazan los módulos sin convertirlas en FK físicas entre schemas</a:t>
            </a:r>
            <a:endParaRPr lang="es-PE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353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5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PK: clave primaria UUID     FK: clave foránea interna     R: referencia lógica UUID     U: unicidad</a:t>
            </a:r>
            <a:endParaRPr lang="es-PE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1353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Línea continua: FK interna     Línea discontinua: referencia lógica</a:t>
            </a:r>
            <a:endParaRPr lang="es-PE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48840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18084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inventory.authorization</a:t>
            </a:r>
            <a:endParaRPr lang="es-PE" sz="1700" dirty="0"/>
          </a:p>
        </p:txBody>
      </p:sp>
      <p:sp>
        <p:nvSpPr>
          <p:cNvPr id="11" name="Text 8"/>
          <p:cNvSpPr/>
          <p:nvPr/>
        </p:nvSpPr>
        <p:spPr>
          <a:xfrm>
            <a:off x="658368" y="2651760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matching_id [U]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 operation_key</a:t>
            </a:r>
            <a:endParaRPr lang="es-PE" sz="1400" dirty="0"/>
          </a:p>
        </p:txBody>
      </p:sp>
      <p:sp>
        <p:nvSpPr>
          <p:cNvPr id="12" name="Shape 9"/>
          <p:cNvSpPr/>
          <p:nvPr/>
        </p:nvSpPr>
        <p:spPr>
          <a:xfrm>
            <a:off x="5532120" y="2148840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32120" y="2148840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41848" y="218084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logistics.dispatch</a:t>
            </a:r>
            <a:endParaRPr lang="es-PE" sz="1700" dirty="0"/>
          </a:p>
        </p:txBody>
      </p:sp>
      <p:sp>
        <p:nvSpPr>
          <p:cNvPr id="15" name="Text 12"/>
          <p:cNvSpPr/>
          <p:nvPr/>
        </p:nvSpPr>
        <p:spPr>
          <a:xfrm>
            <a:off x="5641848" y="2651760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authorization_id · warehouse_id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community_id · brigade_user_id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· withdrawn_at · arrived_at</a:t>
            </a:r>
            <a:endParaRPr lang="es-PE" sz="1400" dirty="0"/>
          </a:p>
        </p:txBody>
      </p:sp>
      <p:sp>
        <p:nvSpPr>
          <p:cNvPr id="16" name="Shape 13"/>
          <p:cNvSpPr/>
          <p:nvPr/>
        </p:nvSpPr>
        <p:spPr>
          <a:xfrm>
            <a:off x="10515600" y="2148840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515600" y="2148840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25328" y="218084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shelter.receipt</a:t>
            </a:r>
            <a:endParaRPr lang="es-PE" sz="1700" dirty="0"/>
          </a:p>
        </p:txBody>
      </p:sp>
      <p:sp>
        <p:nvSpPr>
          <p:cNvPr id="19" name="Text 16"/>
          <p:cNvSpPr/>
          <p:nvPr/>
        </p:nvSpPr>
        <p:spPr>
          <a:xfrm>
            <a:off x="10625328" y="2651760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request_id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dispatch_id [U]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· confirmed_at</a:t>
            </a:r>
            <a:endParaRPr lang="es-PE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187952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4187952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4219956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inventory.matching_item</a:t>
            </a:r>
            <a:endParaRPr lang="es-PE" sz="1700" dirty="0"/>
          </a:p>
        </p:txBody>
      </p:sp>
      <p:sp>
        <p:nvSpPr>
          <p:cNvPr id="23" name="Text 20"/>
          <p:cNvSpPr/>
          <p:nvPr/>
        </p:nvSpPr>
        <p:spPr>
          <a:xfrm>
            <a:off x="658368" y="4690872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confirmed_quantity</a:t>
            </a:r>
            <a:endParaRPr lang="es-PE" sz="1400" dirty="0"/>
          </a:p>
        </p:txBody>
      </p:sp>
      <p:sp>
        <p:nvSpPr>
          <p:cNvPr id="24" name="Shape 21"/>
          <p:cNvSpPr/>
          <p:nvPr/>
        </p:nvSpPr>
        <p:spPr>
          <a:xfrm>
            <a:off x="5532120" y="4187952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32120" y="4187952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41848" y="4219956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logistics.dispatch_item</a:t>
            </a:r>
            <a:endParaRPr lang="es-PE" sz="1700" dirty="0"/>
          </a:p>
        </p:txBody>
      </p:sp>
      <p:sp>
        <p:nvSpPr>
          <p:cNvPr id="27" name="Text 24"/>
          <p:cNvSpPr/>
          <p:nvPr/>
        </p:nvSpPr>
        <p:spPr>
          <a:xfrm>
            <a:off x="5641848" y="4690872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dispatch_id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matching_item_id [U]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authorized_quantity · withdrawn_quantity</a:t>
            </a:r>
            <a:endParaRPr lang="es-PE" sz="1400" dirty="0"/>
          </a:p>
        </p:txBody>
      </p:sp>
      <p:sp>
        <p:nvSpPr>
          <p:cNvPr id="28" name="Shape 25"/>
          <p:cNvSpPr/>
          <p:nvPr/>
        </p:nvSpPr>
        <p:spPr>
          <a:xfrm>
            <a:off x="10515600" y="4187952"/>
            <a:ext cx="356616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15600" y="4187952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625328" y="4219956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shelter.receipt_item</a:t>
            </a:r>
            <a:endParaRPr lang="es-PE" sz="1700" dirty="0"/>
          </a:p>
        </p:txBody>
      </p:sp>
      <p:sp>
        <p:nvSpPr>
          <p:cNvPr id="31" name="Text 28"/>
          <p:cNvSpPr/>
          <p:nvPr/>
        </p:nvSpPr>
        <p:spPr>
          <a:xfrm>
            <a:off x="10625328" y="4690872"/>
            <a:ext cx="33467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receipt_id · request_item_id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dispatch_item_id [U]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received_quantity · conforming_quantity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missing_quantity</a:t>
            </a:r>
            <a:endParaRPr lang="es-PE" sz="1400" dirty="0"/>
          </a:p>
        </p:txBody>
      </p:sp>
      <p:sp>
        <p:nvSpPr>
          <p:cNvPr id="32" name="Shape 29"/>
          <p:cNvSpPr/>
          <p:nvPr/>
        </p:nvSpPr>
        <p:spPr>
          <a:xfrm>
            <a:off x="548640" y="6199632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6199632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" y="6231636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logistics.route</a:t>
            </a:r>
            <a:endParaRPr lang="es-PE" sz="1700" dirty="0"/>
          </a:p>
        </p:txBody>
      </p:sp>
      <p:sp>
        <p:nvSpPr>
          <p:cNvPr id="35" name="Text 32"/>
          <p:cNvSpPr/>
          <p:nvPr/>
        </p:nvSpPr>
        <p:spPr>
          <a:xfrm>
            <a:off x="658368" y="6702552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dispatch_id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· verified_at</a:t>
            </a:r>
            <a:endParaRPr lang="es-PE" sz="1400" dirty="0"/>
          </a:p>
        </p:txBody>
      </p:sp>
      <p:sp>
        <p:nvSpPr>
          <p:cNvPr id="36" name="Shape 33"/>
          <p:cNvSpPr/>
          <p:nvPr/>
        </p:nvSpPr>
        <p:spPr>
          <a:xfrm>
            <a:off x="5532120" y="6199632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532120" y="6199632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41848" y="6231636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logistics.document</a:t>
            </a:r>
            <a:endParaRPr lang="es-PE" sz="1700" dirty="0"/>
          </a:p>
        </p:txBody>
      </p:sp>
      <p:sp>
        <p:nvSpPr>
          <p:cNvPr id="39" name="Text 36"/>
          <p:cNvSpPr/>
          <p:nvPr/>
        </p:nvSpPr>
        <p:spPr>
          <a:xfrm>
            <a:off x="5641848" y="6702552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 · FK dispatch_id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receipt_id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 (dispatch_id, type)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file_location · checksum</a:t>
            </a:r>
            <a:endParaRPr lang="es-PE" sz="1400" dirty="0"/>
          </a:p>
        </p:txBody>
      </p:sp>
      <p:sp>
        <p:nvSpPr>
          <p:cNvPr id="40" name="Shape 37"/>
          <p:cNvSpPr/>
          <p:nvPr/>
        </p:nvSpPr>
        <p:spPr>
          <a:xfrm>
            <a:off x="10515600" y="6199632"/>
            <a:ext cx="35661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515600" y="6199632"/>
            <a:ext cx="35661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25328" y="6231636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shelter.discrepancy_report</a:t>
            </a:r>
            <a:endParaRPr lang="es-PE" sz="1700" dirty="0"/>
          </a:p>
        </p:txBody>
      </p:sp>
      <p:sp>
        <p:nvSpPr>
          <p:cNvPr id="43" name="Text 40"/>
          <p:cNvSpPr/>
          <p:nvPr/>
        </p:nvSpPr>
        <p:spPr>
          <a:xfrm>
            <a:off x="10625328" y="6702552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receipt_id [U]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s-PE" sz="1400" dirty="0"/>
          </a:p>
        </p:txBody>
      </p:sp>
      <p:sp>
        <p:nvSpPr>
          <p:cNvPr id="44" name="Shape 41"/>
          <p:cNvSpPr/>
          <p:nvPr/>
        </p:nvSpPr>
        <p:spPr>
          <a:xfrm>
            <a:off x="4114800" y="2880360"/>
            <a:ext cx="141732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45" name="Text 42"/>
          <p:cNvSpPr/>
          <p:nvPr/>
        </p:nvSpPr>
        <p:spPr>
          <a:xfrm>
            <a:off x="4151376" y="25877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46" name="Text 43"/>
          <p:cNvSpPr/>
          <p:nvPr/>
        </p:nvSpPr>
        <p:spPr>
          <a:xfrm>
            <a:off x="4892040" y="25877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1..*</a:t>
            </a:r>
            <a:endParaRPr lang="es-PE" sz="1400" dirty="0"/>
          </a:p>
        </p:txBody>
      </p:sp>
      <p:sp>
        <p:nvSpPr>
          <p:cNvPr id="47" name="Shape 44"/>
          <p:cNvSpPr/>
          <p:nvPr/>
        </p:nvSpPr>
        <p:spPr>
          <a:xfrm>
            <a:off x="9098280" y="2880360"/>
            <a:ext cx="141732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48" name="Text 45"/>
          <p:cNvSpPr/>
          <p:nvPr/>
        </p:nvSpPr>
        <p:spPr>
          <a:xfrm>
            <a:off x="9134856" y="25877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49" name="Text 46"/>
          <p:cNvSpPr/>
          <p:nvPr/>
        </p:nvSpPr>
        <p:spPr>
          <a:xfrm>
            <a:off x="9875520" y="25877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0..1</a:t>
            </a:r>
            <a:endParaRPr lang="es-PE" sz="1400" dirty="0"/>
          </a:p>
        </p:txBody>
      </p:sp>
      <p:sp>
        <p:nvSpPr>
          <p:cNvPr id="50" name="Shape 47"/>
          <p:cNvSpPr/>
          <p:nvPr/>
        </p:nvSpPr>
        <p:spPr>
          <a:xfrm>
            <a:off x="4114800" y="4919472"/>
            <a:ext cx="141732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51" name="Text 48"/>
          <p:cNvSpPr/>
          <p:nvPr/>
        </p:nvSpPr>
        <p:spPr>
          <a:xfrm>
            <a:off x="4151376" y="462686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2" name="Text 49"/>
          <p:cNvSpPr/>
          <p:nvPr/>
        </p:nvSpPr>
        <p:spPr>
          <a:xfrm>
            <a:off x="4892040" y="462686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0..1</a:t>
            </a:r>
            <a:endParaRPr lang="es-PE" sz="1400" dirty="0"/>
          </a:p>
        </p:txBody>
      </p:sp>
      <p:sp>
        <p:nvSpPr>
          <p:cNvPr id="53" name="Shape 50"/>
          <p:cNvSpPr/>
          <p:nvPr/>
        </p:nvSpPr>
        <p:spPr>
          <a:xfrm>
            <a:off x="9098280" y="4919472"/>
            <a:ext cx="141732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54" name="Text 51"/>
          <p:cNvSpPr/>
          <p:nvPr/>
        </p:nvSpPr>
        <p:spPr>
          <a:xfrm>
            <a:off x="9134856" y="462686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5" name="Text 52"/>
          <p:cNvSpPr/>
          <p:nvPr/>
        </p:nvSpPr>
        <p:spPr>
          <a:xfrm>
            <a:off x="9875520" y="462686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0..1</a:t>
            </a:r>
            <a:endParaRPr lang="es-PE" sz="1400" dirty="0"/>
          </a:p>
        </p:txBody>
      </p:sp>
      <p:sp>
        <p:nvSpPr>
          <p:cNvPr id="56" name="Shape 53"/>
          <p:cNvSpPr/>
          <p:nvPr/>
        </p:nvSpPr>
        <p:spPr>
          <a:xfrm>
            <a:off x="7315200" y="3657600"/>
            <a:ext cx="0" cy="530352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656832" y="36850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8" name="Text 55"/>
          <p:cNvSpPr/>
          <p:nvPr/>
        </p:nvSpPr>
        <p:spPr>
          <a:xfrm>
            <a:off x="7388352" y="389534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1..*</a:t>
            </a:r>
            <a:endParaRPr lang="es-PE" sz="1400" dirty="0"/>
          </a:p>
        </p:txBody>
      </p:sp>
      <p:sp>
        <p:nvSpPr>
          <p:cNvPr id="59" name="Shape 56"/>
          <p:cNvSpPr/>
          <p:nvPr/>
        </p:nvSpPr>
        <p:spPr>
          <a:xfrm>
            <a:off x="12298680" y="3657600"/>
            <a:ext cx="0" cy="530352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1640312" y="36850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61" name="Text 58"/>
          <p:cNvSpPr/>
          <p:nvPr/>
        </p:nvSpPr>
        <p:spPr>
          <a:xfrm>
            <a:off x="12371832" y="389534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1..*</a:t>
            </a:r>
            <a:endParaRPr lang="es-PE" sz="1400" dirty="0"/>
          </a:p>
        </p:txBody>
      </p:sp>
      <p:sp>
        <p:nvSpPr>
          <p:cNvPr id="62" name="Shape 59"/>
          <p:cNvSpPr/>
          <p:nvPr/>
        </p:nvSpPr>
        <p:spPr>
          <a:xfrm>
            <a:off x="4581144" y="4864608"/>
            <a:ext cx="164592" cy="10972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flipH="1">
            <a:off x="4663440" y="3364992"/>
            <a:ext cx="86868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663440" y="3364992"/>
            <a:ext cx="0" cy="356616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flipH="1">
            <a:off x="4114800" y="6931152"/>
            <a:ext cx="54864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892040" y="30723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67" name="Text 64"/>
          <p:cNvSpPr/>
          <p:nvPr/>
        </p:nvSpPr>
        <p:spPr>
          <a:xfrm>
            <a:off x="4169664" y="663854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68" name="Shape 65"/>
          <p:cNvSpPr/>
          <p:nvPr/>
        </p:nvSpPr>
        <p:spPr>
          <a:xfrm>
            <a:off x="14081760" y="3383280"/>
            <a:ext cx="27432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4356080" y="3383280"/>
            <a:ext cx="0" cy="3547872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 flipH="1">
            <a:off x="14081760" y="6931152"/>
            <a:ext cx="27432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4118336" y="30906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72" name="Text 69"/>
          <p:cNvSpPr/>
          <p:nvPr/>
        </p:nvSpPr>
        <p:spPr>
          <a:xfrm>
            <a:off x="14136624" y="663854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0..1</a:t>
            </a:r>
            <a:endParaRPr lang="es-PE" sz="1400" dirty="0"/>
          </a:p>
        </p:txBody>
      </p:sp>
      <p:sp>
        <p:nvSpPr>
          <p:cNvPr id="73" name="Text 70"/>
          <p:cNvSpPr/>
          <p:nvPr/>
        </p:nvSpPr>
        <p:spPr>
          <a:xfrm>
            <a:off x="548640" y="7827264"/>
            <a:ext cx="1353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Ruta: route_segment vincula route y road mediante FK; UNIQUE(route_id, sequence) conserva el orden.</a:t>
            </a:r>
            <a:endParaRPr lang="es-PE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ER: identidad y evidencia territorial tienen reglas propias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 3: titularidad, auditoría e historial de riesgo; PK UUID y las mismas convenciones de las vistas previas</a:t>
            </a:r>
            <a:endParaRPr lang="es-PE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10896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2011680"/>
            <a:ext cx="31089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043684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identity.user</a:t>
            </a:r>
            <a:endParaRPr lang="es-PE" sz="1700" dirty="0"/>
          </a:p>
        </p:txBody>
      </p:sp>
      <p:sp>
        <p:nvSpPr>
          <p:cNvPr id="9" name="Text 6"/>
          <p:cNvSpPr/>
          <p:nvPr/>
        </p:nvSpPr>
        <p:spPr>
          <a:xfrm>
            <a:off x="658368" y="2514600"/>
            <a:ext cx="28895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 · U email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ong_id [U] · brigade_id [U]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community_id [U]</a:t>
            </a:r>
            <a:endParaRPr lang="es-PE" sz="140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283464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3400" y="2011680"/>
            <a:ext cx="283464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53128" y="204368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identity.audit_event</a:t>
            </a:r>
            <a:endParaRPr lang="es-PE" sz="1700" dirty="0"/>
          </a:p>
        </p:txBody>
      </p:sp>
      <p:sp>
        <p:nvSpPr>
          <p:cNvPr id="13" name="Text 10"/>
          <p:cNvSpPr/>
          <p:nvPr/>
        </p:nvSpPr>
        <p:spPr>
          <a:xfrm>
            <a:off x="4453128" y="2514600"/>
            <a:ext cx="26151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 · U operation_key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actor_user_id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object_id · action · occurred_at</a:t>
            </a:r>
            <a:endParaRPr lang="es-PE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681728"/>
            <a:ext cx="31089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4681728"/>
            <a:ext cx="31089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471373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identity.ong</a:t>
            </a:r>
            <a:endParaRPr lang="es-PE" sz="1700" dirty="0"/>
          </a:p>
        </p:txBody>
      </p:sp>
      <p:sp>
        <p:nvSpPr>
          <p:cNvPr id="17" name="Text 14"/>
          <p:cNvSpPr/>
          <p:nvPr/>
        </p:nvSpPr>
        <p:spPr>
          <a:xfrm>
            <a:off x="658368" y="5184648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 · name</a:t>
            </a:r>
            <a:endParaRPr lang="es-PE" sz="1400" dirty="0"/>
          </a:p>
        </p:txBody>
      </p:sp>
      <p:sp>
        <p:nvSpPr>
          <p:cNvPr id="18" name="Shape 15"/>
          <p:cNvSpPr/>
          <p:nvPr/>
        </p:nvSpPr>
        <p:spPr>
          <a:xfrm>
            <a:off x="4343400" y="4681728"/>
            <a:ext cx="28346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43400" y="4681728"/>
            <a:ext cx="283464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3128" y="471373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identity.brigade</a:t>
            </a:r>
            <a:endParaRPr lang="es-PE" sz="1700" dirty="0"/>
          </a:p>
        </p:txBody>
      </p:sp>
      <p:sp>
        <p:nvSpPr>
          <p:cNvPr id="21" name="Text 18"/>
          <p:cNvSpPr/>
          <p:nvPr/>
        </p:nvSpPr>
        <p:spPr>
          <a:xfrm>
            <a:off x="4453128" y="5184648"/>
            <a:ext cx="26151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 · name</a:t>
            </a:r>
            <a:endParaRPr lang="es-PE" sz="1400" dirty="0"/>
          </a:p>
        </p:txBody>
      </p:sp>
      <p:sp>
        <p:nvSpPr>
          <p:cNvPr id="22" name="Shape 19"/>
          <p:cNvSpPr/>
          <p:nvPr/>
        </p:nvSpPr>
        <p:spPr>
          <a:xfrm>
            <a:off x="3657600" y="2816352"/>
            <a:ext cx="68580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75888" y="2523744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: 0..*</a:t>
            </a:r>
            <a:endParaRPr lang="es-PE" sz="1400" dirty="0"/>
          </a:p>
        </p:txBody>
      </p:sp>
      <p:sp>
        <p:nvSpPr>
          <p:cNvPr id="24" name="Shape 21"/>
          <p:cNvSpPr/>
          <p:nvPr/>
        </p:nvSpPr>
        <p:spPr>
          <a:xfrm flipV="1">
            <a:off x="2103120" y="3749040"/>
            <a:ext cx="0" cy="932688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44752" y="43891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26" name="Text 23"/>
          <p:cNvSpPr/>
          <p:nvPr/>
        </p:nvSpPr>
        <p:spPr>
          <a:xfrm>
            <a:off x="2176272" y="3776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0..1</a:t>
            </a:r>
            <a:endParaRPr lang="es-PE" sz="1400" dirty="0"/>
          </a:p>
        </p:txBody>
      </p:sp>
      <p:sp>
        <p:nvSpPr>
          <p:cNvPr id="27" name="Shape 24"/>
          <p:cNvSpPr/>
          <p:nvPr/>
        </p:nvSpPr>
        <p:spPr>
          <a:xfrm flipV="1">
            <a:off x="5760720" y="4242816"/>
            <a:ext cx="0" cy="438912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>
            <a:off x="3200400" y="4242816"/>
            <a:ext cx="256032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3200400" y="3749040"/>
            <a:ext cx="0" cy="493776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02352" y="43891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31" name="Text 28"/>
          <p:cNvSpPr/>
          <p:nvPr/>
        </p:nvSpPr>
        <p:spPr>
          <a:xfrm>
            <a:off x="3273552" y="3776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0..1</a:t>
            </a:r>
            <a:endParaRPr lang="es-PE" sz="1400" dirty="0"/>
          </a:p>
        </p:txBody>
      </p:sp>
      <p:sp>
        <p:nvSpPr>
          <p:cNvPr id="32" name="Shape 29"/>
          <p:cNvSpPr/>
          <p:nvPr/>
        </p:nvSpPr>
        <p:spPr>
          <a:xfrm>
            <a:off x="7772400" y="2011680"/>
            <a:ext cx="25603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0" y="2011680"/>
            <a:ext cx="256032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82128" y="2043684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shelter.community</a:t>
            </a:r>
            <a:endParaRPr lang="es-PE" sz="1700" dirty="0"/>
          </a:p>
        </p:txBody>
      </p:sp>
      <p:sp>
        <p:nvSpPr>
          <p:cNvPr id="35" name="Text 32"/>
          <p:cNvSpPr/>
          <p:nvPr/>
        </p:nvSpPr>
        <p:spPr>
          <a:xfrm>
            <a:off x="7882128" y="2514600"/>
            <a:ext cx="2340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</p:txBody>
      </p:sp>
      <p:sp>
        <p:nvSpPr>
          <p:cNvPr id="36" name="Shape 33"/>
          <p:cNvSpPr/>
          <p:nvPr/>
        </p:nvSpPr>
        <p:spPr>
          <a:xfrm>
            <a:off x="10972800" y="2011680"/>
            <a:ext cx="3108960" cy="1938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972800" y="2011680"/>
            <a:ext cx="310896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082528" y="2043684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territory.risk</a:t>
            </a:r>
            <a:endParaRPr lang="es-PE" sz="1700" dirty="0"/>
          </a:p>
        </p:txBody>
      </p:sp>
      <p:sp>
        <p:nvSpPr>
          <p:cNvPr id="39" name="Text 36"/>
          <p:cNvSpPr/>
          <p:nvPr/>
        </p:nvSpPr>
        <p:spPr>
          <a:xfrm>
            <a:off x="11082528" y="2514600"/>
            <a:ext cx="288950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community_id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catastrophe_id · catastrophe_level_id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observation_id (opcional)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· assessed_at</a:t>
            </a:r>
            <a:endParaRPr lang="es-PE" sz="1400" dirty="0"/>
          </a:p>
        </p:txBody>
      </p:sp>
      <p:sp>
        <p:nvSpPr>
          <p:cNvPr id="40" name="Shape 37"/>
          <p:cNvSpPr/>
          <p:nvPr/>
        </p:nvSpPr>
        <p:spPr>
          <a:xfrm>
            <a:off x="7772400" y="4681728"/>
            <a:ext cx="283464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772400" y="4681728"/>
            <a:ext cx="283464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82128" y="471373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territory.observation</a:t>
            </a:r>
            <a:endParaRPr lang="es-PE" sz="1700" dirty="0"/>
          </a:p>
        </p:txBody>
      </p:sp>
      <p:sp>
        <p:nvSpPr>
          <p:cNvPr id="43" name="Text 40"/>
          <p:cNvSpPr/>
          <p:nvPr/>
        </p:nvSpPr>
        <p:spPr>
          <a:xfrm>
            <a:off x="7882128" y="5184648"/>
            <a:ext cx="26151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· external_id · certainty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observed_at · ingested_at</a:t>
            </a:r>
            <a:endParaRPr lang="es-PE" sz="1400" dirty="0"/>
          </a:p>
        </p:txBody>
      </p:sp>
      <p:sp>
        <p:nvSpPr>
          <p:cNvPr id="44" name="Shape 41"/>
          <p:cNvSpPr/>
          <p:nvPr/>
        </p:nvSpPr>
        <p:spPr>
          <a:xfrm>
            <a:off x="11247120" y="4681728"/>
            <a:ext cx="283464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1247120" y="4681728"/>
            <a:ext cx="2834640" cy="38404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1356848" y="471373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territory.catastrophe</a:t>
            </a:r>
            <a:endParaRPr lang="es-PE" sz="1700" dirty="0"/>
          </a:p>
        </p:txBody>
      </p:sp>
      <p:sp>
        <p:nvSpPr>
          <p:cNvPr id="47" name="Text 44"/>
          <p:cNvSpPr/>
          <p:nvPr/>
        </p:nvSpPr>
        <p:spPr>
          <a:xfrm>
            <a:off x="11356848" y="5184648"/>
            <a:ext cx="26151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id · U code</a:t>
            </a:r>
            <a:endParaRPr lang="es-PE" sz="1400" dirty="0"/>
          </a:p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endParaRPr lang="es-PE" sz="1400" dirty="0"/>
          </a:p>
        </p:txBody>
      </p:sp>
      <p:sp>
        <p:nvSpPr>
          <p:cNvPr id="48" name="Shape 45"/>
          <p:cNvSpPr/>
          <p:nvPr/>
        </p:nvSpPr>
        <p:spPr>
          <a:xfrm>
            <a:off x="10332720" y="2560320"/>
            <a:ext cx="640080" cy="0"/>
          </a:xfrm>
          <a:prstGeom prst="line">
            <a:avLst/>
          </a:prstGeom>
          <a:noFill/>
          <a:ln w="16510">
            <a:solidFill>
              <a:srgbClr val="007F99"/>
            </a:solidFill>
            <a:prstDash val="dash"/>
          </a:ln>
        </p:spPr>
      </p:sp>
      <p:sp>
        <p:nvSpPr>
          <p:cNvPr id="49" name="Text 46"/>
          <p:cNvSpPr/>
          <p:nvPr/>
        </p:nvSpPr>
        <p:spPr>
          <a:xfrm>
            <a:off x="10351008" y="226771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: 0..*</a:t>
            </a:r>
            <a:endParaRPr lang="es-PE" sz="1400" dirty="0"/>
          </a:p>
        </p:txBody>
      </p:sp>
      <p:sp>
        <p:nvSpPr>
          <p:cNvPr id="50" name="Shape 47"/>
          <p:cNvSpPr/>
          <p:nvPr/>
        </p:nvSpPr>
        <p:spPr>
          <a:xfrm flipV="1">
            <a:off x="12664440" y="3950208"/>
            <a:ext cx="0" cy="731520"/>
          </a:xfrm>
          <a:prstGeom prst="line">
            <a:avLst/>
          </a:prstGeom>
          <a:noFill/>
          <a:ln w="16510">
            <a:solidFill>
              <a:srgbClr val="007F9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006072" y="43891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52" name="Text 49"/>
          <p:cNvSpPr/>
          <p:nvPr/>
        </p:nvSpPr>
        <p:spPr>
          <a:xfrm>
            <a:off x="12737592" y="39776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0..*</a:t>
            </a:r>
            <a:endParaRPr lang="es-PE" sz="1400" dirty="0"/>
          </a:p>
        </p:txBody>
      </p:sp>
      <p:sp>
        <p:nvSpPr>
          <p:cNvPr id="53" name="Shape 50"/>
          <p:cNvSpPr/>
          <p:nvPr/>
        </p:nvSpPr>
        <p:spPr>
          <a:xfrm flipV="1">
            <a:off x="9189720" y="4251960"/>
            <a:ext cx="0" cy="429768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189720" y="4251960"/>
            <a:ext cx="224028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V="1">
            <a:off x="11430000" y="3950208"/>
            <a:ext cx="0" cy="301752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72400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opcional de sustento</a:t>
            </a:r>
            <a:endParaRPr lang="es-PE" sz="1400" dirty="0"/>
          </a:p>
        </p:txBody>
      </p:sp>
      <p:sp>
        <p:nvSpPr>
          <p:cNvPr id="57" name="Text 54"/>
          <p:cNvSpPr/>
          <p:nvPr/>
        </p:nvSpPr>
        <p:spPr>
          <a:xfrm>
            <a:off x="548640" y="641908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Permisos verificables</a:t>
            </a:r>
            <a:endParaRPr lang="es-PE" sz="2200" dirty="0"/>
          </a:p>
        </p:txBody>
      </p:sp>
      <p:sp>
        <p:nvSpPr>
          <p:cNvPr id="58" name="Text 55"/>
          <p:cNvSpPr/>
          <p:nvPr/>
        </p:nvSpPr>
        <p:spPr>
          <a:xfrm>
            <a:off x="548640" y="6940296"/>
            <a:ext cx="6583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según rol y pertenencias únicas. La auditoría agrega eventos; una corrección no borra la historia.</a:t>
            </a:r>
            <a:endParaRPr lang="es-PE" sz="1800" dirty="0"/>
          </a:p>
        </p:txBody>
      </p:sp>
      <p:sp>
        <p:nvSpPr>
          <p:cNvPr id="59" name="Text 56"/>
          <p:cNvSpPr/>
          <p:nvPr/>
        </p:nvSpPr>
        <p:spPr>
          <a:xfrm>
            <a:off x="7772400" y="641908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Evidencia fechada</a:t>
            </a:r>
            <a:endParaRPr lang="es-PE" sz="2200" dirty="0"/>
          </a:p>
        </p:txBody>
      </p:sp>
      <p:sp>
        <p:nvSpPr>
          <p:cNvPr id="60" name="Text 57"/>
          <p:cNvSpPr/>
          <p:nvPr/>
        </p:nvSpPr>
        <p:spPr>
          <a:xfrm>
            <a:off x="7772400" y="6940296"/>
            <a:ext cx="6309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UNIQUE(source, external_id) evita duplicados cuando hay ID de origen. El nivel se toma del catálogo catastrophe_level.</a:t>
            </a:r>
            <a:endParaRPr lang="es-PE" sz="1800" dirty="0"/>
          </a:p>
        </p:txBody>
      </p:sp>
      <p:sp>
        <p:nvSpPr>
          <p:cNvPr id="61" name="Text 58"/>
          <p:cNvSpPr/>
          <p:nvPr/>
        </p:nvSpPr>
        <p:spPr>
          <a:xfrm>
            <a:off x="548640" y="7680960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informe final se conserva en shelter.final_report: emergency_id y operation_key únicos, snapshot inmutable al cierre.</a:t>
            </a:r>
            <a:endParaRPr lang="es-PE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transaccional del inventario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Disponibilidad = stock físico utilizable − compromisos autorizados pendientes de retiro</a:t>
            </a:r>
            <a:endParaRPr lang="es-PE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Operación</a:t>
            </a:r>
            <a:endParaRPr lang="es-PE" sz="1900" dirty="0"/>
          </a:p>
        </p:txBody>
      </p:sp>
      <p:sp>
        <p:nvSpPr>
          <p:cNvPr id="7" name="Text 4"/>
          <p:cNvSpPr/>
          <p:nvPr/>
        </p:nvSpPr>
        <p:spPr>
          <a:xfrm>
            <a:off x="297180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Escrituras atómicas</a:t>
            </a:r>
            <a:endParaRPr lang="es-PE" sz="1900" dirty="0"/>
          </a:p>
        </p:txBody>
      </p:sp>
      <p:sp>
        <p:nvSpPr>
          <p:cNvPr id="8" name="Text 5"/>
          <p:cNvSpPr/>
          <p:nvPr/>
        </p:nvSpPr>
        <p:spPr>
          <a:xfrm>
            <a:off x="667512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Invariante</a:t>
            </a:r>
            <a:endParaRPr lang="es-PE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2368296"/>
            <a:ext cx="891540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48716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Autorizar</a:t>
            </a:r>
            <a:endParaRPr lang="es-PE" sz="2000" dirty="0"/>
          </a:p>
        </p:txBody>
      </p:sp>
      <p:sp>
        <p:nvSpPr>
          <p:cNvPr id="11" name="Text 8"/>
          <p:cNvSpPr/>
          <p:nvPr/>
        </p:nvSpPr>
        <p:spPr>
          <a:xfrm>
            <a:off x="2971800" y="248716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Revalidar lotes y demanda; registrar autorización y compromiso.</a:t>
            </a:r>
            <a:endParaRPr lang="es-PE" sz="2000" dirty="0"/>
          </a:p>
        </p:txBody>
      </p:sp>
      <p:sp>
        <p:nvSpPr>
          <p:cNvPr id="12" name="Text 9"/>
          <p:cNvSpPr/>
          <p:nvPr/>
        </p:nvSpPr>
        <p:spPr>
          <a:xfrm>
            <a:off x="6675120" y="248716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Comprometido ≤ físico utilizable.</a:t>
            </a:r>
            <a:endParaRPr lang="es-PE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3630168"/>
            <a:ext cx="891540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749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Retirar</a:t>
            </a:r>
            <a:endParaRPr lang="es-PE" sz="2000" dirty="0"/>
          </a:p>
        </p:txBody>
      </p:sp>
      <p:sp>
        <p:nvSpPr>
          <p:cNvPr id="15" name="Text 12"/>
          <p:cNvSpPr/>
          <p:nvPr/>
        </p:nvSpPr>
        <p:spPr>
          <a:xfrm>
            <a:off x="2971800" y="3749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movimiento WITHDRAWAL y transición WITHDRAWN.</a:t>
            </a:r>
            <a:endParaRPr lang="es-PE" sz="2000" dirty="0"/>
          </a:p>
        </p:txBody>
      </p:sp>
      <p:sp>
        <p:nvSpPr>
          <p:cNvPr id="16" name="Text 13"/>
          <p:cNvSpPr/>
          <p:nvPr/>
        </p:nvSpPr>
        <p:spPr>
          <a:xfrm>
            <a:off x="6675120" y="3749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descuento físico por operación.</a:t>
            </a:r>
            <a:endParaRPr lang="es-PE" sz="2000" dirty="0"/>
          </a:p>
        </p:txBody>
      </p:sp>
      <p:sp>
        <p:nvSpPr>
          <p:cNvPr id="17" name="Shape 14"/>
          <p:cNvSpPr/>
          <p:nvPr/>
        </p:nvSpPr>
        <p:spPr>
          <a:xfrm>
            <a:off x="548640" y="4892040"/>
            <a:ext cx="8915400" cy="0"/>
          </a:xfrm>
          <a:prstGeom prst="line">
            <a:avLst/>
          </a:prstGeom>
          <a:noFill/>
          <a:ln w="10160">
            <a:solidFill>
              <a:srgbClr val="D6E3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501091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Recepcionar</a:t>
            </a:r>
            <a:endParaRPr lang="es-PE" sz="2000" dirty="0"/>
          </a:p>
        </p:txBody>
      </p:sp>
      <p:sp>
        <p:nvSpPr>
          <p:cNvPr id="19" name="Text 16"/>
          <p:cNvSpPr/>
          <p:nvPr/>
        </p:nvSpPr>
        <p:spPr>
          <a:xfrm>
            <a:off x="2971800" y="501091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cabecera, líneas y discrepancias conjuntamente.</a:t>
            </a:r>
            <a:endParaRPr lang="es-PE" sz="2000" dirty="0"/>
          </a:p>
        </p:txBody>
      </p:sp>
      <p:sp>
        <p:nvSpPr>
          <p:cNvPr id="20" name="Text 17"/>
          <p:cNvSpPr/>
          <p:nvPr/>
        </p:nvSpPr>
        <p:spPr>
          <a:xfrm>
            <a:off x="6675120" y="501091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≤ conforme</a:t>
            </a:r>
            <a:endParaRPr lang="es-PE" sz="2000" dirty="0"/>
          </a:p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 recibida ≤ enviada.</a:t>
            </a:r>
            <a:endParaRPr lang="es-PE" sz="2000" dirty="0"/>
          </a:p>
        </p:txBody>
      </p:sp>
      <p:sp>
        <p:nvSpPr>
          <p:cNvPr id="21" name="Shape 18"/>
          <p:cNvSpPr/>
          <p:nvPr/>
        </p:nvSpPr>
        <p:spPr>
          <a:xfrm>
            <a:off x="9875520" y="1783080"/>
            <a:ext cx="0" cy="5303520"/>
          </a:xfrm>
          <a:prstGeom prst="line">
            <a:avLst/>
          </a:prstGeom>
          <a:noFill/>
          <a:ln w="12700">
            <a:solidFill>
              <a:srgbClr val="D6E3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87000" y="18288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Concurrencia</a:t>
            </a:r>
            <a:endParaRPr lang="es-PE" sz="2200" dirty="0"/>
          </a:p>
        </p:txBody>
      </p:sp>
      <p:sp>
        <p:nvSpPr>
          <p:cNvPr id="23" name="Text 20"/>
          <p:cNvSpPr/>
          <p:nvPr/>
        </p:nvSpPr>
        <p:spPr>
          <a:xfrm>
            <a:off x="10287000" y="2350008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Bloqueo de filas o SERIALIZABLE</a:t>
            </a:r>
            <a:endParaRPr lang="es-PE" sz="1900" dirty="0"/>
          </a:p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reintentos impide exceder</a:t>
            </a:r>
            <a:endParaRPr lang="es-PE" sz="1900" dirty="0"/>
          </a:p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stock utilizable.</a:t>
            </a:r>
            <a:endParaRPr lang="es-PE" sz="1900" dirty="0"/>
          </a:p>
        </p:txBody>
      </p:sp>
      <p:sp>
        <p:nvSpPr>
          <p:cNvPr id="24" name="Text 21"/>
          <p:cNvSpPr/>
          <p:nvPr/>
        </p:nvSpPr>
        <p:spPr>
          <a:xfrm>
            <a:off x="10287000" y="3703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Idempotencia</a:t>
            </a:r>
            <a:endParaRPr lang="es-PE" sz="2200" dirty="0"/>
          </a:p>
        </p:txBody>
      </p:sp>
      <p:sp>
        <p:nvSpPr>
          <p:cNvPr id="25" name="Text 22"/>
          <p:cNvSpPr/>
          <p:nvPr/>
        </p:nvSpPr>
        <p:spPr>
          <a:xfrm>
            <a:off x="10287000" y="4224528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Misma clave y contenido: resultado previo. Misma clave y datos distintos: conflicto 409.</a:t>
            </a:r>
            <a:endParaRPr lang="es-PE" sz="1900" dirty="0"/>
          </a:p>
        </p:txBody>
      </p:sp>
      <p:sp>
        <p:nvSpPr>
          <p:cNvPr id="26" name="Text 23"/>
          <p:cNvSpPr/>
          <p:nvPr/>
        </p:nvSpPr>
        <p:spPr>
          <a:xfrm>
            <a:off x="10287000" y="55778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Trazabilidad</a:t>
            </a:r>
            <a:endParaRPr lang="es-PE" sz="2200" dirty="0"/>
          </a:p>
        </p:txBody>
      </p:sp>
      <p:sp>
        <p:nvSpPr>
          <p:cNvPr id="27" name="Text 24"/>
          <p:cNvSpPr/>
          <p:nvPr/>
        </p:nvSpPr>
        <p:spPr>
          <a:xfrm>
            <a:off x="10287000" y="6099048"/>
            <a:ext cx="3794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Actor, fecha y cambios se auditan</a:t>
            </a:r>
            <a:endParaRPr lang="es-PE" sz="1900" dirty="0"/>
          </a:p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transacción. Se conserva</a:t>
            </a:r>
            <a:endParaRPr lang="es-PE" sz="1900" dirty="0"/>
          </a:p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historial de discrepancias.</a:t>
            </a:r>
            <a:endParaRPr lang="es-PE" sz="1900" dirty="0"/>
          </a:p>
        </p:txBody>
      </p:sp>
      <p:sp>
        <p:nvSpPr>
          <p:cNvPr id="28" name="Text 25"/>
          <p:cNvSpPr/>
          <p:nvPr/>
        </p:nvSpPr>
        <p:spPr>
          <a:xfrm>
            <a:off x="548640" y="6620256"/>
            <a:ext cx="8915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 secundario: 80 físicos y 70 comprometidos dejan 10 disponibles; al retirar 70 quedan 10 físicos y cero comprometidos.</a:t>
            </a:r>
            <a:endParaRPr lang="es-PE" sz="1800" dirty="0"/>
          </a:p>
        </p:txBody>
      </p:sp>
      <p:sp>
        <p:nvSpPr>
          <p:cNvPr id="29" name="Text 26"/>
          <p:cNvSpPr/>
          <p:nvPr/>
        </p:nvSpPr>
        <p:spPr>
          <a:xfrm>
            <a:off x="548640" y="7680960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documentos se generan fuera de la transacción principal; un fallo permite reintentar sin revertir la recepción.</a:t>
            </a:r>
            <a:endParaRPr lang="es-PE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aplicación modular separa reglas y tecnología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Monolito modular NestJS en capas: simplifica desarrollo y despliegue, manteniendo límites funcionales</a:t>
            </a:r>
            <a:endParaRPr lang="es-PE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657600" cy="164592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9202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Next.js / React</a:t>
            </a:r>
            <a:endParaRPr lang="es-PE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2368296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Navegación por rol, formularios, mapas y estados visibles.</a:t>
            </a:r>
            <a:endParaRPr lang="es-PE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3977640"/>
            <a:ext cx="3657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interfaz no determina permisos ni saldos definitivos.</a:t>
            </a:r>
            <a:endParaRPr lang="es-PE" sz="2100" dirty="0"/>
          </a:p>
        </p:txBody>
      </p:sp>
      <p:sp>
        <p:nvSpPr>
          <p:cNvPr id="10" name="Shape 7"/>
          <p:cNvSpPr/>
          <p:nvPr/>
        </p:nvSpPr>
        <p:spPr>
          <a:xfrm>
            <a:off x="4892040" y="1728216"/>
            <a:ext cx="9189720" cy="5358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93208" y="189280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3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NestJS · Una aplicación</a:t>
            </a:r>
            <a:endParaRPr lang="es-PE" sz="2300" dirty="0"/>
          </a:p>
        </p:txBody>
      </p:sp>
      <p:sp>
        <p:nvSpPr>
          <p:cNvPr id="12" name="Shape 9"/>
          <p:cNvSpPr/>
          <p:nvPr/>
        </p:nvSpPr>
        <p:spPr>
          <a:xfrm>
            <a:off x="5120640" y="2606040"/>
            <a:ext cx="87325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57800" y="2697480"/>
            <a:ext cx="8458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Presentación / API</a:t>
            </a:r>
            <a:endParaRPr lang="es-PE" sz="2000" dirty="0"/>
          </a:p>
        </p:txBody>
      </p:sp>
      <p:sp>
        <p:nvSpPr>
          <p:cNvPr id="14" name="Text 11"/>
          <p:cNvSpPr/>
          <p:nvPr/>
        </p:nvSpPr>
        <p:spPr>
          <a:xfrm>
            <a:off x="5257800" y="3145536"/>
            <a:ext cx="8458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 DTO, sesión, rol y titularidad; traduce resultados a HTTP.</a:t>
            </a:r>
            <a:endParaRPr lang="es-PE" sz="1800" dirty="0"/>
          </a:p>
        </p:txBody>
      </p:sp>
      <p:sp>
        <p:nvSpPr>
          <p:cNvPr id="15" name="Shape 12"/>
          <p:cNvSpPr/>
          <p:nvPr/>
        </p:nvSpPr>
        <p:spPr>
          <a:xfrm>
            <a:off x="5120640" y="3913632"/>
            <a:ext cx="8732520" cy="1024128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57800" y="4005072"/>
            <a:ext cx="8458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</a:t>
            </a:r>
            <a:endParaRPr lang="es-PE" sz="2000" dirty="0"/>
          </a:p>
        </p:txBody>
      </p:sp>
      <p:sp>
        <p:nvSpPr>
          <p:cNvPr id="17" name="Text 14"/>
          <p:cNvSpPr/>
          <p:nvPr/>
        </p:nvSpPr>
        <p:spPr>
          <a:xfrm>
            <a:off x="5257800" y="4453128"/>
            <a:ext cx="8458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Orquesta casos de uso, contratos modulares, transacciones y eventos.</a:t>
            </a:r>
            <a:endParaRPr lang="es-PE" sz="1800" dirty="0"/>
          </a:p>
        </p:txBody>
      </p:sp>
      <p:sp>
        <p:nvSpPr>
          <p:cNvPr id="18" name="Shape 15"/>
          <p:cNvSpPr/>
          <p:nvPr/>
        </p:nvSpPr>
        <p:spPr>
          <a:xfrm>
            <a:off x="5120640" y="5221224"/>
            <a:ext cx="4919472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57800" y="5312664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Dominio</a:t>
            </a:r>
            <a:endParaRPr lang="es-PE" sz="2000" dirty="0"/>
          </a:p>
        </p:txBody>
      </p:sp>
      <p:sp>
        <p:nvSpPr>
          <p:cNvPr id="20" name="Text 17"/>
          <p:cNvSpPr/>
          <p:nvPr/>
        </p:nvSpPr>
        <p:spPr>
          <a:xfrm>
            <a:off x="5257800" y="5760720"/>
            <a:ext cx="4645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Matching, disponibilidad, transiciones y conformidad sin depender de HTTP ni ORM.</a:t>
            </a:r>
            <a:endParaRPr lang="es-PE" sz="1800" dirty="0"/>
          </a:p>
        </p:txBody>
      </p:sp>
      <p:sp>
        <p:nvSpPr>
          <p:cNvPr id="21" name="Shape 18"/>
          <p:cNvSpPr/>
          <p:nvPr/>
        </p:nvSpPr>
        <p:spPr>
          <a:xfrm>
            <a:off x="10378440" y="5221224"/>
            <a:ext cx="347472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0" y="53126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Infraestructura</a:t>
            </a:r>
            <a:endParaRPr lang="es-PE" sz="2000" dirty="0"/>
          </a:p>
        </p:txBody>
      </p:sp>
      <p:sp>
        <p:nvSpPr>
          <p:cNvPr id="23" name="Text 20"/>
          <p:cNvSpPr/>
          <p:nvPr/>
        </p:nvSpPr>
        <p:spPr>
          <a:xfrm>
            <a:off x="10515600" y="5760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Repositorios Prisma, PostgreSQL, archivos y adaptadores externos.</a:t>
            </a:r>
            <a:endParaRPr lang="es-PE" sz="1800" dirty="0"/>
          </a:p>
        </p:txBody>
      </p:sp>
      <p:sp>
        <p:nvSpPr>
          <p:cNvPr id="24" name="Shape 21"/>
          <p:cNvSpPr/>
          <p:nvPr/>
        </p:nvSpPr>
        <p:spPr>
          <a:xfrm>
            <a:off x="4270248" y="2651760"/>
            <a:ext cx="54864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4242816" y="224028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</a:t>
            </a:r>
            <a:endParaRPr lang="es-PE" sz="1400" dirty="0"/>
          </a:p>
        </p:txBody>
      </p:sp>
      <p:sp>
        <p:nvSpPr>
          <p:cNvPr id="26" name="Shape 23"/>
          <p:cNvSpPr/>
          <p:nvPr/>
        </p:nvSpPr>
        <p:spPr>
          <a:xfrm>
            <a:off x="9326880" y="3675888"/>
            <a:ext cx="0" cy="173736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498080" y="4983480"/>
            <a:ext cx="0" cy="173736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12070080" y="4983480"/>
            <a:ext cx="0" cy="173736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2070080" y="6784848"/>
            <a:ext cx="0" cy="438912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8595360" y="7296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· archivos · fuentes externas</a:t>
            </a:r>
            <a:endParaRPr lang="es-PE" sz="1600" dirty="0"/>
          </a:p>
        </p:txBody>
      </p:sp>
      <p:sp>
        <p:nvSpPr>
          <p:cNvPr id="31" name="Text 28"/>
          <p:cNvSpPr/>
          <p:nvPr/>
        </p:nvSpPr>
        <p:spPr>
          <a:xfrm>
            <a:off x="548640" y="7680960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capa de aplicación usa contratos; la infraestructura implementa el acceso. El dominio conserva las reglas al cambiar proveedores.</a:t>
            </a:r>
            <a:endParaRPr lang="es-PE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módulos colaboran mediante contratos públicos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flechas representan coordinación de casos de uso, no dependencias circulares entre implementaciones</a:t>
            </a:r>
            <a:endParaRPr lang="es-PE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1773936"/>
            <a:ext cx="3840480" cy="137160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86537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</a:t>
            </a:r>
            <a:endParaRPr lang="es-PE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231343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Sesión, rol, pertenencia y auditoría transversal.</a:t>
            </a:r>
            <a:endParaRPr lang="es-PE" sz="1800" dirty="0"/>
          </a:p>
        </p:txBody>
      </p:sp>
      <p:sp>
        <p:nvSpPr>
          <p:cNvPr id="9" name="Text 6"/>
          <p:cNvSpPr/>
          <p:nvPr/>
        </p:nvSpPr>
        <p:spPr>
          <a:xfrm>
            <a:off x="4983480" y="1874520"/>
            <a:ext cx="9098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3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casos de uso coordinan los módulos; cada módulo conserva reglas y datos propios en su schema.</a:t>
            </a:r>
            <a:endParaRPr lang="es-PE" sz="2300" dirty="0"/>
          </a:p>
        </p:txBody>
      </p:sp>
      <p:sp>
        <p:nvSpPr>
          <p:cNvPr id="10" name="Shape 7"/>
          <p:cNvSpPr/>
          <p:nvPr/>
        </p:nvSpPr>
        <p:spPr>
          <a:xfrm>
            <a:off x="548640" y="3557016"/>
            <a:ext cx="3566160" cy="150876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6484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</a:t>
            </a:r>
            <a:endParaRPr lang="es-PE" sz="2000" dirty="0"/>
          </a:p>
        </p:txBody>
      </p:sp>
      <p:sp>
        <p:nvSpPr>
          <p:cNvPr id="12" name="Text 9"/>
          <p:cNvSpPr/>
          <p:nvPr/>
        </p:nvSpPr>
        <p:spPr>
          <a:xfrm>
            <a:off x="685800" y="409651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Comunidades, solicitudes, recepción e informe final.</a:t>
            </a:r>
            <a:endParaRPr lang="es-PE" sz="1800" dirty="0"/>
          </a:p>
        </p:txBody>
      </p:sp>
      <p:sp>
        <p:nvSpPr>
          <p:cNvPr id="13" name="Shape 10"/>
          <p:cNvSpPr/>
          <p:nvPr/>
        </p:nvSpPr>
        <p:spPr>
          <a:xfrm>
            <a:off x="5532120" y="3557016"/>
            <a:ext cx="3566160" cy="150876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36484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s-PE" sz="2000" dirty="0"/>
          </a:p>
        </p:txBody>
      </p:sp>
      <p:sp>
        <p:nvSpPr>
          <p:cNvPr id="15" name="Text 12"/>
          <p:cNvSpPr/>
          <p:nvPr/>
        </p:nvSpPr>
        <p:spPr>
          <a:xfrm>
            <a:off x="5669280" y="409651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Productos, lotes, movimientos, matching y autorización.</a:t>
            </a:r>
            <a:endParaRPr lang="es-PE" sz="1800" dirty="0"/>
          </a:p>
        </p:txBody>
      </p:sp>
      <p:sp>
        <p:nvSpPr>
          <p:cNvPr id="16" name="Shape 13"/>
          <p:cNvSpPr/>
          <p:nvPr/>
        </p:nvSpPr>
        <p:spPr>
          <a:xfrm>
            <a:off x="10515600" y="3557016"/>
            <a:ext cx="3566160" cy="150876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52760" y="36484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</a:t>
            </a:r>
            <a:endParaRPr lang="es-PE" sz="2000" dirty="0"/>
          </a:p>
        </p:txBody>
      </p:sp>
      <p:sp>
        <p:nvSpPr>
          <p:cNvPr id="18" name="Text 15"/>
          <p:cNvSpPr/>
          <p:nvPr/>
        </p:nvSpPr>
        <p:spPr>
          <a:xfrm>
            <a:off x="10652760" y="409651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Despachos, rutas y retiros.</a:t>
            </a:r>
            <a:endParaRPr lang="es-PE" sz="1800" dirty="0"/>
          </a:p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Llegada y documentos.</a:t>
            </a:r>
            <a:endParaRPr lang="es-PE" sz="1800" dirty="0"/>
          </a:p>
        </p:txBody>
      </p:sp>
      <p:sp>
        <p:nvSpPr>
          <p:cNvPr id="19" name="Shape 16"/>
          <p:cNvSpPr/>
          <p:nvPr/>
        </p:nvSpPr>
        <p:spPr>
          <a:xfrm>
            <a:off x="4169664" y="4114800"/>
            <a:ext cx="1298448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4187952" y="368503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Necesidades</a:t>
            </a:r>
            <a:endParaRPr lang="es-PE" sz="1400" dirty="0"/>
          </a:p>
        </p:txBody>
      </p:sp>
      <p:sp>
        <p:nvSpPr>
          <p:cNvPr id="21" name="Shape 18"/>
          <p:cNvSpPr/>
          <p:nvPr/>
        </p:nvSpPr>
        <p:spPr>
          <a:xfrm>
            <a:off x="9153144" y="4114800"/>
            <a:ext cx="1298448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9153144" y="3685032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Autorización</a:t>
            </a:r>
            <a:endParaRPr lang="es-PE" sz="1400" dirty="0"/>
          </a:p>
        </p:txBody>
      </p:sp>
      <p:sp>
        <p:nvSpPr>
          <p:cNvPr id="23" name="Shape 20"/>
          <p:cNvSpPr/>
          <p:nvPr/>
        </p:nvSpPr>
        <p:spPr>
          <a:xfrm>
            <a:off x="12298680" y="5120640"/>
            <a:ext cx="0" cy="338328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H="1">
            <a:off x="7315200" y="5458968"/>
            <a:ext cx="498348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6400800" y="555040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Retiro: Logistics solicita descuento a Inventory</a:t>
            </a:r>
            <a:endParaRPr lang="es-PE" sz="1700" dirty="0"/>
          </a:p>
        </p:txBody>
      </p:sp>
      <p:sp>
        <p:nvSpPr>
          <p:cNvPr id="26" name="Shape 23"/>
          <p:cNvSpPr/>
          <p:nvPr/>
        </p:nvSpPr>
        <p:spPr>
          <a:xfrm>
            <a:off x="14081760" y="4846320"/>
            <a:ext cx="22860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310360" y="4846320"/>
            <a:ext cx="0" cy="1252728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>
            <a:off x="2331720" y="6099048"/>
            <a:ext cx="1197864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2331720" y="5120640"/>
            <a:ext cx="0" cy="978408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2743200" y="5760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Arribo: habilita recepción</a:t>
            </a:r>
            <a:endParaRPr lang="es-PE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6318504"/>
            <a:ext cx="3840480" cy="12344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" y="640994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Territory</a:t>
            </a:r>
            <a:endParaRPr lang="es-PE" sz="2000" dirty="0"/>
          </a:p>
        </p:txBody>
      </p:sp>
      <p:sp>
        <p:nvSpPr>
          <p:cNvPr id="33" name="Text 30"/>
          <p:cNvSpPr/>
          <p:nvPr/>
        </p:nvSpPr>
        <p:spPr>
          <a:xfrm>
            <a:off x="685800" y="6858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Observaciones y riesgo con fuente y fecha.</a:t>
            </a:r>
            <a:endParaRPr lang="es-PE" sz="1800" dirty="0"/>
          </a:p>
        </p:txBody>
      </p:sp>
      <p:sp>
        <p:nvSpPr>
          <p:cNvPr id="34" name="Shape 31"/>
          <p:cNvSpPr/>
          <p:nvPr/>
        </p:nvSpPr>
        <p:spPr>
          <a:xfrm>
            <a:off x="5532120" y="6318504"/>
            <a:ext cx="8549640" cy="12344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69280" y="6409944"/>
            <a:ext cx="8275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de supervisión</a:t>
            </a:r>
            <a:endParaRPr lang="es-PE" sz="2000" dirty="0"/>
          </a:p>
        </p:txBody>
      </p:sp>
      <p:sp>
        <p:nvSpPr>
          <p:cNvPr id="36" name="Text 33"/>
          <p:cNvSpPr/>
          <p:nvPr/>
        </p:nvSpPr>
        <p:spPr>
          <a:xfrm>
            <a:off x="5669280" y="6858000"/>
            <a:ext cx="8275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 Territory, Shelter y Logistics; excluye stock privado de ONG.</a:t>
            </a:r>
            <a:endParaRPr lang="es-PE" sz="1800" dirty="0"/>
          </a:p>
        </p:txBody>
      </p:sp>
      <p:sp>
        <p:nvSpPr>
          <p:cNvPr id="37" name="Shape 34"/>
          <p:cNvSpPr/>
          <p:nvPr/>
        </p:nvSpPr>
        <p:spPr>
          <a:xfrm>
            <a:off x="4453128" y="6839712"/>
            <a:ext cx="1014984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8" name="Text 35"/>
          <p:cNvSpPr/>
          <p:nvPr/>
        </p:nvSpPr>
        <p:spPr>
          <a:xfrm>
            <a:off x="548640" y="7680960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llegar, Logistics habilita la recepción en Shelter. Los contratos evitan acceder a repositorios privados de otros módulos.</a:t>
            </a:r>
            <a:endParaRPr lang="es-PE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topología cloud separa aplicaciones y servicios de datos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Referencia propuesta: Vercel para Next.js, Render para NestJS y Supabase para PostgreSQL</a:t>
            </a:r>
            <a:endParaRPr lang="es-PE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2057400" cy="12344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14884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Navegador</a:t>
            </a:r>
            <a:endParaRPr lang="es-PE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2596896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Interfaz por rol.</a:t>
            </a:r>
            <a:endParaRPr lang="es-PE" sz="1800" dirty="0"/>
          </a:p>
        </p:txBody>
      </p:sp>
      <p:sp>
        <p:nvSpPr>
          <p:cNvPr id="9" name="Shape 6"/>
          <p:cNvSpPr/>
          <p:nvPr/>
        </p:nvSpPr>
        <p:spPr>
          <a:xfrm>
            <a:off x="3383280" y="1801368"/>
            <a:ext cx="411480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194767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3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s-PE" sz="2300" dirty="0"/>
          </a:p>
        </p:txBody>
      </p:sp>
      <p:sp>
        <p:nvSpPr>
          <p:cNvPr id="11" name="Shape 8"/>
          <p:cNvSpPr/>
          <p:nvPr/>
        </p:nvSpPr>
        <p:spPr>
          <a:xfrm>
            <a:off x="3611880" y="2688336"/>
            <a:ext cx="36576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49040" y="27797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</a:t>
            </a:r>
            <a:endParaRPr lang="es-PE" sz="2000" dirty="0"/>
          </a:p>
        </p:txBody>
      </p:sp>
      <p:sp>
        <p:nvSpPr>
          <p:cNvPr id="13" name="Text 10"/>
          <p:cNvSpPr/>
          <p:nvPr/>
        </p:nvSpPr>
        <p:spPr>
          <a:xfrm>
            <a:off x="3749040" y="32278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y proxy de servidor.</a:t>
            </a:r>
            <a:endParaRPr lang="es-PE" sz="1800" dirty="0"/>
          </a:p>
        </p:txBody>
      </p:sp>
      <p:sp>
        <p:nvSpPr>
          <p:cNvPr id="14" name="Shape 11"/>
          <p:cNvSpPr/>
          <p:nvPr/>
        </p:nvSpPr>
        <p:spPr>
          <a:xfrm>
            <a:off x="8321040" y="1801368"/>
            <a:ext cx="576072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1947672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3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endParaRPr lang="es-PE" sz="2300" dirty="0"/>
          </a:p>
        </p:txBody>
      </p:sp>
      <p:sp>
        <p:nvSpPr>
          <p:cNvPr id="16" name="Shape 13"/>
          <p:cNvSpPr/>
          <p:nvPr/>
        </p:nvSpPr>
        <p:spPr>
          <a:xfrm>
            <a:off x="8549640" y="2688336"/>
            <a:ext cx="5303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0" y="277977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NestJS</a:t>
            </a:r>
            <a:endParaRPr lang="es-PE" sz="2000" dirty="0"/>
          </a:p>
        </p:txBody>
      </p:sp>
      <p:sp>
        <p:nvSpPr>
          <p:cNvPr id="18" name="Text 15"/>
          <p:cNvSpPr/>
          <p:nvPr/>
        </p:nvSpPr>
        <p:spPr>
          <a:xfrm>
            <a:off x="8686800" y="32278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REST y tareas internas idempotentes.</a:t>
            </a:r>
            <a:endParaRPr lang="es-PE" sz="1800" dirty="0"/>
          </a:p>
        </p:txBody>
      </p:sp>
      <p:sp>
        <p:nvSpPr>
          <p:cNvPr id="19" name="Shape 16"/>
          <p:cNvSpPr/>
          <p:nvPr/>
        </p:nvSpPr>
        <p:spPr>
          <a:xfrm>
            <a:off x="2670048" y="2999232"/>
            <a:ext cx="64008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562088" y="2999232"/>
            <a:ext cx="685800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2660904" y="2542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</a:t>
            </a:r>
            <a:endParaRPr lang="es-PE" sz="1400" dirty="0"/>
          </a:p>
        </p:txBody>
      </p:sp>
      <p:sp>
        <p:nvSpPr>
          <p:cNvPr id="22" name="Text 19"/>
          <p:cNvSpPr/>
          <p:nvPr/>
        </p:nvSpPr>
        <p:spPr>
          <a:xfrm>
            <a:off x="7562088" y="2542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4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</a:t>
            </a:r>
            <a:endParaRPr lang="es-PE" sz="1400" dirty="0"/>
          </a:p>
        </p:txBody>
      </p:sp>
      <p:sp>
        <p:nvSpPr>
          <p:cNvPr id="23" name="Shape 20"/>
          <p:cNvSpPr/>
          <p:nvPr/>
        </p:nvSpPr>
        <p:spPr>
          <a:xfrm>
            <a:off x="8321040" y="5202936"/>
            <a:ext cx="5760720" cy="20299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03920" y="53675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3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s-PE" sz="2300" dirty="0"/>
          </a:p>
        </p:txBody>
      </p:sp>
      <p:sp>
        <p:nvSpPr>
          <p:cNvPr id="25" name="Shape 22"/>
          <p:cNvSpPr/>
          <p:nvPr/>
        </p:nvSpPr>
        <p:spPr>
          <a:xfrm>
            <a:off x="8549640" y="5971032"/>
            <a:ext cx="242316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0" y="606247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s-PE" sz="2000" dirty="0"/>
          </a:p>
        </p:txBody>
      </p:sp>
      <p:sp>
        <p:nvSpPr>
          <p:cNvPr id="27" name="Text 24"/>
          <p:cNvSpPr/>
          <p:nvPr/>
        </p:nvSpPr>
        <p:spPr>
          <a:xfrm>
            <a:off x="8686800" y="6510528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operativos.</a:t>
            </a:r>
            <a:endParaRPr lang="es-PE" sz="1800" dirty="0"/>
          </a:p>
        </p:txBody>
      </p:sp>
      <p:sp>
        <p:nvSpPr>
          <p:cNvPr id="28" name="Shape 25"/>
          <p:cNvSpPr/>
          <p:nvPr/>
        </p:nvSpPr>
        <p:spPr>
          <a:xfrm>
            <a:off x="11247120" y="5971032"/>
            <a:ext cx="260604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384280" y="606247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candidato</a:t>
            </a:r>
            <a:endParaRPr lang="es-PE" sz="2000" dirty="0"/>
          </a:p>
        </p:txBody>
      </p:sp>
      <p:sp>
        <p:nvSpPr>
          <p:cNvPr id="30" name="Text 27"/>
          <p:cNvSpPr/>
          <p:nvPr/>
        </p:nvSpPr>
        <p:spPr>
          <a:xfrm>
            <a:off x="11384280" y="6510528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XLSX y PDF.</a:t>
            </a:r>
            <a:endParaRPr lang="es-PE" sz="1800" dirty="0"/>
          </a:p>
        </p:txBody>
      </p:sp>
      <p:sp>
        <p:nvSpPr>
          <p:cNvPr id="31" name="Shape 28"/>
          <p:cNvSpPr/>
          <p:nvPr/>
        </p:nvSpPr>
        <p:spPr>
          <a:xfrm>
            <a:off x="9784080" y="4242816"/>
            <a:ext cx="0" cy="896112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2527280" y="4242816"/>
            <a:ext cx="0" cy="896112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9893808" y="4599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5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/ TLS</a:t>
            </a:r>
            <a:endParaRPr lang="es-PE" sz="1500" dirty="0"/>
          </a:p>
        </p:txBody>
      </p:sp>
      <p:sp>
        <p:nvSpPr>
          <p:cNvPr id="34" name="Text 31"/>
          <p:cNvSpPr/>
          <p:nvPr/>
        </p:nvSpPr>
        <p:spPr>
          <a:xfrm>
            <a:off x="12637008" y="4599432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5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autorizado</a:t>
            </a:r>
            <a:endParaRPr lang="es-PE" sz="1500" dirty="0"/>
          </a:p>
        </p:txBody>
      </p:sp>
      <p:sp>
        <p:nvSpPr>
          <p:cNvPr id="35" name="Text 32"/>
          <p:cNvSpPr/>
          <p:nvPr/>
        </p:nvSpPr>
        <p:spPr>
          <a:xfrm>
            <a:off x="548640" y="47731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Publicación y operación</a:t>
            </a:r>
            <a:endParaRPr lang="es-PE" sz="2200" dirty="0"/>
          </a:p>
        </p:txBody>
      </p:sp>
      <p:sp>
        <p:nvSpPr>
          <p:cNvPr id="36" name="Text 33"/>
          <p:cNvSpPr/>
          <p:nvPr/>
        </p:nvSpPr>
        <p:spPr>
          <a:xfrm>
            <a:off x="548640" y="5294376"/>
            <a:ext cx="6949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Repositorios Git separados y CI/CD permiten publicar frontend y API por separado. La operación requiere monitoreo, límites de conexión y capacidad medida.</a:t>
            </a:r>
            <a:endParaRPr lang="es-PE" sz="2100" dirty="0"/>
          </a:p>
        </p:txBody>
      </p:sp>
      <p:sp>
        <p:nvSpPr>
          <p:cNvPr id="37" name="Text 34"/>
          <p:cNvSpPr/>
          <p:nvPr/>
        </p:nvSpPr>
        <p:spPr>
          <a:xfrm>
            <a:off x="548640" y="7680960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el backend guarda credenciales de datos e integraciones. La referencia no acredita un despliegue real ni una red privada contratada.</a:t>
            </a:r>
            <a:endParaRPr lang="es-PE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Persistir también exige proteger y poder restaurar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administrado, acceso exclusivo del backend y continuidad planificada</a:t>
            </a:r>
            <a:endParaRPr lang="es-PE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y credenciales</a:t>
            </a:r>
            <a:endParaRPr lang="es-PE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41148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es el ORM del backend. La conexión usa TLS, un pool dimensionado y privilegios mínimos; las cuentas de ejecución y migración son distintas.</a:t>
            </a:r>
            <a:endParaRPr lang="es-PE" sz="2100" dirty="0"/>
          </a:p>
        </p:txBody>
      </p:sp>
      <p:sp>
        <p:nvSpPr>
          <p:cNvPr id="8" name="Shape 5"/>
          <p:cNvSpPr/>
          <p:nvPr/>
        </p:nvSpPr>
        <p:spPr>
          <a:xfrm>
            <a:off x="5166360" y="1901952"/>
            <a:ext cx="4297680" cy="3017520"/>
          </a:xfrm>
          <a:prstGeom prst="can">
            <a:avLst/>
          </a:prstGeom>
          <a:solidFill>
            <a:srgbClr val="E4F5FA"/>
          </a:solidFill>
          <a:ln w="12700">
            <a:solidFill>
              <a:srgbClr val="007F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2423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25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s-PE" sz="2500" dirty="0"/>
          </a:p>
          <a:p>
            <a:pPr algn="ctr" indent="0" marL="0">
              <a:buNone/>
            </a:pPr>
            <a:r>
              <a:rPr lang="es-PE" altLang="en-US" sz="25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s-PE" sz="2500" dirty="0"/>
          </a:p>
        </p:txBody>
      </p:sp>
      <p:sp>
        <p:nvSpPr>
          <p:cNvPr id="10" name="Text 7"/>
          <p:cNvSpPr/>
          <p:nvPr/>
        </p:nvSpPr>
        <p:spPr>
          <a:xfrm>
            <a:off x="5486400" y="3703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· shelter · inventory</a:t>
            </a:r>
            <a:endParaRPr lang="es-PE" sz="1800" dirty="0"/>
          </a:p>
          <a:p>
            <a:pPr algn="ctr"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· territory</a:t>
            </a:r>
            <a:endParaRPr lang="es-PE" sz="1800" dirty="0"/>
          </a:p>
        </p:txBody>
      </p:sp>
      <p:sp>
        <p:nvSpPr>
          <p:cNvPr id="11" name="Text 8"/>
          <p:cNvSpPr/>
          <p:nvPr/>
        </p:nvSpPr>
        <p:spPr>
          <a:xfrm>
            <a:off x="10058400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Restricciones y evolución</a:t>
            </a:r>
            <a:endParaRPr lang="es-PE" sz="2200" dirty="0"/>
          </a:p>
        </p:txBody>
      </p:sp>
      <p:sp>
        <p:nvSpPr>
          <p:cNvPr id="12" name="Text 9"/>
          <p:cNvSpPr/>
          <p:nvPr/>
        </p:nvSpPr>
        <p:spPr>
          <a:xfrm>
            <a:off x="10058400" y="2377440"/>
            <a:ext cx="41148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FK, UNIQUE y CHECK se aplican</a:t>
            </a:r>
            <a:endParaRPr lang="es-PE" sz="2100" dirty="0"/>
          </a:p>
          <a:p>
            <a:pPr indent="0" marL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PostgreSQL. Las migraciones</a:t>
            </a:r>
            <a:endParaRPr lang="es-PE" sz="2100" dirty="0"/>
          </a:p>
          <a:p>
            <a:pPr indent="0" marL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se complementan con SQL</a:t>
            </a:r>
            <a:endParaRPr lang="es-PE" sz="2100" dirty="0"/>
          </a:p>
          <a:p>
            <a:pPr indent="0" marL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restricciones e índices</a:t>
            </a:r>
            <a:endParaRPr lang="es-PE" sz="2100" dirty="0"/>
          </a:p>
          <a:p>
            <a:pPr indent="0" marL="0">
              <a:buNone/>
            </a:pPr>
            <a:r>
              <a:rPr lang="es-PE" altLang="en-US" sz="21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parciales.</a:t>
            </a:r>
            <a:endParaRPr lang="es-PE" sz="2100" dirty="0"/>
          </a:p>
        </p:txBody>
      </p:sp>
      <p:sp>
        <p:nvSpPr>
          <p:cNvPr id="13" name="Text 10"/>
          <p:cNvSpPr/>
          <p:nvPr/>
        </p:nvSpPr>
        <p:spPr>
          <a:xfrm>
            <a:off x="548640" y="5138928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navegador no recibe credenciales SQL. Los documentos binarios quedan fuera de la base; se registran ubicación y checksum.</a:t>
            </a:r>
            <a:endParaRPr lang="es-PE" sz="2000" dirty="0"/>
          </a:p>
        </p:txBody>
      </p:sp>
      <p:sp>
        <p:nvSpPr>
          <p:cNvPr id="14" name="Text 11"/>
          <p:cNvSpPr/>
          <p:nvPr/>
        </p:nvSpPr>
        <p:spPr>
          <a:xfrm>
            <a:off x="7589520" y="5138928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Respaldo diario, retención de 30 días,</a:t>
            </a:r>
            <a:endParaRPr lang="es-PE" sz="2000" dirty="0"/>
          </a:p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ensayo mensual. Pérdida máxima prevista:</a:t>
            </a:r>
            <a:endParaRPr lang="es-PE" sz="2000" dirty="0"/>
          </a:p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h de datos; recuperación del servicio: 8 h.</a:t>
            </a:r>
            <a:endParaRPr lang="es-PE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6547104"/>
            <a:ext cx="2971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6656832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 cifrada</a:t>
            </a:r>
            <a:endParaRPr lang="es-PE" sz="1700" dirty="0"/>
          </a:p>
        </p:txBody>
      </p:sp>
      <p:sp>
        <p:nvSpPr>
          <p:cNvPr id="17" name="Shape 14"/>
          <p:cNvSpPr/>
          <p:nvPr/>
        </p:nvSpPr>
        <p:spPr>
          <a:xfrm>
            <a:off x="3575304" y="6867144"/>
            <a:ext cx="429768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069080" y="6547104"/>
            <a:ext cx="2971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78808" y="6656832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Restaurar aislado</a:t>
            </a:r>
            <a:endParaRPr lang="es-PE" sz="1700" dirty="0"/>
          </a:p>
        </p:txBody>
      </p:sp>
      <p:sp>
        <p:nvSpPr>
          <p:cNvPr id="20" name="Shape 17"/>
          <p:cNvSpPr/>
          <p:nvPr/>
        </p:nvSpPr>
        <p:spPr>
          <a:xfrm>
            <a:off x="7095744" y="6867144"/>
            <a:ext cx="429768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589520" y="6547104"/>
            <a:ext cx="2971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99248" y="6656832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Conciliar registros y saldos</a:t>
            </a:r>
            <a:endParaRPr lang="es-PE" sz="1700" dirty="0"/>
          </a:p>
        </p:txBody>
      </p:sp>
      <p:sp>
        <p:nvSpPr>
          <p:cNvPr id="23" name="Shape 20"/>
          <p:cNvSpPr/>
          <p:nvPr/>
        </p:nvSpPr>
        <p:spPr>
          <a:xfrm>
            <a:off x="10616184" y="6867144"/>
            <a:ext cx="429768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11109960" y="6547104"/>
            <a:ext cx="2971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219688" y="6656832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7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 acceso y recepción</a:t>
            </a:r>
            <a:endParaRPr lang="es-PE" sz="1700" dirty="0"/>
          </a:p>
        </p:txBody>
      </p:sp>
      <p:sp>
        <p:nvSpPr>
          <p:cNvPr id="26" name="Text 23"/>
          <p:cNvSpPr/>
          <p:nvPr/>
        </p:nvSpPr>
        <p:spPr>
          <a:xfrm>
            <a:off x="548640" y="7680960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objetivos de diseño sujetos al plan y a pruebas. Iniciar el motor no basta para acreditar una recuperación correcta.</a:t>
            </a:r>
            <a:endParaRPr lang="es-PE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formulario a una operación confirmada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protege el transporte; la API verifica identidad, permisos y datos antes de persistir</a:t>
            </a:r>
            <a:endParaRPr lang="es-PE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1801368"/>
            <a:ext cx="3017520" cy="5486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901952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Navegador de Comuna</a:t>
            </a:r>
            <a:endParaRPr lang="es-PE" sz="1800" dirty="0"/>
          </a:p>
        </p:txBody>
      </p:sp>
      <p:sp>
        <p:nvSpPr>
          <p:cNvPr id="8" name="Shape 5"/>
          <p:cNvSpPr/>
          <p:nvPr/>
        </p:nvSpPr>
        <p:spPr>
          <a:xfrm>
            <a:off x="2057400" y="2423160"/>
            <a:ext cx="0" cy="3300984"/>
          </a:xfrm>
          <a:prstGeom prst="line">
            <a:avLst/>
          </a:prstGeom>
          <a:noFill/>
          <a:ln w="12700">
            <a:solidFill>
              <a:srgbClr val="D6E3E9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4050792" y="1801368"/>
            <a:ext cx="3017520" cy="5486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60520" y="1901952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/ proxy</a:t>
            </a:r>
            <a:endParaRPr lang="es-PE" sz="1800" dirty="0"/>
          </a:p>
        </p:txBody>
      </p:sp>
      <p:sp>
        <p:nvSpPr>
          <p:cNvPr id="11" name="Shape 8"/>
          <p:cNvSpPr/>
          <p:nvPr/>
        </p:nvSpPr>
        <p:spPr>
          <a:xfrm>
            <a:off x="5559552" y="2423160"/>
            <a:ext cx="0" cy="3300984"/>
          </a:xfrm>
          <a:prstGeom prst="line">
            <a:avLst/>
          </a:prstGeom>
          <a:noFill/>
          <a:ln w="12700">
            <a:solidFill>
              <a:srgbClr val="D6E3E9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7552944" y="1801368"/>
            <a:ext cx="3017520" cy="5486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62672" y="1901952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NestJS</a:t>
            </a:r>
            <a:endParaRPr lang="es-PE" sz="1800" dirty="0"/>
          </a:p>
        </p:txBody>
      </p:sp>
      <p:sp>
        <p:nvSpPr>
          <p:cNvPr id="14" name="Shape 11"/>
          <p:cNvSpPr/>
          <p:nvPr/>
        </p:nvSpPr>
        <p:spPr>
          <a:xfrm>
            <a:off x="9061704" y="2423160"/>
            <a:ext cx="0" cy="3300984"/>
          </a:xfrm>
          <a:prstGeom prst="line">
            <a:avLst/>
          </a:prstGeom>
          <a:noFill/>
          <a:ln w="12700">
            <a:solidFill>
              <a:srgbClr val="D6E3E9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1055096" y="1801368"/>
            <a:ext cx="3017520" cy="548640"/>
          </a:xfrm>
          <a:prstGeom prst="rect">
            <a:avLst/>
          </a:prstGeom>
          <a:solidFill>
            <a:srgbClr val="E4F5FA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64824" y="1901952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s-PE" sz="1800" dirty="0"/>
          </a:p>
        </p:txBody>
      </p:sp>
      <p:sp>
        <p:nvSpPr>
          <p:cNvPr id="17" name="Shape 14"/>
          <p:cNvSpPr/>
          <p:nvPr/>
        </p:nvSpPr>
        <p:spPr>
          <a:xfrm>
            <a:off x="12563856" y="2423160"/>
            <a:ext cx="0" cy="3300984"/>
          </a:xfrm>
          <a:prstGeom prst="line">
            <a:avLst/>
          </a:prstGeom>
          <a:noFill/>
          <a:ln w="12700">
            <a:solidFill>
              <a:srgbClr val="D6E3E9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2057400" y="2724912"/>
            <a:ext cx="3502152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219456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5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HTTPS · cookie protegida</a:t>
            </a:r>
            <a:endParaRPr lang="es-PE" sz="1500" dirty="0"/>
          </a:p>
        </p:txBody>
      </p:sp>
      <p:sp>
        <p:nvSpPr>
          <p:cNvPr id="20" name="Shape 17"/>
          <p:cNvSpPr/>
          <p:nvPr/>
        </p:nvSpPr>
        <p:spPr>
          <a:xfrm>
            <a:off x="5559552" y="3319272"/>
            <a:ext cx="3502152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566928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5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POST /v1/requests · JSON</a:t>
            </a:r>
            <a:endParaRPr lang="es-PE" sz="1500" dirty="0"/>
          </a:p>
        </p:txBody>
      </p:sp>
      <p:sp>
        <p:nvSpPr>
          <p:cNvPr id="22" name="Shape 19"/>
          <p:cNvSpPr/>
          <p:nvPr/>
        </p:nvSpPr>
        <p:spPr>
          <a:xfrm>
            <a:off x="7772400" y="3584448"/>
            <a:ext cx="2606040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3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82128" y="3703320"/>
            <a:ext cx="2386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Sesión, rol, comunidad,</a:t>
            </a:r>
            <a:endParaRPr lang="es-PE" sz="1600" dirty="0"/>
          </a:p>
          <a:p>
            <a:pPr indent="0" marL="0">
              <a:buNone/>
            </a:pPr>
            <a:r>
              <a:rPr lang="es-PE" altLang="en-US" sz="16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productos y cantidades</a:t>
            </a:r>
            <a:endParaRPr lang="es-PE" sz="1600" dirty="0"/>
          </a:p>
        </p:txBody>
      </p:sp>
      <p:sp>
        <p:nvSpPr>
          <p:cNvPr id="24" name="Shape 21"/>
          <p:cNvSpPr/>
          <p:nvPr/>
        </p:nvSpPr>
        <p:spPr>
          <a:xfrm>
            <a:off x="9061704" y="4553712"/>
            <a:ext cx="3502152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918972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5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Transacción validada</a:t>
            </a:r>
            <a:endParaRPr lang="es-PE" sz="1500" dirty="0"/>
          </a:p>
        </p:txBody>
      </p:sp>
      <p:sp>
        <p:nvSpPr>
          <p:cNvPr id="26" name="Shape 23"/>
          <p:cNvSpPr/>
          <p:nvPr/>
        </p:nvSpPr>
        <p:spPr>
          <a:xfrm flipH="1">
            <a:off x="9061704" y="5038344"/>
            <a:ext cx="3502152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dash"/>
            <a:tailEnd type="triangle"/>
          </a:ln>
        </p:spPr>
      </p:sp>
      <p:sp>
        <p:nvSpPr>
          <p:cNvPr id="27" name="Shape 24"/>
          <p:cNvSpPr/>
          <p:nvPr/>
        </p:nvSpPr>
        <p:spPr>
          <a:xfrm flipH="1">
            <a:off x="5559552" y="5340096"/>
            <a:ext cx="3502152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dash"/>
            <a:tailEnd type="triangle"/>
          </a:ln>
        </p:spPr>
      </p:sp>
      <p:sp>
        <p:nvSpPr>
          <p:cNvPr id="28" name="Shape 25"/>
          <p:cNvSpPr/>
          <p:nvPr/>
        </p:nvSpPr>
        <p:spPr>
          <a:xfrm flipH="1">
            <a:off x="2057400" y="5641848"/>
            <a:ext cx="3502152" cy="0"/>
          </a:xfrm>
          <a:prstGeom prst="line">
            <a:avLst/>
          </a:prstGeom>
          <a:noFill/>
          <a:ln w="17780">
            <a:solidFill>
              <a:srgbClr val="007F99"/>
            </a:solidFill>
            <a:prstDash val="dash"/>
            <a:tailEnd type="triangle"/>
          </a:ln>
        </p:spPr>
      </p:sp>
      <p:sp>
        <p:nvSpPr>
          <p:cNvPr id="29" name="Text 26"/>
          <p:cNvSpPr/>
          <p:nvPr/>
        </p:nvSpPr>
        <p:spPr>
          <a:xfrm>
            <a:off x="3657600" y="5760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Resultado persistido; retorno hasta la interfaz</a:t>
            </a:r>
            <a:endParaRPr lang="es-PE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6400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 REST</a:t>
            </a:r>
            <a:endParaRPr lang="es-PE" sz="2200" dirty="0"/>
          </a:p>
        </p:txBody>
      </p:sp>
      <p:sp>
        <p:nvSpPr>
          <p:cNvPr id="31" name="Text 28"/>
          <p:cNvSpPr/>
          <p:nvPr/>
        </p:nvSpPr>
        <p:spPr>
          <a:xfrm>
            <a:off x="548640" y="6922008"/>
            <a:ext cx="40690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UUID, fechas UTC y cantidades decimales exactas. La comunidad se toma de la sesión, no del formulario.</a:t>
            </a:r>
            <a:endParaRPr lang="es-PE" sz="1800" dirty="0"/>
          </a:p>
        </p:txBody>
      </p:sp>
      <p:sp>
        <p:nvSpPr>
          <p:cNvPr id="32" name="Text 29"/>
          <p:cNvSpPr/>
          <p:nvPr/>
        </p:nvSpPr>
        <p:spPr>
          <a:xfrm>
            <a:off x="5212080" y="6400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Sesión y permisos</a:t>
            </a:r>
            <a:endParaRPr lang="es-PE" sz="2200" dirty="0"/>
          </a:p>
        </p:txBody>
      </p:sp>
      <p:sp>
        <p:nvSpPr>
          <p:cNvPr id="33" name="Text 30"/>
          <p:cNvSpPr/>
          <p:nvPr/>
        </p:nvSpPr>
        <p:spPr>
          <a:xfrm>
            <a:off x="5212080" y="6922008"/>
            <a:ext cx="40690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validado por API; cookie HttpOnly, Secure y SameSite=Lax; protección CSRF. El permiso exige rol y titularidad.</a:t>
            </a:r>
            <a:endParaRPr lang="es-PE" sz="1800" dirty="0"/>
          </a:p>
        </p:txBody>
      </p:sp>
      <p:sp>
        <p:nvSpPr>
          <p:cNvPr id="34" name="Text 31"/>
          <p:cNvSpPr/>
          <p:nvPr/>
        </p:nvSpPr>
        <p:spPr>
          <a:xfrm>
            <a:off x="9875520" y="6400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Confirmación o error</a:t>
            </a:r>
            <a:endParaRPr lang="es-PE" sz="2200" dirty="0"/>
          </a:p>
        </p:txBody>
      </p:sp>
      <p:sp>
        <p:nvSpPr>
          <p:cNvPr id="35" name="Text 32"/>
          <p:cNvSpPr/>
          <p:nvPr/>
        </p:nvSpPr>
        <p:spPr>
          <a:xfrm>
            <a:off x="9875520" y="6922008"/>
            <a:ext cx="42062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 crea; 401/403 deniegan acceso; 422 valida datos; 409 indica conflicto. Ante duda de red se consulta antes de reintentar.</a:t>
            </a:r>
            <a:endParaRPr lang="es-PE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interfaz hace visibles permisos, unidades y consecuencias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diseño compartido: Segoe UI, blanco, azul oscuro y cyan de Alivía</a:t>
            </a:r>
            <a:endParaRPr lang="es-PE" sz="2000" dirty="0"/>
          </a:p>
        </p:txBody>
      </p:sp>
      <p:pic>
        <p:nvPicPr>
          <p:cNvPr id="6" name="Image 0" descr="Recorte fiel de 01-solicitud/MK-02-registro-solicit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2468880" cy="2366010"/>
          </a:xfrm>
          <a:prstGeom prst="rect">
            <a:avLst/>
          </a:prstGeom>
        </p:spPr>
      </p:pic>
      <p:pic>
        <p:nvPicPr>
          <p:cNvPr id="7" name="Image 1" descr="Recorte fiel de 01-solicitud/MK-02-registro-solicit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6583680" cy="2578933"/>
          </a:xfrm>
          <a:prstGeom prst="rect">
            <a:avLst/>
          </a:prstGeom>
        </p:spPr>
      </p:pic>
      <p:pic>
        <p:nvPicPr>
          <p:cNvPr id="8" name="Image 2" descr="Recorte fiel de 05-recepcion/MK-08-recepcion-varian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791456"/>
            <a:ext cx="6583680" cy="13712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88136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por rol</a:t>
            </a:r>
            <a:endParaRPr lang="es-PE" sz="2200" dirty="0"/>
          </a:p>
        </p:txBody>
      </p:sp>
      <p:sp>
        <p:nvSpPr>
          <p:cNvPr id="10" name="Text 4"/>
          <p:cNvSpPr/>
          <p:nvPr/>
        </p:nvSpPr>
        <p:spPr>
          <a:xfrm>
            <a:off x="10881360" y="2350008"/>
            <a:ext cx="32004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menú y la ubicación activa distinguen tareas. El servidor conserva los permisos efectivos.</a:t>
            </a:r>
            <a:endParaRPr lang="es-PE" sz="1900" dirty="0"/>
          </a:p>
        </p:txBody>
      </p:sp>
      <p:sp>
        <p:nvSpPr>
          <p:cNvPr id="11" name="Text 5"/>
          <p:cNvSpPr/>
          <p:nvPr/>
        </p:nvSpPr>
        <p:spPr>
          <a:xfrm>
            <a:off x="1088136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cantidades</a:t>
            </a:r>
            <a:endParaRPr lang="es-PE" sz="2200" dirty="0"/>
          </a:p>
        </p:txBody>
      </p:sp>
      <p:sp>
        <p:nvSpPr>
          <p:cNvPr id="12" name="Text 6"/>
          <p:cNvSpPr/>
          <p:nvPr/>
        </p:nvSpPr>
        <p:spPr>
          <a:xfrm>
            <a:off x="10881360" y="4636008"/>
            <a:ext cx="32004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9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Producto, unidad y cantidad se revisan juntos, con errores por campo antes de confirmar.</a:t>
            </a:r>
            <a:endParaRPr lang="es-PE" sz="1900" dirty="0"/>
          </a:p>
        </p:txBody>
      </p:sp>
      <p:sp>
        <p:nvSpPr>
          <p:cNvPr id="13" name="Text 7"/>
          <p:cNvSpPr/>
          <p:nvPr/>
        </p:nvSpPr>
        <p:spPr>
          <a:xfrm>
            <a:off x="548640" y="7040880"/>
            <a:ext cx="13533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columnas distinguen enviado, recibido y conforme; los estados usan texto además de color. Alertas y mapas conservan fuente, fecha y detalle textual.</a:t>
            </a:r>
            <a:endParaRPr lang="es-PE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Comuna: registrar una necesidad verificable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MK-02 · El catálogo y las unidades convierten la solicitud en líneas comparables</a:t>
            </a:r>
            <a:endParaRPr lang="es-PE" sz="2000" dirty="0"/>
          </a:p>
        </p:txBody>
      </p:sp>
      <p:pic>
        <p:nvPicPr>
          <p:cNvPr id="6" name="Image 0" descr="Recorte fiel de 01-solicitud/MK-02-registro-solicit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6504"/>
            <a:ext cx="8549640" cy="63135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692640" y="196596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692640" y="197967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9" name="Text 5"/>
          <p:cNvSpPr/>
          <p:nvPr/>
        </p:nvSpPr>
        <p:spPr>
          <a:xfrm>
            <a:off x="10094976" y="1956816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 vinculada</a:t>
            </a:r>
            <a:endParaRPr lang="es-PE" sz="2200" dirty="0"/>
          </a:p>
        </p:txBody>
      </p:sp>
      <p:sp>
        <p:nvSpPr>
          <p:cNvPr id="10" name="Text 6"/>
          <p:cNvSpPr/>
          <p:nvPr/>
        </p:nvSpPr>
        <p:spPr>
          <a:xfrm>
            <a:off x="9692640" y="276148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cuenta fija la comunidad; población y situación describen su contexto de afectación.</a:t>
            </a:r>
            <a:endParaRPr lang="es-PE" sz="2000" dirty="0"/>
          </a:p>
        </p:txBody>
      </p:sp>
      <p:sp>
        <p:nvSpPr>
          <p:cNvPr id="11" name="Shape 7"/>
          <p:cNvSpPr/>
          <p:nvPr/>
        </p:nvSpPr>
        <p:spPr>
          <a:xfrm>
            <a:off x="4373213" y="2130985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373213" y="2144701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3" name="Shape 9"/>
          <p:cNvSpPr/>
          <p:nvPr/>
        </p:nvSpPr>
        <p:spPr>
          <a:xfrm>
            <a:off x="9692640" y="393192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692640" y="39456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5" name="Text 11"/>
          <p:cNvSpPr/>
          <p:nvPr/>
        </p:nvSpPr>
        <p:spPr>
          <a:xfrm>
            <a:off x="10094976" y="3922776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Líneas comparables</a:t>
            </a:r>
            <a:endParaRPr lang="es-PE" sz="2200" dirty="0"/>
          </a:p>
        </p:txBody>
      </p:sp>
      <p:sp>
        <p:nvSpPr>
          <p:cNvPr id="16" name="Text 12"/>
          <p:cNvSpPr/>
          <p:nvPr/>
        </p:nvSpPr>
        <p:spPr>
          <a:xfrm>
            <a:off x="9692640" y="472744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Producto, unidad y cantidad se validan juntos. Se rechazan duplicados y valores no positivos.</a:t>
            </a:r>
            <a:endParaRPr lang="es-PE" sz="2000" dirty="0"/>
          </a:p>
        </p:txBody>
      </p:sp>
      <p:sp>
        <p:nvSpPr>
          <p:cNvPr id="17" name="Shape 13"/>
          <p:cNvSpPr/>
          <p:nvPr/>
        </p:nvSpPr>
        <p:spPr>
          <a:xfrm>
            <a:off x="4373213" y="5065181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73213" y="5078897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9" name="Shape 15"/>
          <p:cNvSpPr/>
          <p:nvPr/>
        </p:nvSpPr>
        <p:spPr>
          <a:xfrm>
            <a:off x="9692640" y="589788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92640" y="59115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s-PE" sz="1400" dirty="0"/>
          </a:p>
        </p:txBody>
      </p:sp>
      <p:sp>
        <p:nvSpPr>
          <p:cNvPr id="21" name="Text 17"/>
          <p:cNvSpPr/>
          <p:nvPr/>
        </p:nvSpPr>
        <p:spPr>
          <a:xfrm>
            <a:off x="10094976" y="5888736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Confirmación consciente</a:t>
            </a:r>
            <a:endParaRPr lang="es-PE" sz="2200" dirty="0"/>
          </a:p>
        </p:txBody>
      </p:sp>
      <p:sp>
        <p:nvSpPr>
          <p:cNvPr id="22" name="Text 18"/>
          <p:cNvSpPr/>
          <p:nvPr/>
        </p:nvSpPr>
        <p:spPr>
          <a:xfrm>
            <a:off x="9692640" y="669340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cotejan productos y cantidades. La solicitud confirmada ya no puede editarse.</a:t>
            </a:r>
            <a:endParaRPr lang="es-PE" sz="2000" dirty="0"/>
          </a:p>
        </p:txBody>
      </p:sp>
      <p:sp>
        <p:nvSpPr>
          <p:cNvPr id="23" name="Shape 19"/>
          <p:cNvSpPr/>
          <p:nvPr/>
        </p:nvSpPr>
        <p:spPr>
          <a:xfrm>
            <a:off x="8622738" y="7189943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622738" y="7203659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s-PE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ONG: el matching propone; la organización decide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MK-04 · La propuesta explica el origen, la disponibilidad y los criterios de selección</a:t>
            </a:r>
            <a:endParaRPr lang="es-PE" sz="2000" dirty="0"/>
          </a:p>
        </p:txBody>
      </p:sp>
      <p:pic>
        <p:nvPicPr>
          <p:cNvPr id="6" name="Image 0" descr="Recorte fiel de 02-matching/MK-04-propue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6504"/>
            <a:ext cx="8549640" cy="598980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692640" y="196596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692640" y="197967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9" name="Text 5"/>
          <p:cNvSpPr/>
          <p:nvPr/>
        </p:nvSpPr>
        <p:spPr>
          <a:xfrm>
            <a:off x="10094976" y="1956816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Vínculo con la necesidad</a:t>
            </a:r>
            <a:endParaRPr lang="es-PE" sz="2200" dirty="0"/>
          </a:p>
        </p:txBody>
      </p:sp>
      <p:sp>
        <p:nvSpPr>
          <p:cNvPr id="10" name="Text 6"/>
          <p:cNvSpPr/>
          <p:nvPr/>
        </p:nvSpPr>
        <p:spPr>
          <a:xfrm>
            <a:off x="9692640" y="276148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solicitud de origen y el destino permiten verificar qué demanda se intenta cubrir.</a:t>
            </a:r>
            <a:endParaRPr lang="es-PE" sz="2000" dirty="0"/>
          </a:p>
        </p:txBody>
      </p:sp>
      <p:sp>
        <p:nvSpPr>
          <p:cNvPr id="11" name="Shape 7"/>
          <p:cNvSpPr/>
          <p:nvPr/>
        </p:nvSpPr>
        <p:spPr>
          <a:xfrm>
            <a:off x="6093259" y="2232164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93259" y="22458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3" name="Shape 9"/>
          <p:cNvSpPr/>
          <p:nvPr/>
        </p:nvSpPr>
        <p:spPr>
          <a:xfrm>
            <a:off x="9692640" y="393192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692640" y="39456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5" name="Text 11"/>
          <p:cNvSpPr/>
          <p:nvPr/>
        </p:nvSpPr>
        <p:spPr>
          <a:xfrm>
            <a:off x="10094976" y="3922776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 verificables</a:t>
            </a:r>
            <a:endParaRPr lang="es-PE" sz="2200" dirty="0"/>
          </a:p>
        </p:txBody>
      </p:sp>
      <p:sp>
        <p:nvSpPr>
          <p:cNvPr id="16" name="Text 12"/>
          <p:cNvSpPr/>
          <p:nvPr/>
        </p:nvSpPr>
        <p:spPr>
          <a:xfrm>
            <a:off x="9692640" y="472744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Producto y unidad coinciden; se usan lotes aptos y FEFO, priorizando el vencimiento más próximo.</a:t>
            </a:r>
            <a:endParaRPr lang="es-PE" sz="2000" dirty="0"/>
          </a:p>
        </p:txBody>
      </p:sp>
      <p:sp>
        <p:nvSpPr>
          <p:cNvPr id="17" name="Shape 13"/>
          <p:cNvSpPr/>
          <p:nvPr/>
        </p:nvSpPr>
        <p:spPr>
          <a:xfrm>
            <a:off x="8673327" y="6178152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73327" y="619186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9" name="Shape 15"/>
          <p:cNvSpPr/>
          <p:nvPr/>
        </p:nvSpPr>
        <p:spPr>
          <a:xfrm>
            <a:off x="9692640" y="589788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92640" y="59115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s-PE" sz="1400" dirty="0"/>
          </a:p>
        </p:txBody>
      </p:sp>
      <p:sp>
        <p:nvSpPr>
          <p:cNvPr id="21" name="Text 17"/>
          <p:cNvSpPr/>
          <p:nvPr/>
        </p:nvSpPr>
        <p:spPr>
          <a:xfrm>
            <a:off x="10094976" y="5888736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Decisión sin compromiso</a:t>
            </a:r>
            <a:endParaRPr lang="es-PE" sz="2200" dirty="0"/>
          </a:p>
        </p:txBody>
      </p:sp>
      <p:sp>
        <p:nvSpPr>
          <p:cNvPr id="22" name="Text 18"/>
          <p:cNvSpPr/>
          <p:nvPr/>
        </p:nvSpPr>
        <p:spPr>
          <a:xfrm>
            <a:off x="9692640" y="669340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Confirmar o reducir no reserva stock. Rechazar exige motivo y deja elegible la porción nunca autorizada.</a:t>
            </a:r>
            <a:endParaRPr lang="es-PE" sz="2000" dirty="0"/>
          </a:p>
        </p:txBody>
      </p:sp>
      <p:sp>
        <p:nvSpPr>
          <p:cNvPr id="23" name="Shape 19"/>
          <p:cNvSpPr/>
          <p:nvPr/>
        </p:nvSpPr>
        <p:spPr>
          <a:xfrm>
            <a:off x="8723917" y="6714401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723917" y="6728117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s-PE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ONG: autorizar es asumir un compromiso de stock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MK-05 · Confirmación y autorización son pasos separados para revalidar condiciones</a:t>
            </a:r>
            <a:endParaRPr lang="es-PE" sz="2000" dirty="0"/>
          </a:p>
        </p:txBody>
      </p:sp>
      <p:pic>
        <p:nvPicPr>
          <p:cNvPr id="6" name="Image 0" descr="Recorte fiel de 03-autorizacion/MK-05-autoriz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6504"/>
            <a:ext cx="8549640" cy="594933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692640" y="196596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692640" y="197967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9" name="Text 5"/>
          <p:cNvSpPr/>
          <p:nvPr/>
        </p:nvSpPr>
        <p:spPr>
          <a:xfrm>
            <a:off x="10094976" y="1956816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Cantidades ya confirmadas</a:t>
            </a:r>
            <a:endParaRPr lang="es-PE" sz="2200" dirty="0"/>
          </a:p>
        </p:txBody>
      </p:sp>
      <p:sp>
        <p:nvSpPr>
          <p:cNvPr id="10" name="Text 6"/>
          <p:cNvSpPr/>
          <p:nvPr/>
        </p:nvSpPr>
        <p:spPr>
          <a:xfrm>
            <a:off x="9692640" y="276148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autorización conserva las cantidades aceptadas. No permite aumentarlas en este paso.</a:t>
            </a:r>
            <a:endParaRPr lang="es-PE" sz="2000" dirty="0"/>
          </a:p>
        </p:txBody>
      </p:sp>
      <p:sp>
        <p:nvSpPr>
          <p:cNvPr id="11" name="Shape 7"/>
          <p:cNvSpPr/>
          <p:nvPr/>
        </p:nvSpPr>
        <p:spPr>
          <a:xfrm>
            <a:off x="8521559" y="4053389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521559" y="4067105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3" name="Shape 9"/>
          <p:cNvSpPr/>
          <p:nvPr/>
        </p:nvSpPr>
        <p:spPr>
          <a:xfrm>
            <a:off x="9692640" y="393192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692640" y="39456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5" name="Text 11"/>
          <p:cNvSpPr/>
          <p:nvPr/>
        </p:nvSpPr>
        <p:spPr>
          <a:xfrm>
            <a:off x="10094976" y="3922776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atómica</a:t>
            </a:r>
            <a:endParaRPr lang="es-PE" sz="2200" dirty="0"/>
          </a:p>
        </p:txBody>
      </p:sp>
      <p:sp>
        <p:nvSpPr>
          <p:cNvPr id="16" name="Text 12"/>
          <p:cNvSpPr/>
          <p:nvPr/>
        </p:nvSpPr>
        <p:spPr>
          <a:xfrm>
            <a:off x="9692640" y="472744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revalidan disponibilidad, lotes y cobertura pendiente. Un conflicto impide registrar el compromiso.</a:t>
            </a:r>
            <a:endParaRPr lang="es-PE" sz="2000" dirty="0"/>
          </a:p>
        </p:txBody>
      </p:sp>
      <p:sp>
        <p:nvSpPr>
          <p:cNvPr id="17" name="Shape 13"/>
          <p:cNvSpPr/>
          <p:nvPr/>
        </p:nvSpPr>
        <p:spPr>
          <a:xfrm>
            <a:off x="8723917" y="5368718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723917" y="538243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9" name="Shape 15"/>
          <p:cNvSpPr/>
          <p:nvPr/>
        </p:nvSpPr>
        <p:spPr>
          <a:xfrm>
            <a:off x="9692640" y="589788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92640" y="59115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s-PE" sz="1400" dirty="0"/>
          </a:p>
        </p:txBody>
      </p:sp>
      <p:sp>
        <p:nvSpPr>
          <p:cNvPr id="21" name="Text 17"/>
          <p:cNvSpPr/>
          <p:nvPr/>
        </p:nvSpPr>
        <p:spPr>
          <a:xfrm>
            <a:off x="10094976" y="5888736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Efecto explícito</a:t>
            </a:r>
            <a:endParaRPr lang="es-PE" sz="2200" dirty="0"/>
          </a:p>
        </p:txBody>
      </p:sp>
      <p:sp>
        <p:nvSpPr>
          <p:cNvPr id="22" name="Text 18"/>
          <p:cNvSpPr/>
          <p:nvPr/>
        </p:nvSpPr>
        <p:spPr>
          <a:xfrm>
            <a:off x="9692640" y="669340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cotejo y la confirmación separan la decisión irreversible del descuento físico, que corresponde al retiro.</a:t>
            </a:r>
            <a:endParaRPr lang="es-PE" sz="2000" dirty="0"/>
          </a:p>
        </p:txBody>
      </p:sp>
      <p:sp>
        <p:nvSpPr>
          <p:cNvPr id="23" name="Shape 19"/>
          <p:cNvSpPr/>
          <p:nvPr/>
        </p:nvSpPr>
        <p:spPr>
          <a:xfrm>
            <a:off x="8723917" y="6835816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723917" y="684953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s-PE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Brigada: retirar exige una ruta vigente y carga completa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MK-07 · La verificación vial condiciona el retiro, sin acreditar una recepción conforme</a:t>
            </a:r>
            <a:endParaRPr lang="es-PE" sz="2000" dirty="0"/>
          </a:p>
        </p:txBody>
      </p:sp>
      <p:pic>
        <p:nvPicPr>
          <p:cNvPr id="6" name="Image 0" descr="Recorte fiel de 04-traslado/MK-07-ruta-trasl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6504"/>
            <a:ext cx="10515600" cy="518653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567160" y="196596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567160" y="197967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9" name="Text 5"/>
          <p:cNvSpPr/>
          <p:nvPr/>
        </p:nvSpPr>
        <p:spPr>
          <a:xfrm>
            <a:off x="11969496" y="1956816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Recorrido interpretable</a:t>
            </a:r>
            <a:endParaRPr lang="es-PE" sz="1800" dirty="0"/>
          </a:p>
        </p:txBody>
      </p:sp>
      <p:sp>
        <p:nvSpPr>
          <p:cNvPr id="10" name="Text 6"/>
          <p:cNvSpPr/>
          <p:nvPr/>
        </p:nvSpPr>
        <p:spPr>
          <a:xfrm>
            <a:off x="11567160" y="2670048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Origen y destino;</a:t>
            </a:r>
            <a:endParaRPr lang="es-PE" sz="1800" dirty="0"/>
          </a:p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tramos y restricciones.</a:t>
            </a:r>
            <a:endParaRPr lang="es-PE" sz="1800" dirty="0"/>
          </a:p>
        </p:txBody>
      </p:sp>
      <p:sp>
        <p:nvSpPr>
          <p:cNvPr id="11" name="Shape 7"/>
          <p:cNvSpPr/>
          <p:nvPr/>
        </p:nvSpPr>
        <p:spPr>
          <a:xfrm>
            <a:off x="3858520" y="3433118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858520" y="344683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3" name="Shape 9"/>
          <p:cNvSpPr/>
          <p:nvPr/>
        </p:nvSpPr>
        <p:spPr>
          <a:xfrm>
            <a:off x="11567160" y="3813048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567160" y="382676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5" name="Text 11"/>
          <p:cNvSpPr/>
          <p:nvPr/>
        </p:nvSpPr>
        <p:spPr>
          <a:xfrm>
            <a:off x="11969496" y="3803904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Bloqueo conservador</a:t>
            </a:r>
            <a:endParaRPr lang="es-PE" sz="1800" dirty="0"/>
          </a:p>
        </p:txBody>
      </p:sp>
      <p:sp>
        <p:nvSpPr>
          <p:cNvPr id="16" name="Text 12"/>
          <p:cNvSpPr/>
          <p:nvPr/>
        </p:nvSpPr>
        <p:spPr>
          <a:xfrm>
            <a:off x="11567160" y="4517136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o IMPASSABLE y verificación vencida bloquean el retiro.</a:t>
            </a:r>
            <a:endParaRPr lang="es-PE" sz="1800" dirty="0"/>
          </a:p>
        </p:txBody>
      </p:sp>
      <p:sp>
        <p:nvSpPr>
          <p:cNvPr id="17" name="Shape 13"/>
          <p:cNvSpPr/>
          <p:nvPr/>
        </p:nvSpPr>
        <p:spPr>
          <a:xfrm>
            <a:off x="10351586" y="3155974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351586" y="316969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9" name="Shape 15"/>
          <p:cNvSpPr/>
          <p:nvPr/>
        </p:nvSpPr>
        <p:spPr>
          <a:xfrm>
            <a:off x="11567160" y="5660136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567160" y="567385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s-PE" sz="1400" dirty="0"/>
          </a:p>
        </p:txBody>
      </p:sp>
      <p:sp>
        <p:nvSpPr>
          <p:cNvPr id="21" name="Text 17"/>
          <p:cNvSpPr/>
          <p:nvPr/>
        </p:nvSpPr>
        <p:spPr>
          <a:xfrm>
            <a:off x="11969496" y="5650992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Hechos distintos</a:t>
            </a:r>
            <a:endParaRPr lang="es-PE" sz="1800" dirty="0"/>
          </a:p>
        </p:txBody>
      </p:sp>
      <p:sp>
        <p:nvSpPr>
          <p:cNvPr id="22" name="Text 18"/>
          <p:cNvSpPr/>
          <p:nvPr/>
        </p:nvSpPr>
        <p:spPr>
          <a:xfrm>
            <a:off x="11567160" y="6364224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brigada retira toda la carga y registra llegada; la comunidad verifica después.</a:t>
            </a:r>
            <a:endParaRPr lang="es-PE" sz="1800" dirty="0"/>
          </a:p>
        </p:txBody>
      </p:sp>
      <p:sp>
        <p:nvSpPr>
          <p:cNvPr id="23" name="Shape 19"/>
          <p:cNvSpPr/>
          <p:nvPr/>
        </p:nvSpPr>
        <p:spPr>
          <a:xfrm>
            <a:off x="10351586" y="6164956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351586" y="6178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s-PE" sz="1400" dirty="0"/>
          </a:p>
        </p:txBody>
      </p:sp>
      <p:sp>
        <p:nvSpPr>
          <p:cNvPr id="25" name="Text 21"/>
          <p:cNvSpPr/>
          <p:nvPr/>
        </p:nvSpPr>
        <p:spPr>
          <a:xfrm>
            <a:off x="548640" y="7543800"/>
            <a:ext cx="1353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ruta es un esquema sin escala ni GPS. Una verificación menor a 30 minutos es una condición, no una garantía de tránsito.</a:t>
            </a:r>
            <a:endParaRPr lang="es-PE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Comuna: recibir físicamente no equivale a recibir conforme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MK-08 · Variante final con discrepancias, vinculada al despacho llegado</a:t>
            </a:r>
            <a:endParaRPr lang="es-PE" sz="2000" dirty="0"/>
          </a:p>
        </p:txBody>
      </p:sp>
      <p:pic>
        <p:nvPicPr>
          <p:cNvPr id="6" name="Image 0" descr="Recorte fiel de 05-recepcion/MK-08-recepcion-varia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6504"/>
            <a:ext cx="8412480" cy="635167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692640" y="196596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692640" y="197967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9" name="Text 5"/>
          <p:cNvSpPr/>
          <p:nvPr/>
        </p:nvSpPr>
        <p:spPr>
          <a:xfrm>
            <a:off x="10094976" y="1956816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Comparación por línea</a:t>
            </a:r>
            <a:endParaRPr lang="es-PE" sz="2200" dirty="0"/>
          </a:p>
        </p:txBody>
      </p:sp>
      <p:sp>
        <p:nvSpPr>
          <p:cNvPr id="10" name="Text 6"/>
          <p:cNvSpPr/>
          <p:nvPr/>
        </p:nvSpPr>
        <p:spPr>
          <a:xfrm>
            <a:off x="9692640" y="276148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Enviado, recibido y conforme tienen columnas distintas. El faltante se calcula sobre ese despacho.</a:t>
            </a:r>
            <a:endParaRPr lang="es-PE" sz="2000" dirty="0"/>
          </a:p>
        </p:txBody>
      </p:sp>
      <p:sp>
        <p:nvSpPr>
          <p:cNvPr id="11" name="Shape 7"/>
          <p:cNvSpPr/>
          <p:nvPr/>
        </p:nvSpPr>
        <p:spPr>
          <a:xfrm>
            <a:off x="8592763" y="3618156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592763" y="36318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3" name="Shape 9"/>
          <p:cNvSpPr/>
          <p:nvPr/>
        </p:nvSpPr>
        <p:spPr>
          <a:xfrm>
            <a:off x="9692640" y="393192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692640" y="39456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5" name="Text 11"/>
          <p:cNvSpPr/>
          <p:nvPr/>
        </p:nvSpPr>
        <p:spPr>
          <a:xfrm>
            <a:off x="10094976" y="3922776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Diferencias documentadas</a:t>
            </a:r>
            <a:endParaRPr lang="es-PE" sz="2200" dirty="0"/>
          </a:p>
        </p:txBody>
      </p:sp>
      <p:sp>
        <p:nvSpPr>
          <p:cNvPr id="16" name="Text 12"/>
          <p:cNvSpPr/>
          <p:nvPr/>
        </p:nvSpPr>
        <p:spPr>
          <a:xfrm>
            <a:off x="9692640" y="472744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registran 2 bidones faltantes y 2 frazadas dañadas. Las observaciones justifican cada discrepancia.</a:t>
            </a:r>
            <a:endParaRPr lang="es-PE" sz="2000" dirty="0"/>
          </a:p>
        </p:txBody>
      </p:sp>
      <p:sp>
        <p:nvSpPr>
          <p:cNvPr id="17" name="Shape 13"/>
          <p:cNvSpPr/>
          <p:nvPr/>
        </p:nvSpPr>
        <p:spPr>
          <a:xfrm>
            <a:off x="8592763" y="5211052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592763" y="522476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pic>
        <p:nvPicPr>
          <p:cNvPr id="19" name="Image 1" descr="Recorte fiel de 05-recepcion/MK-08-recepcion-varian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852160"/>
            <a:ext cx="3657600" cy="17780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92640" y="7680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6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Documentos únicos tras finalizar; generación reintentable.</a:t>
            </a:r>
            <a:endParaRPr lang="es-PE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Defensa Civil: distinguir riesgo, atención y evidencia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MK-09 · Una misma comunidad conserva dimensiones territoriales independientes</a:t>
            </a:r>
            <a:endParaRPr lang="es-PE" sz="2000" dirty="0"/>
          </a:p>
        </p:txBody>
      </p:sp>
      <p:pic>
        <p:nvPicPr>
          <p:cNvPr id="6" name="Image 0" descr="Recorte fiel de 06-supervision/MK-09-mapa-territor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5486400" cy="750181"/>
          </a:xfrm>
          <a:prstGeom prst="rect">
            <a:avLst/>
          </a:prstGeom>
        </p:spPr>
      </p:pic>
      <p:pic>
        <p:nvPicPr>
          <p:cNvPr id="7" name="Image 1" descr="Recorte fiel de 06-supervision/MK-09-mapa-territor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4600"/>
            <a:ext cx="10515600" cy="46718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1567160" y="196596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567160" y="197967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0" name="Text 5"/>
          <p:cNvSpPr/>
          <p:nvPr/>
        </p:nvSpPr>
        <p:spPr>
          <a:xfrm>
            <a:off x="11969496" y="1956816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Fenómeno y capas</a:t>
            </a:r>
            <a:endParaRPr lang="es-PE" sz="1800" dirty="0"/>
          </a:p>
        </p:txBody>
      </p:sp>
      <p:sp>
        <p:nvSpPr>
          <p:cNvPr id="11" name="Text 6"/>
          <p:cNvSpPr/>
          <p:nvPr/>
        </p:nvSpPr>
        <p:spPr>
          <a:xfrm>
            <a:off x="11567160" y="2670048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Filtrar evita mezclar evaluaciones de desastres distintos.</a:t>
            </a:r>
            <a:endParaRPr lang="es-PE" sz="1800" dirty="0"/>
          </a:p>
        </p:txBody>
      </p:sp>
      <p:sp>
        <p:nvSpPr>
          <p:cNvPr id="12" name="Shape 7"/>
          <p:cNvSpPr/>
          <p:nvPr/>
        </p:nvSpPr>
        <p:spPr>
          <a:xfrm>
            <a:off x="3858520" y="3369784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858520" y="338350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4" name="Shape 9"/>
          <p:cNvSpPr/>
          <p:nvPr/>
        </p:nvSpPr>
        <p:spPr>
          <a:xfrm>
            <a:off x="11567160" y="3813048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1567160" y="382676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6" name="Text 11"/>
          <p:cNvSpPr/>
          <p:nvPr/>
        </p:nvSpPr>
        <p:spPr>
          <a:xfrm>
            <a:off x="11969496" y="3803904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Atención independiente</a:t>
            </a:r>
            <a:endParaRPr lang="es-PE" sz="1800" dirty="0"/>
          </a:p>
        </p:txBody>
      </p:sp>
      <p:sp>
        <p:nvSpPr>
          <p:cNvPr id="17" name="Text 12"/>
          <p:cNvSpPr/>
          <p:nvPr/>
        </p:nvSpPr>
        <p:spPr>
          <a:xfrm>
            <a:off x="11567160" y="4517136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Recibir ayuda no reduce el nivel registrado de inundación.</a:t>
            </a:r>
            <a:endParaRPr lang="es-PE" sz="1800" dirty="0"/>
          </a:p>
        </p:txBody>
      </p:sp>
      <p:sp>
        <p:nvSpPr>
          <p:cNvPr id="18" name="Shape 13"/>
          <p:cNvSpPr/>
          <p:nvPr/>
        </p:nvSpPr>
        <p:spPr>
          <a:xfrm>
            <a:off x="10193219" y="4399173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193219" y="4412889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20" name="Shape 15"/>
          <p:cNvSpPr/>
          <p:nvPr/>
        </p:nvSpPr>
        <p:spPr>
          <a:xfrm>
            <a:off x="11567160" y="5660136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1567160" y="567385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s-PE" sz="1400" dirty="0"/>
          </a:p>
        </p:txBody>
      </p:sp>
      <p:sp>
        <p:nvSpPr>
          <p:cNvPr id="22" name="Text 17"/>
          <p:cNvSpPr/>
          <p:nvPr/>
        </p:nvSpPr>
        <p:spPr>
          <a:xfrm>
            <a:off x="11969496" y="5650992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Procedencia visible</a:t>
            </a:r>
            <a:endParaRPr lang="es-PE" sz="1800" dirty="0"/>
          </a:p>
        </p:txBody>
      </p:sp>
      <p:sp>
        <p:nvSpPr>
          <p:cNvPr id="23" name="Text 18"/>
          <p:cNvSpPr/>
          <p:nvPr/>
        </p:nvSpPr>
        <p:spPr>
          <a:xfrm>
            <a:off x="11567160" y="6364224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Fuente, fecha y verificación permiten valorar la evidencia disponible.</a:t>
            </a:r>
            <a:endParaRPr lang="es-PE" sz="1800" dirty="0"/>
          </a:p>
        </p:txBody>
      </p:sp>
      <p:sp>
        <p:nvSpPr>
          <p:cNvPr id="24" name="Shape 19"/>
          <p:cNvSpPr/>
          <p:nvPr/>
        </p:nvSpPr>
        <p:spPr>
          <a:xfrm>
            <a:off x="10193219" y="6062031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193219" y="6075747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s-PE" sz="1400" dirty="0"/>
          </a:p>
        </p:txBody>
      </p:sp>
      <p:sp>
        <p:nvSpPr>
          <p:cNvPr id="26" name="Text 21"/>
          <p:cNvSpPr/>
          <p:nvPr/>
        </p:nvSpPr>
        <p:spPr>
          <a:xfrm>
            <a:off x="548640" y="7543800"/>
            <a:ext cx="1353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Defensa Civil consulta sin modificar operaciones. Las observaciones externas no equivalen a una declaración oficial de emergencia.</a:t>
            </a:r>
            <a:endParaRPr lang="es-PE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12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32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informe cierra la historia, no oculta las diferencias</a:t>
            </a:r>
            <a:endParaRPr lang="es-PE" sz="3200" dirty="0"/>
          </a:p>
        </p:txBody>
      </p:sp>
      <p:sp>
        <p:nvSpPr>
          <p:cNvPr id="3" name="Text 1"/>
          <p:cNvSpPr/>
          <p:nvPr/>
        </p:nvSpPr>
        <p:spPr>
          <a:xfrm>
            <a:off x="13743432" y="4114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PE" altLang="en-US" sz="1500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s-PE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1348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000" dirty="0">
                <a:solidFill>
                  <a:srgbClr val="4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MK-10 · La instantánea final consolida las etapas y conserva las brechas de satisfacción</a:t>
            </a:r>
            <a:endParaRPr lang="es-PE" sz="2000" dirty="0"/>
          </a:p>
        </p:txBody>
      </p:sp>
      <p:pic>
        <p:nvPicPr>
          <p:cNvPr id="6" name="Image 0" descr="Recorte fiel de 06-supervision/MK-10-informe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6504"/>
            <a:ext cx="10515600" cy="521029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567160" y="1965960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567160" y="197967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9" name="Text 5"/>
          <p:cNvSpPr/>
          <p:nvPr/>
        </p:nvSpPr>
        <p:spPr>
          <a:xfrm>
            <a:off x="11969496" y="1956816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Cantidades conciliadas</a:t>
            </a:r>
            <a:endParaRPr lang="es-PE" sz="1800" dirty="0"/>
          </a:p>
        </p:txBody>
      </p:sp>
      <p:sp>
        <p:nvSpPr>
          <p:cNvPr id="10" name="Text 6"/>
          <p:cNvSpPr/>
          <p:nvPr/>
        </p:nvSpPr>
        <p:spPr>
          <a:xfrm>
            <a:off x="11567160" y="2670048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118 de 120 bidones y 78 de 80 frazadas conformes; dos despachos finalizados.</a:t>
            </a:r>
            <a:endParaRPr lang="es-PE" sz="1800" dirty="0"/>
          </a:p>
        </p:txBody>
      </p:sp>
      <p:sp>
        <p:nvSpPr>
          <p:cNvPr id="11" name="Shape 7"/>
          <p:cNvSpPr/>
          <p:nvPr/>
        </p:nvSpPr>
        <p:spPr>
          <a:xfrm>
            <a:off x="6471583" y="4605037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71583" y="4618753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s-PE" sz="1400" dirty="0"/>
          </a:p>
        </p:txBody>
      </p:sp>
      <p:sp>
        <p:nvSpPr>
          <p:cNvPr id="13" name="Shape 9"/>
          <p:cNvSpPr/>
          <p:nvPr/>
        </p:nvSpPr>
        <p:spPr>
          <a:xfrm>
            <a:off x="11567160" y="3813048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567160" y="382676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5" name="Text 11"/>
          <p:cNvSpPr/>
          <p:nvPr/>
        </p:nvSpPr>
        <p:spPr>
          <a:xfrm>
            <a:off x="11969496" y="3803904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Brechas diferentes</a:t>
            </a:r>
            <a:endParaRPr lang="es-PE" sz="1800" dirty="0"/>
          </a:p>
        </p:txBody>
      </p:sp>
      <p:sp>
        <p:nvSpPr>
          <p:cNvPr id="16" name="Text 12"/>
          <p:cNvSpPr/>
          <p:nvPr/>
        </p:nvSpPr>
        <p:spPr>
          <a:xfrm>
            <a:off x="11567160" y="4517136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autorizar: 0.</a:t>
            </a:r>
            <a:endParaRPr lang="es-PE" sz="1800" dirty="0"/>
          </a:p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Brecha de satisfacción:</a:t>
            </a:r>
            <a:endParaRPr lang="es-PE" sz="1800" dirty="0"/>
          </a:p>
          <a:p>
            <a:pPr indent="0" marL="0">
              <a:buNone/>
            </a:pPr>
            <a:r>
              <a:rPr lang="es-PE" altLang="en-US" sz="1800" dirty="0">
                <a:solidFill>
                  <a:srgbClr val="183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por producto.</a:t>
            </a:r>
            <a:endParaRPr lang="es-PE" sz="1800" dirty="0"/>
          </a:p>
        </p:txBody>
      </p:sp>
      <p:sp>
        <p:nvSpPr>
          <p:cNvPr id="17" name="Shape 13"/>
          <p:cNvSpPr/>
          <p:nvPr/>
        </p:nvSpPr>
        <p:spPr>
          <a:xfrm>
            <a:off x="10193219" y="4921772"/>
            <a:ext cx="292608" cy="2926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7F9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193219" y="49354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PE" altLang="en-US" sz="1400" b="1" dirty="0">
                <a:solidFill>
                  <a:srgbClr val="007F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s-PE" sz="1400" dirty="0"/>
          </a:p>
        </p:txBody>
      </p:sp>
      <p:sp>
        <p:nvSpPr>
          <p:cNvPr id="19" name="Text 15"/>
          <p:cNvSpPr/>
          <p:nvPr/>
        </p:nvSpPr>
        <p:spPr>
          <a:xfrm>
            <a:off x="548640" y="7360920"/>
            <a:ext cx="1353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PE" altLang="en-US" sz="2100" b="1" dirty="0">
                <a:solidFill>
                  <a:srgbClr val="123D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Alivía coordina la ayuda mediante responsabilidades y procesos definidos, datos consistentes y una interfaz que permite verificar qué ocurrió con cada aporte.</a:t>
            </a:r>
            <a:endParaRPr lang="es-PE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Universidad Nacional de Piura (UNP)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Alivía — Análisis y diseño del sistema · Revisión v2</dc:title>
  <dc:subject>Ingeniería de Software</dc:subject>
  <dc:creator>Equipo Alivía · Universidad Nacional de Piura</dc:creator>
  <cp:lastModifiedBy>Equipo Alivía · Universidad Nacional de Piura</cp:lastModifiedBy>
  <cp:revision>1</cp:revision>
  <dcterms:created xsi:type="dcterms:W3CDTF">2026-10-19T12:47:44Z</dcterms:created>
  <dcterms:modified xsi:type="dcterms:W3CDTF">2026-10-19T12:47:44Z</dcterms:modified>
</cp:coreProperties>
</file>