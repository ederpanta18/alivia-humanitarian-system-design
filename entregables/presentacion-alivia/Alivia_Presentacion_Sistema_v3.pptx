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T06, información académica; prototipos/00-sistema-diseno/identidad-visual.md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docs/00-definicion/01-problema-objetivos.md; docs/00-definicion/02-alcance-supuestos.md
Lluvias intensas asociadas a El Niño en Piura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docs/00-definicion/01-problema-objetivos.md; docs/02-procesos/00-flujo-general.md
Plataforma web de coordinación y trazabilidad de ayuda humanitaria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docs/01-negocio/02-actores-responsabilidades.md; docs/03-requisitos/01-requisitos-funcionales.md
Cada responsable opera sobre su entidad; la supervisión territorial mantiene acceso de lectura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docs/02-procesos/00-flujo-general.md; diagramas/02-casos-uso-procesos/; diagramas/04-secuencias-automaticas/
Seis macroprocesos; la supervisión acompaña toda la operación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docs/05-analisis/02-estados-transiciones.md; docs/01-negocio/03-reglas-negocio.md; docs/07-datos/05-territory.md; docs/08-comunicaciones/04-integraciones-externas.md
PROPOSED puede pasar a REJECTED solo con motivo. Confirmar o reducir no compromete stock. Autorizar revalida lotes USABLE y demanda pendiente. Retiro completo exige ruta vigente, sin UNKNOWN ni IMPASSABLE y verificación menor de 30 minutos. FINALIZED exige recepción única, conforme o con observaciones. Las discrepancias cerradas no reactivan matching. SENAMHI es una fuente considerada; no se acredita integración activa ni boletín oficial.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docs/05-analisis/01-modelo-dominio.md; diagramas/05-estructura/EST-01-clases-dominio.puml; docs/07-datos/01-identity.md; docs/07-datos/05-territory.md
Modelo conceptual sin PK/FK. Identity: usuario con un rol y pertenencia exclusiva; ONG administra almacenes y Brigada ejecuta traslados. Shelter: comunidad, emergencia, solicitud, líneas, recepción e informe final. Inventory: productos, almacenes, lotes, propuestas y autorizaciones. Logistics: despachos, rutas y documentos. Territory: observaciones y evaluaciones por comunidad, desastre, nivel, fuente y fecha. El informe final es una instantánea al cierre.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docs/07-datos/00-diagrama-er-global.md; 02-shelter.md; 03-inventory.md; 01-identity.md; 05-territory.md
Identity: user tiene PK UUID, role, ong_id y brigade_id con FK internas y community_id como referencia lógica. CHECK por rol e índices UNIQUE parciales garantizan pertenencia exclusiva. Territory: risk tiene PK UUID y una comunidad [R]; catastrophe y catastrophe_level son FK internas, observation_id es opcional. Una comunidad admite cero o más evaluaciones. UNIQUE(request_id, product_id), requested_quantity &gt; 0, numeric(18,3); solo lotes USABLE. Observaciones únicas por fuente e identificador externo.
Vista 1: una línea de matching conecta una línea solicitada con un lote concreto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docs/07-datos/00-diagrama-er-global.md; 02-shelter.md; 03-inventory.md; 04-logistics.md
Vista 2: las referencias enlazan los módulos sin convertirlas en FK físicas entre schemas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docs/07-datos/06-integridad-transaccional.md; docs/07-datos/03-inventory.md; docs/07-datos/02-shelter.md
Disponibilidad = stock físico utilizable − compromisos autorizados pendientes de retiro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docs/06-arquitectura/01-arquitectura-logica.md; docs/06-arquitectura/02-decisiones-arquitectonicas.md; diagramas/05-estructura/EST-03-componentes.puml
Monolito modular NestJS en capas: simplifica desarrollo y despliegue, manteniendo límites funcionales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docs/06-arquitectura/01-arquitectura-logica.md; diagramas/05-estructura/EST-02-paquetes.puml; EST-03-componentes.puml
Las flechas representan coordinación de casos de uso, no dependencias circulares entre implementaciones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docs/12-infraestructura/01-topologia-cloud.md; docs/12-infraestructura/03-servidor-web-cloud.md; diagramas/05-estructura/EST-04-despliegue.puml
Referencia propuesta: Vercel para Next.js, Render para NestJS y Supabase para PostgreSQL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docs/12-infraestructura/02-base-datos-cloud.md; docs/07-datos/06-integridad-transaccional.md
PostgreSQL administrado, acceso exclusivo del backend y continuidad planificada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docs/08-comunicaciones/01-navegador-servidor.md; docs/08-comunicaciones/02-contratos-api.md; docs/08-comunicaciones/03-seguridad-comunicaciones.md
HTTPS protege el transporte; la API verifica identidad, permisos y datos antes de persistir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prototipos/01-solicitud/MK-02-registro-solicitud.png; prototipos/00-sistema-diseno/identidad-visual.md; docs/09-interfaz/01-navegacion-roles.md; docs/09-interfaz/02-especificacion-interfaces.md
Se conserva Segoe UI, fondo blanco, azul oscuro y cyan. Navegación por rol, estados expresados también en texto, etiquetas y unidades visibles. El menú no determina permisos; los aplica el backend. La confirmación comunitaria vuelve inmutable la solicitud.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prototipos/02-matching/MK-04-propuesta.png; prototipos/03-autorizacion/MK-05-autorizacion.png; docs/07-datos/03-inventory.md; docs/07-datos/06-integridad-transaccional.md
Matching usa producto y unidad coincidentes, stock USABLE y FEFO cuando corresponde. El rechazo requiere motivo y deja elegible lo nunca autorizado. Confirmar o reducir no reserva. Autorizar no aumenta cantidades y revalida en transacción lotes y demanda pendiente. El recorte MK-05 conserva su estado previo a la autorización y no altera datos ni controles.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prototipos/04-traslado/MK-07-ruta-traslado.png; prototipos/05-recepcion/MK-08-recepcion-variante.png; docs/07-datos/04-logistics.md; docs/07-datos/02-shelter.md
El mapa es esquemático, sin escala ni GPS. El retiro es completo y exige verificación de ruta menor de 30 minutos, sin UNKNOWN ni IMPASSABLE; no garantiza transitabilidad física. Brigada registra llegada. Comuna valida después una recepción única. Recibido físico puede diferir de conforme; missing = enviado − recibido. El ejemplo final conserva 2 bidones faltantes y 2 frazadas dañadas. Las discrepancias no reactivan matching ni descuentan inventario otra vez. Documentos únicos XLSX/PDF tras finalizar, fuera de TX y reintentables.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prototipos/06-supervision/MK-09-mapa-territorial.png; prototipos/00-sistema-diseno/escenario-demostracion.md; docs/09-interfaz/02-especificacion-interfaces.md
La captura procede del PNG final del repositorio. Se omite el marco común para ampliar la tarea. Ningún control o dato ha sido reconstruido.
MK-09 · Una misma comunidad conserva dimensiones territoriales independientes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locales: prototipos/06-supervision/MK-10-informe-final.png; prototipos/00-sistema-diseno/escenario-demostracion.md; docs/09-interfaz/02-especificacion-interfaces.md
Cierre por EMERGENCIA_FINALIZADA, preconfigurado al 20 de octubre 18:00; publicación 18:01. Una recepción conforme y otra con observaciones. 118 bidones físicos/conformes; 80 frazadas físicas y 78 conformes. El informe no es una operación de cierre de Defensa Civil.
MK-10 · La instantánea final consolida las etapas y conserva las brechas de satisfacción
Revisión T06: se conserva y consolida el contenido de v2. Diseño de referencia; prototipos locales con datos ficticios. Fecha académica: 13 de octubre de 2026. Los cortes de demostración son del 18 y 20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s-PE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548640"/>
            <a:ext cx="132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6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Universidad Nacional de Piura (UNP)</a:t>
            </a:r>
            <a:endParaRPr lang="es-PE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097280"/>
            <a:ext cx="132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Curso: Ingeniería de Software</a:t>
            </a:r>
            <a:endParaRPr lang="es-PE" sz="2200" dirty="0"/>
          </a:p>
        </p:txBody>
      </p:sp>
      <p:pic>
        <p:nvPicPr>
          <p:cNvPr id="6" name="Image 0" descr="Escudo de Alivía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182" y="1874520"/>
            <a:ext cx="676532" cy="74418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14287" y="1828800"/>
            <a:ext cx="10824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4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Alivía</a:t>
            </a:r>
            <a:endParaRPr lang="es-PE" sz="4800" dirty="0"/>
          </a:p>
        </p:txBody>
      </p:sp>
      <p:sp>
        <p:nvSpPr>
          <p:cNvPr id="8" name="Text 4"/>
          <p:cNvSpPr/>
          <p:nvPr/>
        </p:nvSpPr>
        <p:spPr>
          <a:xfrm>
            <a:off x="640080" y="3017520"/>
            <a:ext cx="132600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200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 y diseño de un sistema de coordinación</a:t>
            </a:r>
            <a:endParaRPr lang="es-PE" sz="3200" dirty="0"/>
          </a:p>
          <a:p>
            <a:pPr indent="0" marL="0">
              <a:buNone/>
            </a:pPr>
            <a:r>
              <a:rPr lang="es-PE" altLang="en-US" sz="3200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trazabilidad de ayuda humanitaria</a:t>
            </a:r>
            <a:endParaRPr lang="es-PE" sz="3200" dirty="0"/>
          </a:p>
        </p:txBody>
      </p:sp>
      <p:sp>
        <p:nvSpPr>
          <p:cNvPr id="9" name="Shape 5"/>
          <p:cNvSpPr/>
          <p:nvPr/>
        </p:nvSpPr>
        <p:spPr>
          <a:xfrm>
            <a:off x="640080" y="4599432"/>
            <a:ext cx="13350240" cy="0"/>
          </a:xfrm>
          <a:prstGeom prst="line">
            <a:avLst/>
          </a:prstGeom>
          <a:noFill/>
          <a:ln w="12700">
            <a:solidFill>
              <a:srgbClr val="D6E3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4910328"/>
            <a:ext cx="132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3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Tarea grupal — Análisis y diseño del sistema</a:t>
            </a:r>
            <a:endParaRPr lang="es-PE" sz="2300" dirty="0"/>
          </a:p>
        </p:txBody>
      </p:sp>
      <p:sp>
        <p:nvSpPr>
          <p:cNvPr id="11" name="Text 7"/>
          <p:cNvSpPr/>
          <p:nvPr/>
        </p:nvSpPr>
        <p:spPr>
          <a:xfrm>
            <a:off x="640080" y="5623560"/>
            <a:ext cx="2345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Integrantes</a:t>
            </a:r>
            <a:endParaRPr lang="es-PE" sz="2000" dirty="0"/>
          </a:p>
        </p:txBody>
      </p:sp>
      <p:sp>
        <p:nvSpPr>
          <p:cNvPr id="12" name="Text 8"/>
          <p:cNvSpPr/>
          <p:nvPr/>
        </p:nvSpPr>
        <p:spPr>
          <a:xfrm>
            <a:off x="3165801" y="5532120"/>
            <a:ext cx="107343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Paucar Campoverder Kenyi Yair</a:t>
            </a:r>
            <a:endParaRPr lang="es-PE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Villegas Saavedra Axel Alberto</a:t>
            </a:r>
            <a:endParaRPr lang="es-PE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Panta Sanchez Eder Daniel</a:t>
            </a:r>
            <a:endParaRPr lang="es-PE" sz="2200" dirty="0"/>
          </a:p>
          <a:p>
            <a:pPr indent="0" marL="0">
              <a:lnSpc>
                <a:spcPct val="110000"/>
              </a:lnSpc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Inoñan González Justin Hafid</a:t>
            </a:r>
            <a:endParaRPr lang="es-PE" sz="2200" dirty="0"/>
          </a:p>
        </p:txBody>
      </p:sp>
      <p:sp>
        <p:nvSpPr>
          <p:cNvPr id="13" name="Text 9"/>
          <p:cNvSpPr/>
          <p:nvPr/>
        </p:nvSpPr>
        <p:spPr>
          <a:xfrm>
            <a:off x="640080" y="7699248"/>
            <a:ext cx="10824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de octubre de 2026</a:t>
            </a:r>
            <a:endParaRPr lang="es-PE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CONTEXTO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fragmentación impide saber qué ayuda llegó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Coordinación humanitaria ante lluvias intensas asociadas a El Niño en Piura.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9837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Registros dispersos</a:t>
            </a:r>
            <a:endParaRPr lang="es-PE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2560320"/>
            <a:ext cx="38336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comunidades registran sus necesidades por separado. Cada ONG conoce su inventario, pero no toda la demanda.</a:t>
            </a:r>
            <a:endParaRPr lang="es-PE" sz="2200" dirty="0"/>
          </a:p>
        </p:txBody>
      </p:sp>
      <p:sp>
        <p:nvSpPr>
          <p:cNvPr id="10" name="Text 7"/>
          <p:cNvSpPr/>
          <p:nvPr/>
        </p:nvSpPr>
        <p:spPr>
          <a:xfrm>
            <a:off x="5330705" y="1965960"/>
            <a:ext cx="369837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Decisiones inciertas</a:t>
            </a:r>
            <a:endParaRPr lang="es-PE" sz="2400" dirty="0"/>
          </a:p>
        </p:txBody>
      </p:sp>
      <p:sp>
        <p:nvSpPr>
          <p:cNvPr id="11" name="Text 8"/>
          <p:cNvSpPr/>
          <p:nvPr/>
        </p:nvSpPr>
        <p:spPr>
          <a:xfrm>
            <a:off x="5330705" y="2560320"/>
            <a:ext cx="3698377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coordinación pierde la relación entre lo solicitado, lo comprometido y lo recibido. Las restricciones de acceso cambian durante la atención.</a:t>
            </a:r>
            <a:endParaRPr lang="es-PE" sz="2200" dirty="0"/>
          </a:p>
        </p:txBody>
      </p:sp>
      <p:sp>
        <p:nvSpPr>
          <p:cNvPr id="12" name="Text 9"/>
          <p:cNvSpPr/>
          <p:nvPr/>
        </p:nvSpPr>
        <p:spPr>
          <a:xfrm>
            <a:off x="10021330" y="1965960"/>
            <a:ext cx="39689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Consecuencias operativas</a:t>
            </a:r>
            <a:endParaRPr lang="es-PE" sz="2400" dirty="0"/>
          </a:p>
        </p:txBody>
      </p:sp>
      <p:sp>
        <p:nvSpPr>
          <p:cNvPr id="13" name="Text 10"/>
          <p:cNvSpPr/>
          <p:nvPr/>
        </p:nvSpPr>
        <p:spPr>
          <a:xfrm>
            <a:off x="10021330" y="2560320"/>
            <a:ext cx="396899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dificulta evitar sobreasignaciones, identificar brechas y reconstruir responsables. Una entrega anunciada o un arribo puede confundirse con ayuda recibida conforme.</a:t>
            </a:r>
            <a:endParaRPr lang="es-PE" sz="2200" dirty="0"/>
          </a:p>
        </p:txBody>
      </p:sp>
      <p:sp>
        <p:nvSpPr>
          <p:cNvPr id="14" name="Shape 11"/>
          <p:cNvSpPr/>
          <p:nvPr/>
        </p:nvSpPr>
        <p:spPr>
          <a:xfrm>
            <a:off x="4518866" y="3703320"/>
            <a:ext cx="586328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9209491" y="3703320"/>
            <a:ext cx="586328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" y="6053328"/>
            <a:ext cx="13350240" cy="86868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5591" y="6254496"/>
            <a:ext cx="12899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Coordinar decisiones y evidencias permite reconstruir la historia de cada recurso.</a:t>
            </a:r>
            <a:endParaRPr lang="es-PE" sz="2400" dirty="0"/>
          </a:p>
        </p:txBody>
      </p:sp>
      <p:sp>
        <p:nvSpPr>
          <p:cNvPr id="18" name="Text 15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Escenario académico ficticio: no se presentan cifras de daños ni boletines oficiales de un evento real.</a:t>
            </a:r>
            <a:endParaRPr lang="es-PE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DESCRIPCIÓN DEL SISTEMA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Alivía vincula necesidades, aportes y evidencias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Solución web propuesta y alcance del análisis y diseño.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1335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necesidad conserva su vínculo con las propuestas de las ONG, las salidas autorizadas y la verificación comunitaria. Esto permite consultar el estado de atención sin equiparar una intención de aporte con una entrega conforme.</a:t>
            </a:r>
            <a:endParaRPr lang="es-PE" sz="240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337560"/>
            <a:ext cx="3608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Necesidad</a:t>
            </a:r>
            <a:endParaRPr lang="es-PE" sz="2400" dirty="0"/>
          </a:p>
        </p:txBody>
      </p:sp>
      <p:sp>
        <p:nvSpPr>
          <p:cNvPr id="11" name="Text 8"/>
          <p:cNvSpPr/>
          <p:nvPr/>
        </p:nvSpPr>
        <p:spPr>
          <a:xfrm>
            <a:off x="4609070" y="3337560"/>
            <a:ext cx="93812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Comunidad, productos, unidades y cantidades requeridas.</a:t>
            </a:r>
            <a:endParaRPr lang="es-PE" sz="2200" dirty="0"/>
          </a:p>
        </p:txBody>
      </p:sp>
      <p:sp>
        <p:nvSpPr>
          <p:cNvPr id="12" name="Shape 9"/>
          <p:cNvSpPr/>
          <p:nvPr/>
        </p:nvSpPr>
        <p:spPr>
          <a:xfrm>
            <a:off x="640080" y="4206240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343400"/>
            <a:ext cx="3608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Decisión de aporte</a:t>
            </a:r>
            <a:endParaRPr lang="es-PE" sz="2400" dirty="0"/>
          </a:p>
        </p:txBody>
      </p:sp>
      <p:sp>
        <p:nvSpPr>
          <p:cNvPr id="14" name="Text 11"/>
          <p:cNvSpPr/>
          <p:nvPr/>
        </p:nvSpPr>
        <p:spPr>
          <a:xfrm>
            <a:off x="4609070" y="4343400"/>
            <a:ext cx="93812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Origen, cantidades confirmadas, autorización y responsable.</a:t>
            </a:r>
            <a:endParaRPr lang="es-PE" sz="2200" dirty="0"/>
          </a:p>
        </p:txBody>
      </p:sp>
      <p:sp>
        <p:nvSpPr>
          <p:cNvPr id="15" name="Shape 12"/>
          <p:cNvSpPr/>
          <p:nvPr/>
        </p:nvSpPr>
        <p:spPr>
          <a:xfrm>
            <a:off x="640080" y="5212080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5349240"/>
            <a:ext cx="3608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y resultado</a:t>
            </a:r>
            <a:endParaRPr lang="es-PE" sz="2400" dirty="0"/>
          </a:p>
        </p:txBody>
      </p:sp>
      <p:sp>
        <p:nvSpPr>
          <p:cNvPr id="17" name="Text 14"/>
          <p:cNvSpPr/>
          <p:nvPr/>
        </p:nvSpPr>
        <p:spPr>
          <a:xfrm>
            <a:off x="4609070" y="5349240"/>
            <a:ext cx="93812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Retiro, llegada, recepción física, conformidad y discrepancias.</a:t>
            </a:r>
            <a:endParaRPr lang="es-PE" sz="2200" dirty="0"/>
          </a:p>
        </p:txBody>
      </p:sp>
      <p:sp>
        <p:nvSpPr>
          <p:cNvPr id="18" name="Text 15"/>
          <p:cNvSpPr/>
          <p:nvPr/>
        </p:nvSpPr>
        <p:spPr>
          <a:xfrm>
            <a:off x="640080" y="6473952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Alcance y límites</a:t>
            </a:r>
            <a:endParaRPr lang="es-PE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6995160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Análisis, diseño y prototipos locales. No declara emergencias ni administra vehículos, conductores o pagos.</a:t>
            </a:r>
            <a:endParaRPr lang="es-PE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Actores, responsabilidades y permisos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Cuatro roles; cada operación exige rol y titularidad en el servidor.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25257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Actor</a:t>
            </a:r>
            <a:endParaRPr lang="es-PE" sz="1900" dirty="0"/>
          </a:p>
        </p:txBody>
      </p:sp>
      <p:sp>
        <p:nvSpPr>
          <p:cNvPr id="9" name="Text 6"/>
          <p:cNvSpPr/>
          <p:nvPr/>
        </p:nvSpPr>
        <p:spPr>
          <a:xfrm>
            <a:off x="3391312" y="1965960"/>
            <a:ext cx="39689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Operación a su cargo</a:t>
            </a:r>
            <a:endParaRPr lang="es-PE" sz="1900" dirty="0"/>
          </a:p>
        </p:txBody>
      </p:sp>
      <p:sp>
        <p:nvSpPr>
          <p:cNvPr id="10" name="Text 7"/>
          <p:cNvSpPr/>
          <p:nvPr/>
        </p:nvSpPr>
        <p:spPr>
          <a:xfrm>
            <a:off x="7630915" y="1965960"/>
            <a:ext cx="31120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Información visible</a:t>
            </a:r>
            <a:endParaRPr lang="es-PE" sz="1900" dirty="0"/>
          </a:p>
        </p:txBody>
      </p:sp>
      <p:sp>
        <p:nvSpPr>
          <p:cNvPr id="11" name="Text 8"/>
          <p:cNvSpPr/>
          <p:nvPr/>
        </p:nvSpPr>
        <p:spPr>
          <a:xfrm>
            <a:off x="11013577" y="1965960"/>
            <a:ext cx="29767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Límite operativo</a:t>
            </a:r>
            <a:endParaRPr lang="es-PE" sz="1900" dirty="0"/>
          </a:p>
        </p:txBody>
      </p:sp>
      <p:sp>
        <p:nvSpPr>
          <p:cNvPr id="12" name="Shape 9"/>
          <p:cNvSpPr/>
          <p:nvPr/>
        </p:nvSpPr>
        <p:spPr>
          <a:xfrm>
            <a:off x="640080" y="2322576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468880"/>
            <a:ext cx="252572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Jefe de Comuna</a:t>
            </a:r>
            <a:endParaRPr lang="es-PE" sz="2000" dirty="0"/>
          </a:p>
        </p:txBody>
      </p:sp>
      <p:sp>
        <p:nvSpPr>
          <p:cNvPr id="14" name="Text 11"/>
          <p:cNvSpPr/>
          <p:nvPr/>
        </p:nvSpPr>
        <p:spPr>
          <a:xfrm>
            <a:off x="3391312" y="2468880"/>
            <a:ext cx="3968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 necesidades y confirma recepción.</a:t>
            </a:r>
            <a:endParaRPr lang="es-PE" sz="2000" dirty="0"/>
          </a:p>
        </p:txBody>
      </p:sp>
      <p:sp>
        <p:nvSpPr>
          <p:cNvPr id="15" name="Text 12"/>
          <p:cNvSpPr/>
          <p:nvPr/>
        </p:nvSpPr>
        <p:spPr>
          <a:xfrm>
            <a:off x="7630915" y="2468880"/>
            <a:ext cx="31120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Solicitudes y entregas propias.</a:t>
            </a:r>
            <a:endParaRPr lang="es-PE" sz="2000" dirty="0"/>
          </a:p>
        </p:txBody>
      </p:sp>
      <p:sp>
        <p:nvSpPr>
          <p:cNvPr id="16" name="Text 13"/>
          <p:cNvSpPr/>
          <p:nvPr/>
        </p:nvSpPr>
        <p:spPr>
          <a:xfrm>
            <a:off x="11013577" y="2468880"/>
            <a:ext cx="297674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acceso al stock.</a:t>
            </a:r>
            <a:endParaRPr lang="es-PE" sz="2000" dirty="0"/>
          </a:p>
        </p:txBody>
      </p:sp>
      <p:sp>
        <p:nvSpPr>
          <p:cNvPr id="17" name="Shape 14"/>
          <p:cNvSpPr/>
          <p:nvPr/>
        </p:nvSpPr>
        <p:spPr>
          <a:xfrm>
            <a:off x="640080" y="3374136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520440"/>
            <a:ext cx="252572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Jefe de ONG</a:t>
            </a:r>
            <a:endParaRPr lang="es-PE" sz="2000" dirty="0"/>
          </a:p>
        </p:txBody>
      </p:sp>
      <p:sp>
        <p:nvSpPr>
          <p:cNvPr id="19" name="Text 16"/>
          <p:cNvSpPr/>
          <p:nvPr/>
        </p:nvSpPr>
        <p:spPr>
          <a:xfrm>
            <a:off x="3391312" y="3520440"/>
            <a:ext cx="3968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Gestiona inventario.</a:t>
            </a:r>
            <a:endParaRPr lang="es-PE" sz="2000" dirty="0"/>
          </a:p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aportes y autoriza.</a:t>
            </a:r>
            <a:endParaRPr lang="es-PE" sz="2000" dirty="0"/>
          </a:p>
        </p:txBody>
      </p:sp>
      <p:sp>
        <p:nvSpPr>
          <p:cNvPr id="20" name="Text 17"/>
          <p:cNvSpPr/>
          <p:nvPr/>
        </p:nvSpPr>
        <p:spPr>
          <a:xfrm>
            <a:off x="7630915" y="3520440"/>
            <a:ext cx="31120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Lotes y propuestas de su ONG.</a:t>
            </a:r>
            <a:endParaRPr lang="es-PE" sz="2000" dirty="0"/>
          </a:p>
        </p:txBody>
      </p:sp>
      <p:sp>
        <p:nvSpPr>
          <p:cNvPr id="21" name="Text 18"/>
          <p:cNvSpPr/>
          <p:nvPr/>
        </p:nvSpPr>
        <p:spPr>
          <a:xfrm>
            <a:off x="11013577" y="3520440"/>
            <a:ext cx="297674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verifica recepción.</a:t>
            </a:r>
            <a:endParaRPr lang="es-PE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4425696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4572000"/>
            <a:ext cx="252572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Jefe de Brigada</a:t>
            </a:r>
            <a:endParaRPr lang="es-PE" sz="2000" dirty="0"/>
          </a:p>
        </p:txBody>
      </p:sp>
      <p:sp>
        <p:nvSpPr>
          <p:cNvPr id="24" name="Text 21"/>
          <p:cNvSpPr/>
          <p:nvPr/>
        </p:nvSpPr>
        <p:spPr>
          <a:xfrm>
            <a:off x="3391312" y="4572000"/>
            <a:ext cx="3968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 ruta, retira la carga y registra llegada.</a:t>
            </a:r>
            <a:endParaRPr lang="es-PE" sz="2000" dirty="0"/>
          </a:p>
        </p:txBody>
      </p:sp>
      <p:sp>
        <p:nvSpPr>
          <p:cNvPr id="25" name="Text 22"/>
          <p:cNvSpPr/>
          <p:nvPr/>
        </p:nvSpPr>
        <p:spPr>
          <a:xfrm>
            <a:off x="7630915" y="4572000"/>
            <a:ext cx="31120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Despachos asignados.</a:t>
            </a:r>
            <a:endParaRPr lang="es-PE" sz="2000" dirty="0"/>
          </a:p>
        </p:txBody>
      </p:sp>
      <p:sp>
        <p:nvSpPr>
          <p:cNvPr id="26" name="Text 23"/>
          <p:cNvSpPr/>
          <p:nvPr/>
        </p:nvSpPr>
        <p:spPr>
          <a:xfrm>
            <a:off x="11013577" y="4572000"/>
            <a:ext cx="297674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cambia cantidades.</a:t>
            </a:r>
            <a:endParaRPr lang="es-PE" sz="2000" dirty="0"/>
          </a:p>
        </p:txBody>
      </p:sp>
      <p:sp>
        <p:nvSpPr>
          <p:cNvPr id="27" name="Shape 24"/>
          <p:cNvSpPr/>
          <p:nvPr/>
        </p:nvSpPr>
        <p:spPr>
          <a:xfrm>
            <a:off x="640080" y="5477256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080" y="5623560"/>
            <a:ext cx="252572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Jefe de Defensa Civil</a:t>
            </a:r>
            <a:endParaRPr lang="es-PE" sz="2000" dirty="0"/>
          </a:p>
        </p:txBody>
      </p:sp>
      <p:sp>
        <p:nvSpPr>
          <p:cNvPr id="29" name="Text 26"/>
          <p:cNvSpPr/>
          <p:nvPr/>
        </p:nvSpPr>
        <p:spPr>
          <a:xfrm>
            <a:off x="3391312" y="5623560"/>
            <a:ext cx="3968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 riesgo, cobertura e informe final.</a:t>
            </a:r>
            <a:endParaRPr lang="es-PE" sz="2000" dirty="0"/>
          </a:p>
        </p:txBody>
      </p:sp>
      <p:sp>
        <p:nvSpPr>
          <p:cNvPr id="30" name="Text 27"/>
          <p:cNvSpPr/>
          <p:nvPr/>
        </p:nvSpPr>
        <p:spPr>
          <a:xfrm>
            <a:off x="7630915" y="5623560"/>
            <a:ext cx="31120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 territorial.</a:t>
            </a:r>
            <a:endParaRPr lang="es-PE" sz="2000" dirty="0"/>
          </a:p>
        </p:txBody>
      </p:sp>
      <p:sp>
        <p:nvSpPr>
          <p:cNvPr id="31" name="Text 28"/>
          <p:cNvSpPr/>
          <p:nvPr/>
        </p:nvSpPr>
        <p:spPr>
          <a:xfrm>
            <a:off x="11013577" y="5623560"/>
            <a:ext cx="297674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modifica operaciones.</a:t>
            </a:r>
            <a:endParaRPr lang="es-PE" sz="2000" dirty="0"/>
          </a:p>
        </p:txBody>
      </p:sp>
      <p:sp>
        <p:nvSpPr>
          <p:cNvPr id="32" name="Text 29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backend debe aplicar rol y titularidad en cada operación; ocultar un menú no constituye autorización.</a:t>
            </a:r>
            <a:endParaRPr lang="es-PE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Flujo de los macroprocesos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solicitud inicia la atención; la supervisión acompaña todo el recorrido.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2985392" y="1965960"/>
            <a:ext cx="2056659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Solicitud</a:t>
            </a:r>
            <a:endParaRPr lang="es-PE" sz="1900" dirty="0"/>
          </a:p>
        </p:txBody>
      </p:sp>
      <p:sp>
        <p:nvSpPr>
          <p:cNvPr id="9" name="Text 6"/>
          <p:cNvSpPr/>
          <p:nvPr/>
        </p:nvSpPr>
        <p:spPr>
          <a:xfrm>
            <a:off x="5222460" y="1965960"/>
            <a:ext cx="2056659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Matching</a:t>
            </a:r>
            <a:endParaRPr lang="es-PE" sz="1900" dirty="0"/>
          </a:p>
        </p:txBody>
      </p:sp>
      <p:sp>
        <p:nvSpPr>
          <p:cNvPr id="10" name="Text 7"/>
          <p:cNvSpPr/>
          <p:nvPr/>
        </p:nvSpPr>
        <p:spPr>
          <a:xfrm>
            <a:off x="7459527" y="1965960"/>
            <a:ext cx="2056659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Confirmación</a:t>
            </a:r>
            <a:endParaRPr lang="es-PE" sz="1900" dirty="0"/>
          </a:p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autorización</a:t>
            </a:r>
            <a:endParaRPr lang="es-PE" sz="1900" dirty="0"/>
          </a:p>
        </p:txBody>
      </p:sp>
      <p:sp>
        <p:nvSpPr>
          <p:cNvPr id="11" name="Text 8"/>
          <p:cNvSpPr/>
          <p:nvPr/>
        </p:nvSpPr>
        <p:spPr>
          <a:xfrm>
            <a:off x="9696594" y="1965960"/>
            <a:ext cx="2056659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Traslado</a:t>
            </a:r>
            <a:endParaRPr lang="es-PE" sz="1900" dirty="0"/>
          </a:p>
        </p:txBody>
      </p:sp>
      <p:sp>
        <p:nvSpPr>
          <p:cNvPr id="12" name="Text 9"/>
          <p:cNvSpPr/>
          <p:nvPr/>
        </p:nvSpPr>
        <p:spPr>
          <a:xfrm>
            <a:off x="11933661" y="1965960"/>
            <a:ext cx="2056659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Recepción</a:t>
            </a:r>
            <a:endParaRPr lang="es-PE" sz="1900" dirty="0"/>
          </a:p>
        </p:txBody>
      </p:sp>
      <p:sp>
        <p:nvSpPr>
          <p:cNvPr id="13" name="Text 10"/>
          <p:cNvSpPr/>
          <p:nvPr/>
        </p:nvSpPr>
        <p:spPr>
          <a:xfrm>
            <a:off x="640080" y="2715768"/>
            <a:ext cx="18942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Comuna</a:t>
            </a:r>
            <a:endParaRPr lang="es-PE" sz="2000" dirty="0"/>
          </a:p>
        </p:txBody>
      </p:sp>
      <p:sp>
        <p:nvSpPr>
          <p:cNvPr id="14" name="Shape 11"/>
          <p:cNvSpPr/>
          <p:nvPr/>
        </p:nvSpPr>
        <p:spPr>
          <a:xfrm>
            <a:off x="2714779" y="3429000"/>
            <a:ext cx="11275541" cy="0"/>
          </a:xfrm>
          <a:prstGeom prst="line">
            <a:avLst/>
          </a:prstGeom>
          <a:noFill/>
          <a:ln w="7620">
            <a:solidFill>
              <a:srgbClr val="D6E3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3721608"/>
            <a:ext cx="18942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</a:t>
            </a:r>
            <a:endParaRPr lang="es-PE" sz="2000" dirty="0"/>
          </a:p>
        </p:txBody>
      </p:sp>
      <p:sp>
        <p:nvSpPr>
          <p:cNvPr id="16" name="Shape 13"/>
          <p:cNvSpPr/>
          <p:nvPr/>
        </p:nvSpPr>
        <p:spPr>
          <a:xfrm>
            <a:off x="2714779" y="4434840"/>
            <a:ext cx="11275541" cy="0"/>
          </a:xfrm>
          <a:prstGeom prst="line">
            <a:avLst/>
          </a:prstGeom>
          <a:noFill/>
          <a:ln w="7620">
            <a:solidFill>
              <a:srgbClr val="D6E3E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4727448"/>
            <a:ext cx="18942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ONG</a:t>
            </a:r>
            <a:endParaRPr lang="es-PE" sz="2000" dirty="0"/>
          </a:p>
        </p:txBody>
      </p:sp>
      <p:sp>
        <p:nvSpPr>
          <p:cNvPr id="18" name="Shape 15"/>
          <p:cNvSpPr/>
          <p:nvPr/>
        </p:nvSpPr>
        <p:spPr>
          <a:xfrm>
            <a:off x="2714779" y="5440680"/>
            <a:ext cx="11275541" cy="0"/>
          </a:xfrm>
          <a:prstGeom prst="line">
            <a:avLst/>
          </a:prstGeom>
          <a:noFill/>
          <a:ln w="7620">
            <a:solidFill>
              <a:srgbClr val="D6E3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733288"/>
            <a:ext cx="18942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Brigada</a:t>
            </a:r>
            <a:endParaRPr lang="es-PE" sz="2000" dirty="0"/>
          </a:p>
        </p:txBody>
      </p:sp>
      <p:sp>
        <p:nvSpPr>
          <p:cNvPr id="20" name="Shape 17"/>
          <p:cNvSpPr/>
          <p:nvPr/>
        </p:nvSpPr>
        <p:spPr>
          <a:xfrm>
            <a:off x="2714779" y="6446520"/>
            <a:ext cx="11275541" cy="0"/>
          </a:xfrm>
          <a:prstGeom prst="line">
            <a:avLst/>
          </a:prstGeom>
          <a:noFill/>
          <a:ln w="7620">
            <a:solidFill>
              <a:srgbClr val="D6E3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85392" y="2606040"/>
            <a:ext cx="2056659" cy="758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093638" y="2724912"/>
            <a:ext cx="18401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 necesidades</a:t>
            </a:r>
            <a:endParaRPr lang="es-PE" sz="1800" dirty="0"/>
          </a:p>
        </p:txBody>
      </p:sp>
      <p:sp>
        <p:nvSpPr>
          <p:cNvPr id="23" name="Shape 20"/>
          <p:cNvSpPr/>
          <p:nvPr/>
        </p:nvSpPr>
        <p:spPr>
          <a:xfrm>
            <a:off x="5222460" y="3611880"/>
            <a:ext cx="2056659" cy="75895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0705" y="3730752"/>
            <a:ext cx="18401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 propuestas</a:t>
            </a:r>
            <a:endParaRPr lang="es-PE" sz="1800" dirty="0"/>
          </a:p>
        </p:txBody>
      </p:sp>
      <p:sp>
        <p:nvSpPr>
          <p:cNvPr id="25" name="Shape 22"/>
          <p:cNvSpPr/>
          <p:nvPr/>
        </p:nvSpPr>
        <p:spPr>
          <a:xfrm>
            <a:off x="7459527" y="4617720"/>
            <a:ext cx="2056659" cy="758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567772" y="4736592"/>
            <a:ext cx="18401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Confirma y autoriza</a:t>
            </a:r>
            <a:endParaRPr lang="es-PE" sz="1800" dirty="0"/>
          </a:p>
        </p:txBody>
      </p:sp>
      <p:sp>
        <p:nvSpPr>
          <p:cNvPr id="27" name="Shape 24"/>
          <p:cNvSpPr/>
          <p:nvPr/>
        </p:nvSpPr>
        <p:spPr>
          <a:xfrm>
            <a:off x="9696594" y="5623560"/>
            <a:ext cx="2056659" cy="758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804839" y="5742432"/>
            <a:ext cx="18401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Retira y registra llegada</a:t>
            </a:r>
            <a:endParaRPr lang="es-PE" sz="1800" dirty="0"/>
          </a:p>
        </p:txBody>
      </p:sp>
      <p:sp>
        <p:nvSpPr>
          <p:cNvPr id="29" name="Shape 26"/>
          <p:cNvSpPr/>
          <p:nvPr/>
        </p:nvSpPr>
        <p:spPr>
          <a:xfrm>
            <a:off x="11933661" y="2606040"/>
            <a:ext cx="2056659" cy="758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041907" y="2724912"/>
            <a:ext cx="184016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 recepción</a:t>
            </a:r>
            <a:endParaRPr lang="es-PE" sz="1800" dirty="0"/>
          </a:p>
        </p:txBody>
      </p:sp>
      <p:sp>
        <p:nvSpPr>
          <p:cNvPr id="31" name="Shape 28"/>
          <p:cNvSpPr/>
          <p:nvPr/>
        </p:nvSpPr>
        <p:spPr>
          <a:xfrm>
            <a:off x="5051071" y="2999232"/>
            <a:ext cx="117266" cy="996696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7306180" y="3995928"/>
            <a:ext cx="99225" cy="100584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543247" y="5001768"/>
            <a:ext cx="99225" cy="100584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 flipV="1">
            <a:off x="11807375" y="2999232"/>
            <a:ext cx="54123" cy="3008376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40080" y="6830568"/>
            <a:ext cx="9561658" cy="57607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0489" y="6949440"/>
            <a:ext cx="92008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Supervisión: Defensa Civil consulta avance, riesgos y resultados.</a:t>
            </a:r>
            <a:endParaRPr lang="es-PE" sz="1900" dirty="0"/>
          </a:p>
        </p:txBody>
      </p:sp>
      <p:sp>
        <p:nvSpPr>
          <p:cNvPr id="37" name="Text 34"/>
          <p:cNvSpPr/>
          <p:nvPr/>
        </p:nvSpPr>
        <p:spPr>
          <a:xfrm>
            <a:off x="10742964" y="6793992"/>
            <a:ext cx="32473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Ingesta de observaciones</a:t>
            </a:r>
            <a:endParaRPr lang="es-PE" sz="1700" dirty="0"/>
          </a:p>
          <a:p>
            <a:pPr indent="0" marL="0">
              <a:buNone/>
            </a:pPr>
            <a:r>
              <a:rPr lang="es-PE" altLang="en-US" sz="17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Complemento informativo</a:t>
            </a:r>
            <a:endParaRPr lang="es-PE" sz="1700" dirty="0"/>
          </a:p>
        </p:txBody>
      </p:sp>
      <p:sp>
        <p:nvSpPr>
          <p:cNvPr id="38" name="Shape 35"/>
          <p:cNvSpPr/>
          <p:nvPr/>
        </p:nvSpPr>
        <p:spPr>
          <a:xfrm flipH="1">
            <a:off x="10246841" y="7132320"/>
            <a:ext cx="315715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dash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solicitud no necesita esperar una alerta externa. Las propuestas automáticas siempre requieren decisión de la ONG.</a:t>
            </a:r>
            <a:endParaRPr lang="es-PE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Estados, reglas de negocio y alertas externas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decisiones operativas y la evidencia territorial tienen efectos diferentes.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63143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Decisión de la ONG</a:t>
            </a:r>
            <a:endParaRPr lang="es-PE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2487168"/>
            <a:ext cx="4149399" cy="107899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5386" y="2578608"/>
            <a:ext cx="3878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s-PE" sz="2000" dirty="0"/>
          </a:p>
        </p:txBody>
      </p:sp>
      <p:sp>
        <p:nvSpPr>
          <p:cNvPr id="11" name="Text 8"/>
          <p:cNvSpPr/>
          <p:nvPr/>
        </p:nvSpPr>
        <p:spPr>
          <a:xfrm>
            <a:off x="775386" y="3026664"/>
            <a:ext cx="387878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Propone; no compromete.</a:t>
            </a:r>
            <a:endParaRPr lang="es-PE" sz="1800" dirty="0"/>
          </a:p>
        </p:txBody>
      </p:sp>
      <p:sp>
        <p:nvSpPr>
          <p:cNvPr id="12" name="Shape 9"/>
          <p:cNvSpPr/>
          <p:nvPr/>
        </p:nvSpPr>
        <p:spPr>
          <a:xfrm>
            <a:off x="4843602" y="3017520"/>
            <a:ext cx="33375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240501" y="2487168"/>
            <a:ext cx="4149399" cy="107899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75807" y="2578608"/>
            <a:ext cx="3878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</a:t>
            </a:r>
            <a:endParaRPr lang="es-PE" sz="2000" dirty="0"/>
          </a:p>
        </p:txBody>
      </p:sp>
      <p:sp>
        <p:nvSpPr>
          <p:cNvPr id="15" name="Text 12"/>
          <p:cNvSpPr/>
          <p:nvPr/>
        </p:nvSpPr>
        <p:spPr>
          <a:xfrm>
            <a:off x="5375807" y="3026664"/>
            <a:ext cx="387878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Acepta cantidades; no reserva.</a:t>
            </a:r>
            <a:endParaRPr lang="es-PE" sz="1800" dirty="0"/>
          </a:p>
        </p:txBody>
      </p:sp>
      <p:sp>
        <p:nvSpPr>
          <p:cNvPr id="16" name="Shape 13"/>
          <p:cNvSpPr/>
          <p:nvPr/>
        </p:nvSpPr>
        <p:spPr>
          <a:xfrm>
            <a:off x="9444022" y="3017520"/>
            <a:ext cx="33375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840921" y="2487168"/>
            <a:ext cx="4149399" cy="107899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76228" y="2578608"/>
            <a:ext cx="3878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AUTHORIZED</a:t>
            </a:r>
            <a:endParaRPr lang="es-PE" sz="2000" dirty="0"/>
          </a:p>
        </p:txBody>
      </p:sp>
      <p:sp>
        <p:nvSpPr>
          <p:cNvPr id="19" name="Text 16"/>
          <p:cNvSpPr/>
          <p:nvPr/>
        </p:nvSpPr>
        <p:spPr>
          <a:xfrm>
            <a:off x="9976228" y="3026664"/>
            <a:ext cx="387878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Compromete stock disponible.</a:t>
            </a:r>
            <a:endParaRPr lang="es-PE" sz="1800" dirty="0"/>
          </a:p>
        </p:txBody>
      </p:sp>
      <p:sp>
        <p:nvSpPr>
          <p:cNvPr id="20" name="Text 17"/>
          <p:cNvSpPr/>
          <p:nvPr/>
        </p:nvSpPr>
        <p:spPr>
          <a:xfrm>
            <a:off x="640080" y="3694176"/>
            <a:ext cx="41493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B83E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REJECTED: rechazo motivado</a:t>
            </a:r>
            <a:endParaRPr lang="es-PE" sz="1800" dirty="0"/>
          </a:p>
        </p:txBody>
      </p:sp>
      <p:sp>
        <p:nvSpPr>
          <p:cNvPr id="21" name="Text 18"/>
          <p:cNvSpPr/>
          <p:nvPr/>
        </p:nvSpPr>
        <p:spPr>
          <a:xfrm>
            <a:off x="5240501" y="3694176"/>
            <a:ext cx="8749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Antes de autorizar: revalidar disponibilidad y demanda.</a:t>
            </a:r>
            <a:endParaRPr lang="es-PE" sz="1900" dirty="0"/>
          </a:p>
        </p:txBody>
      </p:sp>
      <p:sp>
        <p:nvSpPr>
          <p:cNvPr id="22" name="Text 19"/>
          <p:cNvSpPr/>
          <p:nvPr/>
        </p:nvSpPr>
        <p:spPr>
          <a:xfrm>
            <a:off x="640080" y="4315968"/>
            <a:ext cx="1335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logística y verificación</a:t>
            </a:r>
            <a:endParaRPr lang="es-PE" sz="2200" dirty="0"/>
          </a:p>
        </p:txBody>
      </p:sp>
      <p:sp>
        <p:nvSpPr>
          <p:cNvPr id="23" name="Shape 20"/>
          <p:cNvSpPr/>
          <p:nvPr/>
        </p:nvSpPr>
        <p:spPr>
          <a:xfrm>
            <a:off x="640080" y="4828032"/>
            <a:ext cx="2931641" cy="117043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5386" y="4919472"/>
            <a:ext cx="26610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AUTHORIZED</a:t>
            </a:r>
            <a:endParaRPr lang="es-PE" sz="2000" dirty="0"/>
          </a:p>
        </p:txBody>
      </p:sp>
      <p:sp>
        <p:nvSpPr>
          <p:cNvPr id="25" name="Text 22"/>
          <p:cNvSpPr/>
          <p:nvPr/>
        </p:nvSpPr>
        <p:spPr>
          <a:xfrm>
            <a:off x="775386" y="5367528"/>
            <a:ext cx="26610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Habilita el despacho.</a:t>
            </a:r>
            <a:endParaRPr lang="es-PE" sz="1800" dirty="0"/>
          </a:p>
        </p:txBody>
      </p:sp>
      <p:sp>
        <p:nvSpPr>
          <p:cNvPr id="26" name="Shape 23"/>
          <p:cNvSpPr/>
          <p:nvPr/>
        </p:nvSpPr>
        <p:spPr>
          <a:xfrm>
            <a:off x="3634864" y="5385816"/>
            <a:ext cx="405919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4112946" y="4828032"/>
            <a:ext cx="2931641" cy="117043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48253" y="4919472"/>
            <a:ext cx="26610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WITHDRAWN</a:t>
            </a:r>
            <a:endParaRPr lang="es-PE" sz="2000" dirty="0"/>
          </a:p>
        </p:txBody>
      </p:sp>
      <p:sp>
        <p:nvSpPr>
          <p:cNvPr id="29" name="Text 26"/>
          <p:cNvSpPr/>
          <p:nvPr/>
        </p:nvSpPr>
        <p:spPr>
          <a:xfrm>
            <a:off x="4248253" y="5367528"/>
            <a:ext cx="26610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Retiro completo; descuenta.</a:t>
            </a:r>
            <a:endParaRPr lang="es-PE" sz="1800" dirty="0"/>
          </a:p>
        </p:txBody>
      </p:sp>
      <p:sp>
        <p:nvSpPr>
          <p:cNvPr id="30" name="Shape 27"/>
          <p:cNvSpPr/>
          <p:nvPr/>
        </p:nvSpPr>
        <p:spPr>
          <a:xfrm>
            <a:off x="7107730" y="5385816"/>
            <a:ext cx="405919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7585813" y="4828032"/>
            <a:ext cx="2931641" cy="117043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21119" y="4919472"/>
            <a:ext cx="26610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ARRIVED</a:t>
            </a:r>
            <a:endParaRPr lang="es-PE" sz="2000" dirty="0"/>
          </a:p>
        </p:txBody>
      </p:sp>
      <p:sp>
        <p:nvSpPr>
          <p:cNvPr id="33" name="Text 30"/>
          <p:cNvSpPr/>
          <p:nvPr/>
        </p:nvSpPr>
        <p:spPr>
          <a:xfrm>
            <a:off x="7721119" y="5367528"/>
            <a:ext cx="26610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Llegada registrada.</a:t>
            </a:r>
            <a:endParaRPr lang="es-PE" sz="1800" dirty="0"/>
          </a:p>
        </p:txBody>
      </p:sp>
      <p:sp>
        <p:nvSpPr>
          <p:cNvPr id="34" name="Shape 31"/>
          <p:cNvSpPr/>
          <p:nvPr/>
        </p:nvSpPr>
        <p:spPr>
          <a:xfrm>
            <a:off x="10580597" y="5385816"/>
            <a:ext cx="405919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11058679" y="4828032"/>
            <a:ext cx="2931641" cy="117043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1193986" y="4919472"/>
            <a:ext cx="26610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FINALIZED</a:t>
            </a:r>
            <a:endParaRPr lang="es-PE" sz="2000" dirty="0"/>
          </a:p>
        </p:txBody>
      </p:sp>
      <p:sp>
        <p:nvSpPr>
          <p:cNvPr id="37" name="Text 34"/>
          <p:cNvSpPr/>
          <p:nvPr/>
        </p:nvSpPr>
        <p:spPr>
          <a:xfrm>
            <a:off x="11193986" y="5367528"/>
            <a:ext cx="26610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Recepción verificada.</a:t>
            </a:r>
            <a:endParaRPr lang="es-PE" sz="1800" dirty="0"/>
          </a:p>
        </p:txBody>
      </p:sp>
      <p:sp>
        <p:nvSpPr>
          <p:cNvPr id="38" name="Shape 35"/>
          <p:cNvSpPr/>
          <p:nvPr/>
        </p:nvSpPr>
        <p:spPr>
          <a:xfrm>
            <a:off x="640080" y="6217920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080" y="6437376"/>
            <a:ext cx="640450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Alertas externas: contexto verificable</a:t>
            </a:r>
            <a:endParaRPr lang="es-PE" sz="2100" dirty="0"/>
          </a:p>
        </p:txBody>
      </p:sp>
      <p:sp>
        <p:nvSpPr>
          <p:cNvPr id="40" name="Text 37"/>
          <p:cNvSpPr/>
          <p:nvPr/>
        </p:nvSpPr>
        <p:spPr>
          <a:xfrm>
            <a:off x="640080" y="6922008"/>
            <a:ext cx="64045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 fuente, fecha, fenómeno y duplicados antes de vincular una observación a una evaluación.</a:t>
            </a:r>
            <a:endParaRPr lang="es-PE" sz="2000" dirty="0"/>
          </a:p>
        </p:txBody>
      </p:sp>
      <p:sp>
        <p:nvSpPr>
          <p:cNvPr id="41" name="Text 38"/>
          <p:cNvSpPr/>
          <p:nvPr/>
        </p:nvSpPr>
        <p:spPr>
          <a:xfrm>
            <a:off x="7585813" y="6437376"/>
            <a:ext cx="640450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Riesgo territorial ≠ atención humanitaria</a:t>
            </a:r>
            <a:endParaRPr lang="es-PE" sz="2100" dirty="0"/>
          </a:p>
        </p:txBody>
      </p:sp>
      <p:sp>
        <p:nvSpPr>
          <p:cNvPr id="42" name="Text 39"/>
          <p:cNvSpPr/>
          <p:nvPr/>
        </p:nvSpPr>
        <p:spPr>
          <a:xfrm>
            <a:off x="7585813" y="6922008"/>
            <a:ext cx="64045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alertas no declaran emergencias ni autorizan recursos. Recibir ayuda no reduce el riesgo registrado.</a:t>
            </a:r>
            <a:endParaRPr lang="es-PE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MODELADO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 conceptual del dominio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Cinco dominios conectan identidad, necesidades, recursos, transporte y evidencia.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s-PE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965960"/>
            <a:ext cx="13350240" cy="603504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0489" y="2103120"/>
            <a:ext cx="129894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· Usuario, rol y pertenencia según permisos; ONG, Brigada y auditoría.</a:t>
            </a:r>
            <a:endParaRPr lang="es-PE" sz="2000" dirty="0"/>
          </a:p>
        </p:txBody>
      </p:sp>
      <p:sp>
        <p:nvSpPr>
          <p:cNvPr id="10" name="Shape 7"/>
          <p:cNvSpPr/>
          <p:nvPr/>
        </p:nvSpPr>
        <p:spPr>
          <a:xfrm>
            <a:off x="2083349" y="2624328"/>
            <a:ext cx="0" cy="438912"/>
          </a:xfrm>
          <a:prstGeom prst="line">
            <a:avLst/>
          </a:prstGeom>
          <a:noFill/>
          <a:ln w="17780">
            <a:solidFill>
              <a:srgbClr val="007F99"/>
            </a:solidFill>
            <a:prstDash val="dash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640080" y="28163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</a:t>
            </a:r>
            <a:endParaRPr lang="es-PE" sz="1500" dirty="0"/>
          </a:p>
        </p:txBody>
      </p:sp>
      <p:sp>
        <p:nvSpPr>
          <p:cNvPr id="12" name="Text 9"/>
          <p:cNvSpPr/>
          <p:nvPr/>
        </p:nvSpPr>
        <p:spPr>
          <a:xfrm>
            <a:off x="4158049" y="28163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</a:t>
            </a:r>
            <a:endParaRPr lang="es-PE" sz="1500" dirty="0"/>
          </a:p>
        </p:txBody>
      </p:sp>
      <p:sp>
        <p:nvSpPr>
          <p:cNvPr id="13" name="Text 10"/>
          <p:cNvSpPr/>
          <p:nvPr/>
        </p:nvSpPr>
        <p:spPr>
          <a:xfrm>
            <a:off x="7676017" y="28163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</a:t>
            </a:r>
            <a:endParaRPr lang="es-PE" sz="1500" dirty="0"/>
          </a:p>
        </p:txBody>
      </p:sp>
      <p:sp>
        <p:nvSpPr>
          <p:cNvPr id="14" name="Text 11"/>
          <p:cNvSpPr/>
          <p:nvPr/>
        </p:nvSpPr>
        <p:spPr>
          <a:xfrm>
            <a:off x="11193986" y="28163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</a:t>
            </a:r>
            <a:endParaRPr lang="es-PE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3182112"/>
            <a:ext cx="2886538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5386" y="3273552"/>
            <a:ext cx="26159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Comunidad</a:t>
            </a:r>
            <a:endParaRPr lang="es-PE" sz="2000" dirty="0"/>
          </a:p>
        </p:txBody>
      </p:sp>
      <p:sp>
        <p:nvSpPr>
          <p:cNvPr id="17" name="Text 14"/>
          <p:cNvSpPr/>
          <p:nvPr/>
        </p:nvSpPr>
        <p:spPr>
          <a:xfrm>
            <a:off x="775386" y="3721608"/>
            <a:ext cx="26159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Origina necesidades.</a:t>
            </a:r>
            <a:endParaRPr lang="es-PE" sz="1800" dirty="0"/>
          </a:p>
        </p:txBody>
      </p:sp>
      <p:sp>
        <p:nvSpPr>
          <p:cNvPr id="18" name="Shape 15"/>
          <p:cNvSpPr/>
          <p:nvPr/>
        </p:nvSpPr>
        <p:spPr>
          <a:xfrm>
            <a:off x="4158049" y="3182112"/>
            <a:ext cx="2886538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93355" y="3273552"/>
            <a:ext cx="26159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Solicitud</a:t>
            </a:r>
            <a:endParaRPr lang="es-PE" sz="2000" dirty="0"/>
          </a:p>
        </p:txBody>
      </p:sp>
      <p:sp>
        <p:nvSpPr>
          <p:cNvPr id="20" name="Text 17"/>
          <p:cNvSpPr/>
          <p:nvPr/>
        </p:nvSpPr>
        <p:spPr>
          <a:xfrm>
            <a:off x="4293355" y="3721608"/>
            <a:ext cx="26159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Agrupa productos y cantidades.</a:t>
            </a:r>
            <a:endParaRPr lang="es-PE" sz="1800" dirty="0"/>
          </a:p>
        </p:txBody>
      </p:sp>
      <p:sp>
        <p:nvSpPr>
          <p:cNvPr id="21" name="Shape 18"/>
          <p:cNvSpPr/>
          <p:nvPr/>
        </p:nvSpPr>
        <p:spPr>
          <a:xfrm>
            <a:off x="7676017" y="3182112"/>
            <a:ext cx="2886538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11324" y="3273552"/>
            <a:ext cx="26159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Matching</a:t>
            </a:r>
            <a:endParaRPr lang="es-PE" sz="2000" dirty="0"/>
          </a:p>
        </p:txBody>
      </p:sp>
      <p:sp>
        <p:nvSpPr>
          <p:cNvPr id="23" name="Text 20"/>
          <p:cNvSpPr/>
          <p:nvPr/>
        </p:nvSpPr>
        <p:spPr>
          <a:xfrm>
            <a:off x="7811324" y="3721608"/>
            <a:ext cx="26159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 lotes aptos.</a:t>
            </a:r>
            <a:endParaRPr lang="es-PE" sz="1800" dirty="0"/>
          </a:p>
        </p:txBody>
      </p:sp>
      <p:sp>
        <p:nvSpPr>
          <p:cNvPr id="24" name="Shape 21"/>
          <p:cNvSpPr/>
          <p:nvPr/>
        </p:nvSpPr>
        <p:spPr>
          <a:xfrm>
            <a:off x="11193986" y="3182112"/>
            <a:ext cx="2796334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329292" y="3273552"/>
            <a:ext cx="252572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Autorización</a:t>
            </a:r>
            <a:endParaRPr lang="es-PE" sz="2000" dirty="0"/>
          </a:p>
        </p:txBody>
      </p:sp>
      <p:sp>
        <p:nvSpPr>
          <p:cNvPr id="26" name="Text 23"/>
          <p:cNvSpPr/>
          <p:nvPr/>
        </p:nvSpPr>
        <p:spPr>
          <a:xfrm>
            <a:off x="11329292" y="3721608"/>
            <a:ext cx="25257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Compromete el aporte.</a:t>
            </a:r>
            <a:endParaRPr lang="es-PE" sz="1800" dirty="0"/>
          </a:p>
        </p:txBody>
      </p:sp>
      <p:sp>
        <p:nvSpPr>
          <p:cNvPr id="27" name="Shape 24"/>
          <p:cNvSpPr/>
          <p:nvPr/>
        </p:nvSpPr>
        <p:spPr>
          <a:xfrm>
            <a:off x="3589761" y="3749040"/>
            <a:ext cx="505144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107730" y="3749040"/>
            <a:ext cx="505144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10625699" y="3749040"/>
            <a:ext cx="505144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0" name="Text 27"/>
          <p:cNvSpPr/>
          <p:nvPr/>
        </p:nvSpPr>
        <p:spPr>
          <a:xfrm>
            <a:off x="640080" y="46451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Territory</a:t>
            </a:r>
            <a:endParaRPr lang="es-PE" sz="1500" dirty="0"/>
          </a:p>
        </p:txBody>
      </p:sp>
      <p:sp>
        <p:nvSpPr>
          <p:cNvPr id="31" name="Text 28"/>
          <p:cNvSpPr/>
          <p:nvPr/>
        </p:nvSpPr>
        <p:spPr>
          <a:xfrm>
            <a:off x="4158049" y="46451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</a:t>
            </a:r>
            <a:endParaRPr lang="es-PE" sz="1500" dirty="0"/>
          </a:p>
        </p:txBody>
      </p:sp>
      <p:sp>
        <p:nvSpPr>
          <p:cNvPr id="32" name="Text 29"/>
          <p:cNvSpPr/>
          <p:nvPr/>
        </p:nvSpPr>
        <p:spPr>
          <a:xfrm>
            <a:off x="7676017" y="46451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</a:t>
            </a:r>
            <a:endParaRPr lang="es-PE" sz="1500" dirty="0"/>
          </a:p>
        </p:txBody>
      </p:sp>
      <p:sp>
        <p:nvSpPr>
          <p:cNvPr id="33" name="Text 30"/>
          <p:cNvSpPr/>
          <p:nvPr/>
        </p:nvSpPr>
        <p:spPr>
          <a:xfrm>
            <a:off x="11193986" y="4645152"/>
            <a:ext cx="279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</a:t>
            </a:r>
            <a:endParaRPr lang="es-PE" sz="1500" dirty="0"/>
          </a:p>
        </p:txBody>
      </p:sp>
      <p:sp>
        <p:nvSpPr>
          <p:cNvPr id="34" name="Shape 31"/>
          <p:cNvSpPr/>
          <p:nvPr/>
        </p:nvSpPr>
        <p:spPr>
          <a:xfrm>
            <a:off x="640080" y="5010912"/>
            <a:ext cx="2886538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5386" y="5102352"/>
            <a:ext cx="26159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Evaluación de riesgo</a:t>
            </a:r>
            <a:endParaRPr lang="es-PE" sz="2000" dirty="0"/>
          </a:p>
        </p:txBody>
      </p:sp>
      <p:sp>
        <p:nvSpPr>
          <p:cNvPr id="36" name="Text 33"/>
          <p:cNvSpPr/>
          <p:nvPr/>
        </p:nvSpPr>
        <p:spPr>
          <a:xfrm>
            <a:off x="775386" y="5550408"/>
            <a:ext cx="26159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Fenómeno, nivel y evidencia.</a:t>
            </a:r>
            <a:endParaRPr lang="es-PE" sz="1800" dirty="0"/>
          </a:p>
        </p:txBody>
      </p:sp>
      <p:sp>
        <p:nvSpPr>
          <p:cNvPr id="37" name="Shape 34"/>
          <p:cNvSpPr/>
          <p:nvPr/>
        </p:nvSpPr>
        <p:spPr>
          <a:xfrm>
            <a:off x="4158049" y="5010912"/>
            <a:ext cx="2886538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293355" y="5102352"/>
            <a:ext cx="26159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Recepción</a:t>
            </a:r>
            <a:endParaRPr lang="es-PE" sz="2000" dirty="0"/>
          </a:p>
        </p:txBody>
      </p:sp>
      <p:sp>
        <p:nvSpPr>
          <p:cNvPr id="39" name="Text 36"/>
          <p:cNvSpPr/>
          <p:nvPr/>
        </p:nvSpPr>
        <p:spPr>
          <a:xfrm>
            <a:off x="4293355" y="5550408"/>
            <a:ext cx="26159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 físico y conforme.</a:t>
            </a:r>
            <a:endParaRPr lang="es-PE" sz="1800" dirty="0"/>
          </a:p>
        </p:txBody>
      </p:sp>
      <p:sp>
        <p:nvSpPr>
          <p:cNvPr id="40" name="Shape 37"/>
          <p:cNvSpPr/>
          <p:nvPr/>
        </p:nvSpPr>
        <p:spPr>
          <a:xfrm>
            <a:off x="7676017" y="5010912"/>
            <a:ext cx="2886538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11324" y="5102352"/>
            <a:ext cx="26159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Lote de stock</a:t>
            </a:r>
            <a:endParaRPr lang="es-PE" sz="2000" dirty="0"/>
          </a:p>
        </p:txBody>
      </p:sp>
      <p:sp>
        <p:nvSpPr>
          <p:cNvPr id="42" name="Text 39"/>
          <p:cNvSpPr/>
          <p:nvPr/>
        </p:nvSpPr>
        <p:spPr>
          <a:xfrm>
            <a:off x="7811324" y="5550408"/>
            <a:ext cx="26159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Producto en almacén de ONG.</a:t>
            </a:r>
            <a:endParaRPr lang="es-PE" sz="1800" dirty="0"/>
          </a:p>
        </p:txBody>
      </p:sp>
      <p:sp>
        <p:nvSpPr>
          <p:cNvPr id="43" name="Shape 40"/>
          <p:cNvSpPr/>
          <p:nvPr/>
        </p:nvSpPr>
        <p:spPr>
          <a:xfrm>
            <a:off x="11193986" y="5010912"/>
            <a:ext cx="2796334" cy="11430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1329292" y="5102352"/>
            <a:ext cx="252572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Despacho</a:t>
            </a:r>
            <a:endParaRPr lang="es-PE" sz="2000" dirty="0"/>
          </a:p>
        </p:txBody>
      </p:sp>
      <p:sp>
        <p:nvSpPr>
          <p:cNvPr id="45" name="Text 42"/>
          <p:cNvSpPr/>
          <p:nvPr/>
        </p:nvSpPr>
        <p:spPr>
          <a:xfrm>
            <a:off x="11329292" y="5550408"/>
            <a:ext cx="25257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Retiro y traslado.</a:t>
            </a:r>
            <a:endParaRPr lang="es-PE" sz="1800" dirty="0"/>
          </a:p>
        </p:txBody>
      </p:sp>
      <p:sp>
        <p:nvSpPr>
          <p:cNvPr id="46" name="Shape 43"/>
          <p:cNvSpPr/>
          <p:nvPr/>
        </p:nvSpPr>
        <p:spPr>
          <a:xfrm>
            <a:off x="12592153" y="4389120"/>
            <a:ext cx="0" cy="557784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 flipV="1">
            <a:off x="9119286" y="4389120"/>
            <a:ext cx="0" cy="557784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12592153" y="6217920"/>
            <a:ext cx="0" cy="22860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H="1">
            <a:off x="5601318" y="6446520"/>
            <a:ext cx="6990835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5601318" y="6217920"/>
            <a:ext cx="0" cy="22860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51" name="Shape 48"/>
          <p:cNvSpPr/>
          <p:nvPr/>
        </p:nvSpPr>
        <p:spPr>
          <a:xfrm>
            <a:off x="2083349" y="4389120"/>
            <a:ext cx="0" cy="192024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52" name="Shape 49"/>
          <p:cNvSpPr/>
          <p:nvPr/>
        </p:nvSpPr>
        <p:spPr>
          <a:xfrm flipV="1">
            <a:off x="2083349" y="6217920"/>
            <a:ext cx="0" cy="621792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640080" y="6903720"/>
            <a:ext cx="13350240" cy="667512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0489" y="7068312"/>
            <a:ext cx="129894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Territory · Observación → Evaluación de riesgo: comunidad, fenómeno, nivel, fuente y fecha.</a:t>
            </a:r>
            <a:endParaRPr lang="es-PE" sz="2000" dirty="0"/>
          </a:p>
        </p:txBody>
      </p:sp>
      <p:sp>
        <p:nvSpPr>
          <p:cNvPr id="55" name="Text 52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emergencia contextualiza la solicitud. La identidad controla quién actúa; la evidencia territorial informa la supervisión.</a:t>
            </a:r>
            <a:endParaRPr lang="es-PE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MODELADO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 ER: solicitudes, inventario y matching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línea propuesta vincula una necesidad concreta con un lote utilizable.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892808"/>
            <a:ext cx="1335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PK: UUID   ·   FK: interna (continua)   ·   R: lógica entre módulos (discontinua)   ·   U: única</a:t>
            </a:r>
            <a:endParaRPr lang="es-PE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14884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214884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8325" y="218084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shelter.community</a:t>
            </a:r>
            <a:endParaRPr lang="es-PE" sz="1700" dirty="0"/>
          </a:p>
        </p:txBody>
      </p:sp>
      <p:sp>
        <p:nvSpPr>
          <p:cNvPr id="12" name="Text 9"/>
          <p:cNvSpPr/>
          <p:nvPr/>
        </p:nvSpPr>
        <p:spPr>
          <a:xfrm>
            <a:off x="748325" y="265176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district_id</a:t>
            </a:r>
            <a:endParaRPr lang="es-PE" sz="1400" dirty="0"/>
          </a:p>
        </p:txBody>
      </p:sp>
      <p:sp>
        <p:nvSpPr>
          <p:cNvPr id="13" name="Shape 10"/>
          <p:cNvSpPr/>
          <p:nvPr/>
        </p:nvSpPr>
        <p:spPr>
          <a:xfrm>
            <a:off x="5556216" y="214884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56216" y="214884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4461" y="218084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shelter.request</a:t>
            </a:r>
            <a:endParaRPr lang="es-PE" sz="1700" dirty="0"/>
          </a:p>
        </p:txBody>
      </p:sp>
      <p:sp>
        <p:nvSpPr>
          <p:cNvPr id="16" name="Text 13"/>
          <p:cNvSpPr/>
          <p:nvPr/>
        </p:nvSpPr>
        <p:spPr>
          <a:xfrm>
            <a:off x="5664461" y="265176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community_id · emergency_id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created_by_user_id</a:t>
            </a:r>
            <a:endParaRPr lang="es-PE" sz="1400" dirty="0"/>
          </a:p>
        </p:txBody>
      </p:sp>
      <p:sp>
        <p:nvSpPr>
          <p:cNvPr id="17" name="Shape 14"/>
          <p:cNvSpPr/>
          <p:nvPr/>
        </p:nvSpPr>
        <p:spPr>
          <a:xfrm>
            <a:off x="10472351" y="214884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472351" y="214884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80597" y="218084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inventory.matching</a:t>
            </a:r>
            <a:endParaRPr lang="es-PE" sz="1700" dirty="0"/>
          </a:p>
        </p:txBody>
      </p:sp>
      <p:sp>
        <p:nvSpPr>
          <p:cNvPr id="20" name="Text 17"/>
          <p:cNvSpPr/>
          <p:nvPr/>
        </p:nvSpPr>
        <p:spPr>
          <a:xfrm>
            <a:off x="10580597" y="265176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request_id · ong_id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s-PE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416052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16052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8325" y="419252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inventory.warehouse</a:t>
            </a:r>
            <a:endParaRPr lang="es-PE" sz="1700" dirty="0"/>
          </a:p>
        </p:txBody>
      </p:sp>
      <p:sp>
        <p:nvSpPr>
          <p:cNvPr id="24" name="Text 21"/>
          <p:cNvSpPr/>
          <p:nvPr/>
        </p:nvSpPr>
        <p:spPr>
          <a:xfrm>
            <a:off x="748325" y="466344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ong_id</a:t>
            </a:r>
            <a:endParaRPr lang="es-PE" sz="1400" dirty="0"/>
          </a:p>
        </p:txBody>
      </p:sp>
      <p:sp>
        <p:nvSpPr>
          <p:cNvPr id="25" name="Shape 22"/>
          <p:cNvSpPr/>
          <p:nvPr/>
        </p:nvSpPr>
        <p:spPr>
          <a:xfrm>
            <a:off x="5556216" y="416052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556216" y="416052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4461" y="419252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shelter.request_item</a:t>
            </a:r>
            <a:endParaRPr lang="es-PE" sz="1700" dirty="0"/>
          </a:p>
        </p:txBody>
      </p:sp>
      <p:sp>
        <p:nvSpPr>
          <p:cNvPr id="28" name="Text 25"/>
          <p:cNvSpPr/>
          <p:nvPr/>
        </p:nvSpPr>
        <p:spPr>
          <a:xfrm>
            <a:off x="5664461" y="466344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request_id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product_id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requested_quantity</a:t>
            </a:r>
            <a:endParaRPr lang="es-PE" sz="1400" dirty="0"/>
          </a:p>
        </p:txBody>
      </p:sp>
      <p:sp>
        <p:nvSpPr>
          <p:cNvPr id="29" name="Shape 26"/>
          <p:cNvSpPr/>
          <p:nvPr/>
        </p:nvSpPr>
        <p:spPr>
          <a:xfrm>
            <a:off x="10472351" y="416052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472351" y="416052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580597" y="419252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inventory.matching_item</a:t>
            </a:r>
            <a:endParaRPr lang="es-PE" sz="1700" dirty="0"/>
          </a:p>
        </p:txBody>
      </p:sp>
      <p:sp>
        <p:nvSpPr>
          <p:cNvPr id="32" name="Text 29"/>
          <p:cNvSpPr/>
          <p:nvPr/>
        </p:nvSpPr>
        <p:spPr>
          <a:xfrm>
            <a:off x="10580597" y="466344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matching_id · stock_id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request_item_id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proposed_quantity · confirmed_quantity</a:t>
            </a:r>
            <a:endParaRPr lang="es-PE" sz="1400" dirty="0"/>
          </a:p>
        </p:txBody>
      </p:sp>
      <p:sp>
        <p:nvSpPr>
          <p:cNvPr id="33" name="Shape 30"/>
          <p:cNvSpPr/>
          <p:nvPr/>
        </p:nvSpPr>
        <p:spPr>
          <a:xfrm>
            <a:off x="640080" y="617220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0080" y="617220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48325" y="620420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inventory.product</a:t>
            </a:r>
            <a:endParaRPr lang="es-PE" sz="1700" dirty="0"/>
          </a:p>
        </p:txBody>
      </p:sp>
      <p:sp>
        <p:nvSpPr>
          <p:cNvPr id="36" name="Text 33"/>
          <p:cNvSpPr/>
          <p:nvPr/>
        </p:nvSpPr>
        <p:spPr>
          <a:xfrm>
            <a:off x="748325" y="667512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category_id · unit_of_measure_id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delivery_multiple</a:t>
            </a:r>
            <a:endParaRPr lang="es-PE" sz="1400" dirty="0"/>
          </a:p>
        </p:txBody>
      </p:sp>
      <p:sp>
        <p:nvSpPr>
          <p:cNvPr id="37" name="Shape 34"/>
          <p:cNvSpPr/>
          <p:nvPr/>
        </p:nvSpPr>
        <p:spPr>
          <a:xfrm>
            <a:off x="5556216" y="617220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56216" y="617220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664461" y="620420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inventory.stock</a:t>
            </a:r>
            <a:endParaRPr lang="es-PE" sz="1700" dirty="0"/>
          </a:p>
        </p:txBody>
      </p:sp>
      <p:sp>
        <p:nvSpPr>
          <p:cNvPr id="40" name="Text 37"/>
          <p:cNvSpPr/>
          <p:nvPr/>
        </p:nvSpPr>
        <p:spPr>
          <a:xfrm>
            <a:off x="5664461" y="667512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warehouse_id · product_id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physical_quantity · expires_on · status</a:t>
            </a:r>
            <a:endParaRPr lang="es-PE" sz="1400" dirty="0"/>
          </a:p>
        </p:txBody>
      </p:sp>
      <p:sp>
        <p:nvSpPr>
          <p:cNvPr id="41" name="Shape 38"/>
          <p:cNvSpPr/>
          <p:nvPr/>
        </p:nvSpPr>
        <p:spPr>
          <a:xfrm>
            <a:off x="10472351" y="617220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472351" y="617220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580597" y="620420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territory.risk</a:t>
            </a:r>
            <a:endParaRPr lang="es-PE" sz="1700" dirty="0"/>
          </a:p>
        </p:txBody>
      </p:sp>
      <p:sp>
        <p:nvSpPr>
          <p:cNvPr id="44" name="Text 41"/>
          <p:cNvSpPr/>
          <p:nvPr/>
        </p:nvSpPr>
        <p:spPr>
          <a:xfrm>
            <a:off x="10580597" y="667512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 · R community_id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catastrophe_id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catastrophe_level_id · observation_id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· assessed_at</a:t>
            </a:r>
            <a:endParaRPr lang="es-PE" sz="1400" dirty="0"/>
          </a:p>
        </p:txBody>
      </p:sp>
      <p:sp>
        <p:nvSpPr>
          <p:cNvPr id="45" name="Shape 42"/>
          <p:cNvSpPr/>
          <p:nvPr/>
        </p:nvSpPr>
        <p:spPr>
          <a:xfrm>
            <a:off x="4158049" y="2880360"/>
            <a:ext cx="139816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94130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47" name="Text 44"/>
          <p:cNvSpPr/>
          <p:nvPr/>
        </p:nvSpPr>
        <p:spPr>
          <a:xfrm>
            <a:off x="4924785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48" name="Shape 45"/>
          <p:cNvSpPr/>
          <p:nvPr/>
        </p:nvSpPr>
        <p:spPr>
          <a:xfrm>
            <a:off x="9074184" y="2880360"/>
            <a:ext cx="139816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49" name="Text 46"/>
          <p:cNvSpPr/>
          <p:nvPr/>
        </p:nvSpPr>
        <p:spPr>
          <a:xfrm>
            <a:off x="9110266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0" name="Text 47"/>
          <p:cNvSpPr/>
          <p:nvPr/>
        </p:nvSpPr>
        <p:spPr>
          <a:xfrm>
            <a:off x="9840921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51" name="Shape 48"/>
          <p:cNvSpPr/>
          <p:nvPr/>
        </p:nvSpPr>
        <p:spPr>
          <a:xfrm>
            <a:off x="7315200" y="3657600"/>
            <a:ext cx="0" cy="50292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65729" y="368503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3" name="Text 50"/>
          <p:cNvSpPr/>
          <p:nvPr/>
        </p:nvSpPr>
        <p:spPr>
          <a:xfrm>
            <a:off x="7387363" y="386791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1..*</a:t>
            </a:r>
            <a:endParaRPr lang="es-PE" sz="1400" dirty="0"/>
          </a:p>
        </p:txBody>
      </p:sp>
      <p:sp>
        <p:nvSpPr>
          <p:cNvPr id="54" name="Shape 51"/>
          <p:cNvSpPr/>
          <p:nvPr/>
        </p:nvSpPr>
        <p:spPr>
          <a:xfrm>
            <a:off x="12231336" y="3657600"/>
            <a:ext cx="0" cy="50292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1581865" y="368503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6" name="Text 53"/>
          <p:cNvSpPr/>
          <p:nvPr/>
        </p:nvSpPr>
        <p:spPr>
          <a:xfrm>
            <a:off x="12303499" y="386791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1..*</a:t>
            </a:r>
            <a:endParaRPr lang="es-PE" sz="1400" dirty="0"/>
          </a:p>
        </p:txBody>
      </p:sp>
      <p:sp>
        <p:nvSpPr>
          <p:cNvPr id="57" name="Shape 54"/>
          <p:cNvSpPr/>
          <p:nvPr/>
        </p:nvSpPr>
        <p:spPr>
          <a:xfrm>
            <a:off x="9074184" y="4892040"/>
            <a:ext cx="139816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58" name="Text 55"/>
          <p:cNvSpPr/>
          <p:nvPr/>
        </p:nvSpPr>
        <p:spPr>
          <a:xfrm>
            <a:off x="9110266" y="459943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9" name="Text 56"/>
          <p:cNvSpPr/>
          <p:nvPr/>
        </p:nvSpPr>
        <p:spPr>
          <a:xfrm>
            <a:off x="9840921" y="459943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60" name="Shape 57"/>
          <p:cNvSpPr/>
          <p:nvPr/>
        </p:nvSpPr>
        <p:spPr>
          <a:xfrm>
            <a:off x="4158049" y="6903720"/>
            <a:ext cx="139816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194130" y="661111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62" name="Text 59"/>
          <p:cNvSpPr/>
          <p:nvPr/>
        </p:nvSpPr>
        <p:spPr>
          <a:xfrm>
            <a:off x="4924785" y="661111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63" name="Shape 60"/>
          <p:cNvSpPr/>
          <p:nvPr/>
        </p:nvSpPr>
        <p:spPr>
          <a:xfrm>
            <a:off x="4158049" y="6510528"/>
            <a:ext cx="631430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64" name="Shape 61"/>
          <p:cNvSpPr/>
          <p:nvPr/>
        </p:nvSpPr>
        <p:spPr>
          <a:xfrm flipV="1">
            <a:off x="4789479" y="5230368"/>
            <a:ext cx="0" cy="128016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65" name="Shape 62"/>
          <p:cNvSpPr/>
          <p:nvPr/>
        </p:nvSpPr>
        <p:spPr>
          <a:xfrm>
            <a:off x="4789479" y="5230368"/>
            <a:ext cx="76673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66" name="Text 63"/>
          <p:cNvSpPr/>
          <p:nvPr/>
        </p:nvSpPr>
        <p:spPr>
          <a:xfrm>
            <a:off x="4194130" y="6217920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67" name="Text 64"/>
          <p:cNvSpPr/>
          <p:nvPr/>
        </p:nvSpPr>
        <p:spPr>
          <a:xfrm>
            <a:off x="4924785" y="4937760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68" name="Shape 65"/>
          <p:cNvSpPr/>
          <p:nvPr/>
        </p:nvSpPr>
        <p:spPr>
          <a:xfrm>
            <a:off x="2399064" y="5669280"/>
            <a:ext cx="0" cy="256032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399064" y="5925312"/>
            <a:ext cx="4916136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315200" y="5925312"/>
            <a:ext cx="0" cy="246888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749593" y="569671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72" name="Text 69"/>
          <p:cNvSpPr/>
          <p:nvPr/>
        </p:nvSpPr>
        <p:spPr>
          <a:xfrm>
            <a:off x="7387363" y="587959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73" name="Shape 70"/>
          <p:cNvSpPr/>
          <p:nvPr/>
        </p:nvSpPr>
        <p:spPr>
          <a:xfrm flipV="1">
            <a:off x="8758469" y="5897880"/>
            <a:ext cx="0" cy="27432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758469" y="5897880"/>
            <a:ext cx="3472866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V="1">
            <a:off x="12231336" y="5669280"/>
            <a:ext cx="0" cy="22860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8108998" y="587959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77" name="Text 74"/>
          <p:cNvSpPr/>
          <p:nvPr/>
        </p:nvSpPr>
        <p:spPr>
          <a:xfrm>
            <a:off x="12303499" y="569671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78" name="Text 75"/>
          <p:cNvSpPr/>
          <p:nvPr/>
        </p:nvSpPr>
        <p:spPr>
          <a:xfrm>
            <a:off x="640080" y="7836408"/>
            <a:ext cx="1335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Comunidad 1 : 0..* risk [R] · created_by_user_id → identity.user.id [R] · observation_id opcional.</a:t>
            </a:r>
            <a:endParaRPr lang="es-PE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MODELADO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 ER: autorización, logística y recepción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Cabeceras, detalles y referencias conservan la continuidad de cada aporte.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892808"/>
            <a:ext cx="1335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PK: UUID   ·   FK: interna (continua)   ·   R: lógica entre módulos (discontinua)   ·   U: única</a:t>
            </a:r>
            <a:endParaRPr lang="es-PE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14884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214884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8325" y="218084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inventory.authorization</a:t>
            </a:r>
            <a:endParaRPr lang="es-PE" sz="1700" dirty="0"/>
          </a:p>
        </p:txBody>
      </p:sp>
      <p:sp>
        <p:nvSpPr>
          <p:cNvPr id="12" name="Text 9"/>
          <p:cNvSpPr/>
          <p:nvPr/>
        </p:nvSpPr>
        <p:spPr>
          <a:xfrm>
            <a:off x="748325" y="265176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matching_id [U]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 operation_key</a:t>
            </a:r>
            <a:endParaRPr lang="es-PE" sz="1400" dirty="0"/>
          </a:p>
        </p:txBody>
      </p:sp>
      <p:sp>
        <p:nvSpPr>
          <p:cNvPr id="13" name="Shape 10"/>
          <p:cNvSpPr/>
          <p:nvPr/>
        </p:nvSpPr>
        <p:spPr>
          <a:xfrm>
            <a:off x="5556216" y="214884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56216" y="214884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4461" y="218084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logistics.dispatch</a:t>
            </a:r>
            <a:endParaRPr lang="es-PE" sz="1700" dirty="0"/>
          </a:p>
        </p:txBody>
      </p:sp>
      <p:sp>
        <p:nvSpPr>
          <p:cNvPr id="16" name="Text 13"/>
          <p:cNvSpPr/>
          <p:nvPr/>
        </p:nvSpPr>
        <p:spPr>
          <a:xfrm>
            <a:off x="5664461" y="265176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authorization_id · warehouse_id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community_id · brigade_user_id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· withdrawn_at · arrived_at</a:t>
            </a:r>
            <a:endParaRPr lang="es-PE" sz="1400" dirty="0"/>
          </a:p>
        </p:txBody>
      </p:sp>
      <p:sp>
        <p:nvSpPr>
          <p:cNvPr id="17" name="Shape 14"/>
          <p:cNvSpPr/>
          <p:nvPr/>
        </p:nvSpPr>
        <p:spPr>
          <a:xfrm>
            <a:off x="10472351" y="2148840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472351" y="2148840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80597" y="2180844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shelter.receipt</a:t>
            </a:r>
            <a:endParaRPr lang="es-PE" sz="1700" dirty="0"/>
          </a:p>
        </p:txBody>
      </p:sp>
      <p:sp>
        <p:nvSpPr>
          <p:cNvPr id="20" name="Text 17"/>
          <p:cNvSpPr/>
          <p:nvPr/>
        </p:nvSpPr>
        <p:spPr>
          <a:xfrm>
            <a:off x="10580597" y="2651760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request_id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dispatch_id [U]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 · confirmed_at</a:t>
            </a:r>
            <a:endParaRPr lang="es-PE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4187952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187952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8325" y="4219956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inventory.matching</a:t>
            </a:r>
            <a:endParaRPr lang="es-PE" sz="1700" dirty="0"/>
          </a:p>
        </p:txBody>
      </p:sp>
      <p:sp>
        <p:nvSpPr>
          <p:cNvPr id="24" name="Text 21"/>
          <p:cNvSpPr/>
          <p:nvPr/>
        </p:nvSpPr>
        <p:spPr>
          <a:xfrm>
            <a:off x="748325" y="4690872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request_id · ong_id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s-PE" sz="1400" dirty="0"/>
          </a:p>
        </p:txBody>
      </p:sp>
      <p:sp>
        <p:nvSpPr>
          <p:cNvPr id="25" name="Shape 22"/>
          <p:cNvSpPr/>
          <p:nvPr/>
        </p:nvSpPr>
        <p:spPr>
          <a:xfrm>
            <a:off x="5556216" y="4187952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556216" y="4187952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4461" y="4219956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logistics.dispatch_item</a:t>
            </a:r>
            <a:endParaRPr lang="es-PE" sz="1700" dirty="0"/>
          </a:p>
        </p:txBody>
      </p:sp>
      <p:sp>
        <p:nvSpPr>
          <p:cNvPr id="28" name="Text 25"/>
          <p:cNvSpPr/>
          <p:nvPr/>
        </p:nvSpPr>
        <p:spPr>
          <a:xfrm>
            <a:off x="5664461" y="4690872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dispatch_id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matching_item_id [U]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authorized_quantity · withdrawn_quantity</a:t>
            </a:r>
            <a:endParaRPr lang="es-PE" sz="1400" dirty="0"/>
          </a:p>
        </p:txBody>
      </p:sp>
      <p:sp>
        <p:nvSpPr>
          <p:cNvPr id="29" name="Shape 26"/>
          <p:cNvSpPr/>
          <p:nvPr/>
        </p:nvSpPr>
        <p:spPr>
          <a:xfrm>
            <a:off x="10472351" y="4187952"/>
            <a:ext cx="3517969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472351" y="4187952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580597" y="4219956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shelter.receipt_item</a:t>
            </a:r>
            <a:endParaRPr lang="es-PE" sz="1700" dirty="0"/>
          </a:p>
        </p:txBody>
      </p:sp>
      <p:sp>
        <p:nvSpPr>
          <p:cNvPr id="32" name="Text 29"/>
          <p:cNvSpPr/>
          <p:nvPr/>
        </p:nvSpPr>
        <p:spPr>
          <a:xfrm>
            <a:off x="10580597" y="4690872"/>
            <a:ext cx="3301478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receipt_id · request_item_id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dispatch_item_id [U]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received_quantity · conforming_quantity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missing_quantity</a:t>
            </a:r>
            <a:endParaRPr lang="es-PE" sz="1400" dirty="0"/>
          </a:p>
        </p:txBody>
      </p:sp>
      <p:sp>
        <p:nvSpPr>
          <p:cNvPr id="33" name="Shape 30"/>
          <p:cNvSpPr/>
          <p:nvPr/>
        </p:nvSpPr>
        <p:spPr>
          <a:xfrm>
            <a:off x="640080" y="6199632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0080" y="6199632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48325" y="6231636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logistics.route</a:t>
            </a:r>
            <a:endParaRPr lang="es-PE" sz="1700" dirty="0"/>
          </a:p>
        </p:txBody>
      </p:sp>
      <p:sp>
        <p:nvSpPr>
          <p:cNvPr id="36" name="Text 33"/>
          <p:cNvSpPr/>
          <p:nvPr/>
        </p:nvSpPr>
        <p:spPr>
          <a:xfrm>
            <a:off x="748325" y="6702552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dispatch_id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· verified_at</a:t>
            </a:r>
            <a:endParaRPr lang="es-PE" sz="1400" dirty="0"/>
          </a:p>
        </p:txBody>
      </p:sp>
      <p:sp>
        <p:nvSpPr>
          <p:cNvPr id="37" name="Shape 34"/>
          <p:cNvSpPr/>
          <p:nvPr/>
        </p:nvSpPr>
        <p:spPr>
          <a:xfrm>
            <a:off x="5556216" y="6199632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56216" y="6199632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664461" y="6231636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logistics.document</a:t>
            </a:r>
            <a:endParaRPr lang="es-PE" sz="1700" dirty="0"/>
          </a:p>
        </p:txBody>
      </p:sp>
      <p:sp>
        <p:nvSpPr>
          <p:cNvPr id="40" name="Text 37"/>
          <p:cNvSpPr/>
          <p:nvPr/>
        </p:nvSpPr>
        <p:spPr>
          <a:xfrm>
            <a:off x="5664461" y="6702552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 · FK dispatch_id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receipt_id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 (dispatch_id, type)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file_location · checksum</a:t>
            </a:r>
            <a:endParaRPr lang="es-PE" sz="1400" dirty="0"/>
          </a:p>
        </p:txBody>
      </p:sp>
      <p:sp>
        <p:nvSpPr>
          <p:cNvPr id="41" name="Shape 38"/>
          <p:cNvSpPr/>
          <p:nvPr/>
        </p:nvSpPr>
        <p:spPr>
          <a:xfrm>
            <a:off x="10472351" y="6199632"/>
            <a:ext cx="3517969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472351" y="6199632"/>
            <a:ext cx="3517969" cy="38404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580597" y="6231636"/>
            <a:ext cx="33014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shelter.discrepancy_report</a:t>
            </a:r>
            <a:endParaRPr lang="es-PE" sz="1700" dirty="0"/>
          </a:p>
        </p:txBody>
      </p:sp>
      <p:sp>
        <p:nvSpPr>
          <p:cNvPr id="44" name="Text 41"/>
          <p:cNvSpPr/>
          <p:nvPr/>
        </p:nvSpPr>
        <p:spPr>
          <a:xfrm>
            <a:off x="10580597" y="6702552"/>
            <a:ext cx="33014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PK id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 receipt_id [U]</a:t>
            </a:r>
            <a:endParaRPr lang="es-PE" sz="1400" dirty="0"/>
          </a:p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description</a:t>
            </a:r>
            <a:endParaRPr lang="es-PE" sz="1400" dirty="0"/>
          </a:p>
        </p:txBody>
      </p:sp>
      <p:sp>
        <p:nvSpPr>
          <p:cNvPr id="45" name="Shape 42"/>
          <p:cNvSpPr/>
          <p:nvPr/>
        </p:nvSpPr>
        <p:spPr>
          <a:xfrm>
            <a:off x="4158049" y="2880360"/>
            <a:ext cx="139816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4194130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47" name="Text 44"/>
          <p:cNvSpPr/>
          <p:nvPr/>
        </p:nvSpPr>
        <p:spPr>
          <a:xfrm>
            <a:off x="4924785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1..*</a:t>
            </a:r>
            <a:endParaRPr lang="es-PE" sz="1400" dirty="0"/>
          </a:p>
        </p:txBody>
      </p:sp>
      <p:sp>
        <p:nvSpPr>
          <p:cNvPr id="48" name="Shape 45"/>
          <p:cNvSpPr/>
          <p:nvPr/>
        </p:nvSpPr>
        <p:spPr>
          <a:xfrm>
            <a:off x="9074184" y="2880360"/>
            <a:ext cx="139816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49" name="Text 46"/>
          <p:cNvSpPr/>
          <p:nvPr/>
        </p:nvSpPr>
        <p:spPr>
          <a:xfrm>
            <a:off x="9110266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0" name="Text 47"/>
          <p:cNvSpPr/>
          <p:nvPr/>
        </p:nvSpPr>
        <p:spPr>
          <a:xfrm>
            <a:off x="9840921" y="258775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0..1</a:t>
            </a:r>
            <a:endParaRPr lang="es-PE" sz="1400" dirty="0"/>
          </a:p>
        </p:txBody>
      </p:sp>
      <p:sp>
        <p:nvSpPr>
          <p:cNvPr id="51" name="Shape 48"/>
          <p:cNvSpPr/>
          <p:nvPr/>
        </p:nvSpPr>
        <p:spPr>
          <a:xfrm flipV="1">
            <a:off x="2399064" y="3657600"/>
            <a:ext cx="0" cy="530352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749593" y="389534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3" name="Text 50"/>
          <p:cNvSpPr/>
          <p:nvPr/>
        </p:nvSpPr>
        <p:spPr>
          <a:xfrm>
            <a:off x="2471228" y="368503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0..1</a:t>
            </a:r>
            <a:endParaRPr lang="es-PE" sz="1400" dirty="0"/>
          </a:p>
        </p:txBody>
      </p:sp>
      <p:sp>
        <p:nvSpPr>
          <p:cNvPr id="54" name="Shape 51"/>
          <p:cNvSpPr/>
          <p:nvPr/>
        </p:nvSpPr>
        <p:spPr>
          <a:xfrm>
            <a:off x="9074184" y="4919472"/>
            <a:ext cx="1398167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55" name="Text 52"/>
          <p:cNvSpPr/>
          <p:nvPr/>
        </p:nvSpPr>
        <p:spPr>
          <a:xfrm>
            <a:off x="9110266" y="462686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6" name="Text 53"/>
          <p:cNvSpPr/>
          <p:nvPr/>
        </p:nvSpPr>
        <p:spPr>
          <a:xfrm>
            <a:off x="9840921" y="462686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0..1</a:t>
            </a:r>
            <a:endParaRPr lang="es-PE" sz="1400" dirty="0"/>
          </a:p>
        </p:txBody>
      </p:sp>
      <p:sp>
        <p:nvSpPr>
          <p:cNvPr id="57" name="Shape 54"/>
          <p:cNvSpPr/>
          <p:nvPr/>
        </p:nvSpPr>
        <p:spPr>
          <a:xfrm>
            <a:off x="7315200" y="3657600"/>
            <a:ext cx="0" cy="530352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665729" y="368503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59" name="Text 56"/>
          <p:cNvSpPr/>
          <p:nvPr/>
        </p:nvSpPr>
        <p:spPr>
          <a:xfrm>
            <a:off x="7387363" y="389534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1..*</a:t>
            </a:r>
            <a:endParaRPr lang="es-PE" sz="1400" dirty="0"/>
          </a:p>
        </p:txBody>
      </p:sp>
      <p:sp>
        <p:nvSpPr>
          <p:cNvPr id="60" name="Shape 57"/>
          <p:cNvSpPr/>
          <p:nvPr/>
        </p:nvSpPr>
        <p:spPr>
          <a:xfrm>
            <a:off x="12231336" y="3657600"/>
            <a:ext cx="0" cy="530352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1581865" y="368503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62" name="Text 59"/>
          <p:cNvSpPr/>
          <p:nvPr/>
        </p:nvSpPr>
        <p:spPr>
          <a:xfrm>
            <a:off x="12303499" y="389534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1..*</a:t>
            </a:r>
            <a:endParaRPr lang="es-PE" sz="1400" dirty="0"/>
          </a:p>
        </p:txBody>
      </p:sp>
      <p:sp>
        <p:nvSpPr>
          <p:cNvPr id="63" name="Shape 60"/>
          <p:cNvSpPr/>
          <p:nvPr/>
        </p:nvSpPr>
        <p:spPr>
          <a:xfrm flipH="1">
            <a:off x="4699275" y="3364992"/>
            <a:ext cx="856941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699275" y="3364992"/>
            <a:ext cx="0" cy="356616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H="1">
            <a:off x="4158049" y="6931152"/>
            <a:ext cx="541226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4924785" y="307238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67" name="Text 64"/>
          <p:cNvSpPr/>
          <p:nvPr/>
        </p:nvSpPr>
        <p:spPr>
          <a:xfrm>
            <a:off x="4212171" y="663854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0..*</a:t>
            </a:r>
            <a:endParaRPr lang="es-PE" sz="1400" dirty="0"/>
          </a:p>
        </p:txBody>
      </p:sp>
      <p:sp>
        <p:nvSpPr>
          <p:cNvPr id="68" name="Shape 65"/>
          <p:cNvSpPr/>
          <p:nvPr/>
        </p:nvSpPr>
        <p:spPr>
          <a:xfrm flipH="1">
            <a:off x="10291943" y="3383280"/>
            <a:ext cx="180409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0291943" y="3383280"/>
            <a:ext cx="0" cy="3547872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291943" y="6931152"/>
            <a:ext cx="180409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9840921" y="3090672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72" name="Text 69"/>
          <p:cNvSpPr/>
          <p:nvPr/>
        </p:nvSpPr>
        <p:spPr>
          <a:xfrm>
            <a:off x="9840921" y="6638544"/>
            <a:ext cx="432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0..1</a:t>
            </a:r>
            <a:endParaRPr lang="es-PE" sz="1400" dirty="0"/>
          </a:p>
        </p:txBody>
      </p:sp>
      <p:sp>
        <p:nvSpPr>
          <p:cNvPr id="73" name="Shape 70"/>
          <p:cNvSpPr/>
          <p:nvPr/>
        </p:nvSpPr>
        <p:spPr>
          <a:xfrm>
            <a:off x="10233310" y="4855464"/>
            <a:ext cx="117266" cy="128016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9886023" y="4919472"/>
            <a:ext cx="586328" cy="0"/>
          </a:xfrm>
          <a:prstGeom prst="line">
            <a:avLst/>
          </a:prstGeom>
          <a:noFill/>
          <a:ln w="16510">
            <a:solidFill>
              <a:srgbClr val="007F99"/>
            </a:solidFill>
            <a:prstDash val="dash"/>
          </a:ln>
        </p:spPr>
      </p:sp>
      <p:sp>
        <p:nvSpPr>
          <p:cNvPr id="75" name="Text 72"/>
          <p:cNvSpPr/>
          <p:nvPr/>
        </p:nvSpPr>
        <p:spPr>
          <a:xfrm>
            <a:off x="640080" y="7827264"/>
            <a:ext cx="1335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Ruta: route_segment vincula route y road mediante FK; UNIQUE(route_id, sequence) conserva el orden.</a:t>
            </a:r>
            <a:endParaRPr lang="es-PE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MODELADO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Integridad transaccional y trazabilidad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Disponibilidad = stock físico utilizable − compromisos autorizados pendientes de retiro.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2164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Operación</a:t>
            </a:r>
            <a:endParaRPr lang="es-PE" sz="1900" dirty="0"/>
          </a:p>
        </p:txBody>
      </p:sp>
      <p:sp>
        <p:nvSpPr>
          <p:cNvPr id="9" name="Text 6"/>
          <p:cNvSpPr/>
          <p:nvPr/>
        </p:nvSpPr>
        <p:spPr>
          <a:xfrm>
            <a:off x="3030495" y="1965960"/>
            <a:ext cx="34277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Escrituras atómicas</a:t>
            </a:r>
            <a:endParaRPr lang="es-PE" sz="1900" dirty="0"/>
          </a:p>
        </p:txBody>
      </p:sp>
      <p:sp>
        <p:nvSpPr>
          <p:cNvPr id="10" name="Text 7"/>
          <p:cNvSpPr/>
          <p:nvPr/>
        </p:nvSpPr>
        <p:spPr>
          <a:xfrm>
            <a:off x="6683770" y="1965960"/>
            <a:ext cx="27061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Invariante</a:t>
            </a:r>
            <a:endParaRPr lang="es-PE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2368296"/>
            <a:ext cx="8794922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87168"/>
            <a:ext cx="2164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Autorizar</a:t>
            </a:r>
            <a:endParaRPr lang="es-PE" sz="2000" dirty="0"/>
          </a:p>
        </p:txBody>
      </p:sp>
      <p:sp>
        <p:nvSpPr>
          <p:cNvPr id="13" name="Text 10"/>
          <p:cNvSpPr/>
          <p:nvPr/>
        </p:nvSpPr>
        <p:spPr>
          <a:xfrm>
            <a:off x="3030495" y="2487168"/>
            <a:ext cx="34277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Revalidar lotes y demanda; registrar autorización y compromiso.</a:t>
            </a:r>
            <a:endParaRPr lang="es-PE" sz="2000" dirty="0"/>
          </a:p>
        </p:txBody>
      </p:sp>
      <p:sp>
        <p:nvSpPr>
          <p:cNvPr id="14" name="Text 11"/>
          <p:cNvSpPr/>
          <p:nvPr/>
        </p:nvSpPr>
        <p:spPr>
          <a:xfrm>
            <a:off x="6683770" y="2487168"/>
            <a:ext cx="27061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Comprometido ≤ físico utilizable.</a:t>
            </a:r>
            <a:endParaRPr lang="es-PE" sz="2000" dirty="0"/>
          </a:p>
        </p:txBody>
      </p:sp>
      <p:sp>
        <p:nvSpPr>
          <p:cNvPr id="15" name="Shape 12"/>
          <p:cNvSpPr/>
          <p:nvPr/>
        </p:nvSpPr>
        <p:spPr>
          <a:xfrm>
            <a:off x="640080" y="3630168"/>
            <a:ext cx="8794922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749040"/>
            <a:ext cx="2164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Retirar</a:t>
            </a:r>
            <a:endParaRPr lang="es-PE" sz="2000" dirty="0"/>
          </a:p>
        </p:txBody>
      </p:sp>
      <p:sp>
        <p:nvSpPr>
          <p:cNvPr id="17" name="Text 14"/>
          <p:cNvSpPr/>
          <p:nvPr/>
        </p:nvSpPr>
        <p:spPr>
          <a:xfrm>
            <a:off x="3030495" y="3749040"/>
            <a:ext cx="34277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Registrar inventory.movement (WITHDRAWAL) y estado WITHDRAWN.</a:t>
            </a:r>
            <a:endParaRPr lang="es-PE" sz="2000" dirty="0"/>
          </a:p>
        </p:txBody>
      </p:sp>
      <p:sp>
        <p:nvSpPr>
          <p:cNvPr id="18" name="Text 15"/>
          <p:cNvSpPr/>
          <p:nvPr/>
        </p:nvSpPr>
        <p:spPr>
          <a:xfrm>
            <a:off x="6683770" y="3749040"/>
            <a:ext cx="27061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solo descuento</a:t>
            </a:r>
            <a:endParaRPr lang="es-PE" sz="2000" dirty="0"/>
          </a:p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operación.</a:t>
            </a:r>
            <a:endParaRPr lang="es-PE" sz="2000" dirty="0"/>
          </a:p>
        </p:txBody>
      </p:sp>
      <p:sp>
        <p:nvSpPr>
          <p:cNvPr id="19" name="Shape 16"/>
          <p:cNvSpPr/>
          <p:nvPr/>
        </p:nvSpPr>
        <p:spPr>
          <a:xfrm>
            <a:off x="640080" y="4892040"/>
            <a:ext cx="8794922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5010912"/>
            <a:ext cx="2164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Recepcionar</a:t>
            </a:r>
            <a:endParaRPr lang="es-PE" sz="2000" dirty="0"/>
          </a:p>
        </p:txBody>
      </p:sp>
      <p:sp>
        <p:nvSpPr>
          <p:cNvPr id="21" name="Text 18"/>
          <p:cNvSpPr/>
          <p:nvPr/>
        </p:nvSpPr>
        <p:spPr>
          <a:xfrm>
            <a:off x="3030495" y="5010912"/>
            <a:ext cx="34277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Registrar cabecera, líneas y discrepancias conjuntamente.</a:t>
            </a:r>
            <a:endParaRPr lang="es-PE" sz="2000" dirty="0"/>
          </a:p>
        </p:txBody>
      </p:sp>
      <p:sp>
        <p:nvSpPr>
          <p:cNvPr id="22" name="Text 19"/>
          <p:cNvSpPr/>
          <p:nvPr/>
        </p:nvSpPr>
        <p:spPr>
          <a:xfrm>
            <a:off x="6683770" y="5010912"/>
            <a:ext cx="27061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≤ conforme</a:t>
            </a:r>
            <a:endParaRPr lang="es-PE" sz="2000" dirty="0"/>
          </a:p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recibida ≤ enviada.</a:t>
            </a:r>
            <a:endParaRPr lang="es-PE" sz="2000" dirty="0"/>
          </a:p>
        </p:txBody>
      </p:sp>
      <p:sp>
        <p:nvSpPr>
          <p:cNvPr id="23" name="Shape 20"/>
          <p:cNvSpPr/>
          <p:nvPr/>
        </p:nvSpPr>
        <p:spPr>
          <a:xfrm>
            <a:off x="9840921" y="1965960"/>
            <a:ext cx="0" cy="5120640"/>
          </a:xfrm>
          <a:prstGeom prst="line">
            <a:avLst/>
          </a:prstGeom>
          <a:noFill/>
          <a:ln w="12700">
            <a:solidFill>
              <a:srgbClr val="D6E3E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46841" y="1965960"/>
            <a:ext cx="37434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Concurrencia</a:t>
            </a:r>
            <a:endParaRPr lang="es-PE" sz="2200" dirty="0"/>
          </a:p>
        </p:txBody>
      </p:sp>
      <p:sp>
        <p:nvSpPr>
          <p:cNvPr id="25" name="Text 22"/>
          <p:cNvSpPr/>
          <p:nvPr/>
        </p:nvSpPr>
        <p:spPr>
          <a:xfrm>
            <a:off x="10246841" y="2487168"/>
            <a:ext cx="37434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Bloqueo de filas o SERIALIZABLE</a:t>
            </a:r>
            <a:endParaRPr lang="es-PE" sz="1900" dirty="0"/>
          </a:p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reintentos impide exceder</a:t>
            </a:r>
            <a:endParaRPr lang="es-PE" sz="1900" dirty="0"/>
          </a:p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stock utilizable.</a:t>
            </a:r>
            <a:endParaRPr lang="es-PE" sz="1900" dirty="0"/>
          </a:p>
        </p:txBody>
      </p:sp>
      <p:sp>
        <p:nvSpPr>
          <p:cNvPr id="26" name="Text 23"/>
          <p:cNvSpPr/>
          <p:nvPr/>
        </p:nvSpPr>
        <p:spPr>
          <a:xfrm>
            <a:off x="10246841" y="3703320"/>
            <a:ext cx="37434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Idempotencia</a:t>
            </a:r>
            <a:endParaRPr lang="es-PE" sz="2200" dirty="0"/>
          </a:p>
        </p:txBody>
      </p:sp>
      <p:sp>
        <p:nvSpPr>
          <p:cNvPr id="27" name="Text 24"/>
          <p:cNvSpPr/>
          <p:nvPr/>
        </p:nvSpPr>
        <p:spPr>
          <a:xfrm>
            <a:off x="10246841" y="4224528"/>
            <a:ext cx="37434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Misma clave y contenido:</a:t>
            </a:r>
            <a:endParaRPr lang="es-PE" sz="1900" dirty="0"/>
          </a:p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 previo. Si los datos</a:t>
            </a:r>
            <a:endParaRPr lang="es-PE" sz="1900" dirty="0"/>
          </a:p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cambian, conflicto 409.</a:t>
            </a:r>
            <a:endParaRPr lang="es-PE" sz="1900" dirty="0"/>
          </a:p>
        </p:txBody>
      </p:sp>
      <p:sp>
        <p:nvSpPr>
          <p:cNvPr id="28" name="Text 25"/>
          <p:cNvSpPr/>
          <p:nvPr/>
        </p:nvSpPr>
        <p:spPr>
          <a:xfrm>
            <a:off x="10246841" y="5577840"/>
            <a:ext cx="37434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Trazabilidad</a:t>
            </a:r>
            <a:endParaRPr lang="es-PE" sz="2200" dirty="0"/>
          </a:p>
        </p:txBody>
      </p:sp>
      <p:sp>
        <p:nvSpPr>
          <p:cNvPr id="29" name="Text 26"/>
          <p:cNvSpPr/>
          <p:nvPr/>
        </p:nvSpPr>
        <p:spPr>
          <a:xfrm>
            <a:off x="10246841" y="6099048"/>
            <a:ext cx="3743479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Actor, fecha y cambios se auditan</a:t>
            </a:r>
            <a:endParaRPr lang="es-PE" sz="1900" dirty="0"/>
          </a:p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la transacción. Se conserva</a:t>
            </a:r>
            <a:endParaRPr lang="es-PE" sz="1900" dirty="0"/>
          </a:p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historial de discrepancias.</a:t>
            </a:r>
            <a:endParaRPr lang="es-PE" sz="1900" dirty="0"/>
          </a:p>
        </p:txBody>
      </p:sp>
      <p:sp>
        <p:nvSpPr>
          <p:cNvPr id="30" name="Text 27"/>
          <p:cNvSpPr/>
          <p:nvPr/>
        </p:nvSpPr>
        <p:spPr>
          <a:xfrm>
            <a:off x="640080" y="6620256"/>
            <a:ext cx="87949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Ejemplo secundario: 80 físicos y 70 comprometidos dejan 10 disponibles; al retirar 70 quedan 10 físicos y cero comprometidos.</a:t>
            </a:r>
            <a:endParaRPr lang="es-PE" sz="1800" dirty="0"/>
          </a:p>
        </p:txBody>
      </p:sp>
      <p:sp>
        <p:nvSpPr>
          <p:cNvPr id="31" name="Text 28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documentos se generan fuera de la transacción principal; un fallo permite reintentar sin revertir la recepción.</a:t>
            </a:r>
            <a:endParaRPr lang="es-PE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ARQUITECTURA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Organización lógica por capas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independiente y un backend NestJS: monolito modular organizado en capas.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s-PE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965960"/>
            <a:ext cx="3608173" cy="164592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5386" y="205740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Next.js / React</a:t>
            </a:r>
            <a:endParaRPr lang="es-PE" sz="2000" dirty="0"/>
          </a:p>
        </p:txBody>
      </p:sp>
      <p:sp>
        <p:nvSpPr>
          <p:cNvPr id="10" name="Text 7"/>
          <p:cNvSpPr/>
          <p:nvPr/>
        </p:nvSpPr>
        <p:spPr>
          <a:xfrm>
            <a:off x="775386" y="2505456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Navegación por rol, formularios, mapas y estados visibles.</a:t>
            </a:r>
            <a:endParaRPr lang="es-PE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977640"/>
            <a:ext cx="3608173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interfaz no determina permisos ni saldos definitivos.</a:t>
            </a:r>
            <a:endParaRPr lang="es-PE" sz="2100" dirty="0"/>
          </a:p>
        </p:txBody>
      </p:sp>
      <p:sp>
        <p:nvSpPr>
          <p:cNvPr id="12" name="Shape 9"/>
          <p:cNvSpPr/>
          <p:nvPr/>
        </p:nvSpPr>
        <p:spPr>
          <a:xfrm>
            <a:off x="4924785" y="1965960"/>
            <a:ext cx="9065535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3235" y="2130552"/>
            <a:ext cx="8659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3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NestJS · Una aplicación</a:t>
            </a:r>
            <a:endParaRPr lang="es-PE" sz="2300" dirty="0"/>
          </a:p>
        </p:txBody>
      </p:sp>
      <p:sp>
        <p:nvSpPr>
          <p:cNvPr id="14" name="Shape 11"/>
          <p:cNvSpPr/>
          <p:nvPr/>
        </p:nvSpPr>
        <p:spPr>
          <a:xfrm>
            <a:off x="5150296" y="2606040"/>
            <a:ext cx="8614513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85603" y="2697480"/>
            <a:ext cx="8343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Presentación / API</a:t>
            </a:r>
            <a:endParaRPr lang="es-PE" sz="2000" dirty="0"/>
          </a:p>
        </p:txBody>
      </p:sp>
      <p:sp>
        <p:nvSpPr>
          <p:cNvPr id="16" name="Text 13"/>
          <p:cNvSpPr/>
          <p:nvPr/>
        </p:nvSpPr>
        <p:spPr>
          <a:xfrm>
            <a:off x="5285603" y="3145536"/>
            <a:ext cx="83439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 DTO, sesión, rol y titularidad; traduce resultados a HTTP.</a:t>
            </a:r>
            <a:endParaRPr lang="es-PE" sz="1800" dirty="0"/>
          </a:p>
        </p:txBody>
      </p:sp>
      <p:sp>
        <p:nvSpPr>
          <p:cNvPr id="17" name="Shape 14"/>
          <p:cNvSpPr/>
          <p:nvPr/>
        </p:nvSpPr>
        <p:spPr>
          <a:xfrm>
            <a:off x="5150296" y="3913632"/>
            <a:ext cx="8614513" cy="1024128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85603" y="4005072"/>
            <a:ext cx="8343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Aplicación</a:t>
            </a:r>
            <a:endParaRPr lang="es-PE" sz="2000" dirty="0"/>
          </a:p>
        </p:txBody>
      </p:sp>
      <p:sp>
        <p:nvSpPr>
          <p:cNvPr id="19" name="Text 16"/>
          <p:cNvSpPr/>
          <p:nvPr/>
        </p:nvSpPr>
        <p:spPr>
          <a:xfrm>
            <a:off x="5285603" y="4453128"/>
            <a:ext cx="83439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Orquesta casos de uso, contratos modulares, transacciones y eventos.</a:t>
            </a:r>
            <a:endParaRPr lang="es-PE" sz="1800" dirty="0"/>
          </a:p>
        </p:txBody>
      </p:sp>
      <p:sp>
        <p:nvSpPr>
          <p:cNvPr id="20" name="Shape 17"/>
          <p:cNvSpPr/>
          <p:nvPr/>
        </p:nvSpPr>
        <p:spPr>
          <a:xfrm>
            <a:off x="5150296" y="5221224"/>
            <a:ext cx="4852993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285603" y="5312664"/>
            <a:ext cx="45823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Dominio</a:t>
            </a:r>
            <a:endParaRPr lang="es-PE" sz="2000" dirty="0"/>
          </a:p>
        </p:txBody>
      </p:sp>
      <p:sp>
        <p:nvSpPr>
          <p:cNvPr id="22" name="Text 19"/>
          <p:cNvSpPr/>
          <p:nvPr/>
        </p:nvSpPr>
        <p:spPr>
          <a:xfrm>
            <a:off x="5285603" y="5760720"/>
            <a:ext cx="45823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Matching, disponibilidad, transiciones y conformidad sin depender de HTTP ni ORM.</a:t>
            </a:r>
            <a:endParaRPr lang="es-PE" sz="1800" dirty="0"/>
          </a:p>
        </p:txBody>
      </p:sp>
      <p:sp>
        <p:nvSpPr>
          <p:cNvPr id="23" name="Shape 20"/>
          <p:cNvSpPr/>
          <p:nvPr/>
        </p:nvSpPr>
        <p:spPr>
          <a:xfrm>
            <a:off x="10337045" y="5221224"/>
            <a:ext cx="3427764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472351" y="5312664"/>
            <a:ext cx="31571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Infraestructura</a:t>
            </a:r>
            <a:endParaRPr lang="es-PE" sz="2000" dirty="0"/>
          </a:p>
        </p:txBody>
      </p:sp>
      <p:sp>
        <p:nvSpPr>
          <p:cNvPr id="25" name="Text 22"/>
          <p:cNvSpPr/>
          <p:nvPr/>
        </p:nvSpPr>
        <p:spPr>
          <a:xfrm>
            <a:off x="10472351" y="5760720"/>
            <a:ext cx="31571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Repositorios Prisma, PostgreSQL, archivos y adaptadores externos.</a:t>
            </a:r>
            <a:endParaRPr lang="es-PE" sz="1800" dirty="0"/>
          </a:p>
        </p:txBody>
      </p:sp>
      <p:sp>
        <p:nvSpPr>
          <p:cNvPr id="26" name="Shape 23"/>
          <p:cNvSpPr/>
          <p:nvPr/>
        </p:nvSpPr>
        <p:spPr>
          <a:xfrm>
            <a:off x="4311396" y="2651760"/>
            <a:ext cx="54122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7" name="Text 24"/>
          <p:cNvSpPr/>
          <p:nvPr/>
        </p:nvSpPr>
        <p:spPr>
          <a:xfrm>
            <a:off x="4284335" y="2240280"/>
            <a:ext cx="604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</a:t>
            </a:r>
            <a:endParaRPr lang="es-PE" sz="1400" dirty="0"/>
          </a:p>
        </p:txBody>
      </p:sp>
      <p:sp>
        <p:nvSpPr>
          <p:cNvPr id="28" name="Shape 25"/>
          <p:cNvSpPr/>
          <p:nvPr/>
        </p:nvSpPr>
        <p:spPr>
          <a:xfrm>
            <a:off x="9299695" y="3675888"/>
            <a:ext cx="0" cy="173736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495609" y="4983480"/>
            <a:ext cx="0" cy="173736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2005825" y="4983480"/>
            <a:ext cx="0" cy="173736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12005825" y="6784848"/>
            <a:ext cx="0" cy="438912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2" name="Text 29"/>
          <p:cNvSpPr/>
          <p:nvPr/>
        </p:nvSpPr>
        <p:spPr>
          <a:xfrm>
            <a:off x="8578061" y="7296912"/>
            <a:ext cx="54122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· archivos · fuentes externas</a:t>
            </a:r>
            <a:endParaRPr lang="es-PE" sz="1600" dirty="0"/>
          </a:p>
        </p:txBody>
      </p:sp>
      <p:sp>
        <p:nvSpPr>
          <p:cNvPr id="33" name="Text 30"/>
          <p:cNvSpPr/>
          <p:nvPr/>
        </p:nvSpPr>
        <p:spPr>
          <a:xfrm>
            <a:off x="640080" y="5394960"/>
            <a:ext cx="3608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Decisión de diseño</a:t>
            </a:r>
            <a:endParaRPr lang="es-PE" sz="2200" dirty="0"/>
          </a:p>
        </p:txBody>
      </p:sp>
      <p:sp>
        <p:nvSpPr>
          <p:cNvPr id="34" name="Text 31"/>
          <p:cNvSpPr/>
          <p:nvPr/>
        </p:nvSpPr>
        <p:spPr>
          <a:xfrm>
            <a:off x="640080" y="5916168"/>
            <a:ext cx="3608173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aplicación simplifica desarrollo y despliegue, conservando límites funcionales.</a:t>
            </a:r>
            <a:endParaRPr lang="es-PE" sz="1900" dirty="0"/>
          </a:p>
        </p:txBody>
      </p:sp>
      <p:sp>
        <p:nvSpPr>
          <p:cNvPr id="35" name="Text 32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capa de aplicación usa contratos; la infraestructura implementa el acceso. El dominio conserva las reglas al cambiar proveedores.</a:t>
            </a:r>
            <a:endParaRPr lang="es-PE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ARQUITECTURA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Colaboración entre módulos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Contratos públicos y casos de uso coordinan responsabilidades sin compartir repositorios privados.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s-PE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965960"/>
            <a:ext cx="3788582" cy="137160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5386" y="2057400"/>
            <a:ext cx="351796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</a:t>
            </a:r>
            <a:endParaRPr lang="es-PE" sz="2000" dirty="0"/>
          </a:p>
        </p:txBody>
      </p:sp>
      <p:sp>
        <p:nvSpPr>
          <p:cNvPr id="10" name="Text 7"/>
          <p:cNvSpPr/>
          <p:nvPr/>
        </p:nvSpPr>
        <p:spPr>
          <a:xfrm>
            <a:off x="775386" y="2505456"/>
            <a:ext cx="35179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Sesión, rol, pertenencia y auditoría transversal.</a:t>
            </a:r>
            <a:endParaRPr lang="es-PE" sz="1800" dirty="0"/>
          </a:p>
        </p:txBody>
      </p:sp>
      <p:sp>
        <p:nvSpPr>
          <p:cNvPr id="11" name="Text 8"/>
          <p:cNvSpPr/>
          <p:nvPr/>
        </p:nvSpPr>
        <p:spPr>
          <a:xfrm>
            <a:off x="5014990" y="1965960"/>
            <a:ext cx="89753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3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casos de uso coordinan los módulos; cada módulo conserva reglas y datos propios en su schema.</a:t>
            </a:r>
            <a:endParaRPr lang="es-PE" sz="2300" dirty="0"/>
          </a:p>
        </p:txBody>
      </p:sp>
      <p:sp>
        <p:nvSpPr>
          <p:cNvPr id="12" name="Shape 9"/>
          <p:cNvSpPr/>
          <p:nvPr/>
        </p:nvSpPr>
        <p:spPr>
          <a:xfrm>
            <a:off x="640080" y="3557016"/>
            <a:ext cx="3517969" cy="150876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5386" y="3648456"/>
            <a:ext cx="32473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Shelter</a:t>
            </a:r>
            <a:endParaRPr lang="es-PE" sz="2000" dirty="0"/>
          </a:p>
        </p:txBody>
      </p:sp>
      <p:sp>
        <p:nvSpPr>
          <p:cNvPr id="14" name="Text 11"/>
          <p:cNvSpPr/>
          <p:nvPr/>
        </p:nvSpPr>
        <p:spPr>
          <a:xfrm>
            <a:off x="775386" y="4096512"/>
            <a:ext cx="32473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Comunidades, solicitudes, recepción e informe final.</a:t>
            </a:r>
            <a:endParaRPr lang="es-PE" sz="1800" dirty="0"/>
          </a:p>
        </p:txBody>
      </p:sp>
      <p:sp>
        <p:nvSpPr>
          <p:cNvPr id="15" name="Shape 12"/>
          <p:cNvSpPr/>
          <p:nvPr/>
        </p:nvSpPr>
        <p:spPr>
          <a:xfrm>
            <a:off x="5556216" y="3557016"/>
            <a:ext cx="3517969" cy="150876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91522" y="3648456"/>
            <a:ext cx="32473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</a:t>
            </a:r>
            <a:endParaRPr lang="es-PE" sz="2000" dirty="0"/>
          </a:p>
        </p:txBody>
      </p:sp>
      <p:sp>
        <p:nvSpPr>
          <p:cNvPr id="17" name="Text 14"/>
          <p:cNvSpPr/>
          <p:nvPr/>
        </p:nvSpPr>
        <p:spPr>
          <a:xfrm>
            <a:off x="5691522" y="4096512"/>
            <a:ext cx="32473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Productos, lotes, movimientos, matching y autorización.</a:t>
            </a:r>
            <a:endParaRPr lang="es-PE" sz="1800" dirty="0"/>
          </a:p>
        </p:txBody>
      </p:sp>
      <p:sp>
        <p:nvSpPr>
          <p:cNvPr id="18" name="Shape 15"/>
          <p:cNvSpPr/>
          <p:nvPr/>
        </p:nvSpPr>
        <p:spPr>
          <a:xfrm>
            <a:off x="10472351" y="3557016"/>
            <a:ext cx="3517969" cy="150876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658" y="3648456"/>
            <a:ext cx="32473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</a:t>
            </a:r>
            <a:endParaRPr lang="es-PE" sz="2000" dirty="0"/>
          </a:p>
        </p:txBody>
      </p:sp>
      <p:sp>
        <p:nvSpPr>
          <p:cNvPr id="20" name="Text 17"/>
          <p:cNvSpPr/>
          <p:nvPr/>
        </p:nvSpPr>
        <p:spPr>
          <a:xfrm>
            <a:off x="10607658" y="4096512"/>
            <a:ext cx="32473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Despachos, rutas y retiros.</a:t>
            </a:r>
            <a:endParaRPr lang="es-PE" sz="1800" dirty="0"/>
          </a:p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Llegada y documentos.</a:t>
            </a:r>
            <a:endParaRPr lang="es-PE" sz="1800" dirty="0"/>
          </a:p>
        </p:txBody>
      </p:sp>
      <p:sp>
        <p:nvSpPr>
          <p:cNvPr id="21" name="Shape 18"/>
          <p:cNvSpPr/>
          <p:nvPr/>
        </p:nvSpPr>
        <p:spPr>
          <a:xfrm>
            <a:off x="4212171" y="4114800"/>
            <a:ext cx="1280901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4230212" y="3685032"/>
            <a:ext cx="12448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Necesidades</a:t>
            </a:r>
            <a:endParaRPr lang="es-PE" sz="1400" dirty="0"/>
          </a:p>
        </p:txBody>
      </p:sp>
      <p:sp>
        <p:nvSpPr>
          <p:cNvPr id="23" name="Shape 20"/>
          <p:cNvSpPr/>
          <p:nvPr/>
        </p:nvSpPr>
        <p:spPr>
          <a:xfrm>
            <a:off x="9128307" y="4114800"/>
            <a:ext cx="1280901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9128307" y="3685032"/>
            <a:ext cx="128090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Autorización</a:t>
            </a:r>
            <a:endParaRPr lang="es-PE" sz="1400" dirty="0"/>
          </a:p>
        </p:txBody>
      </p:sp>
      <p:sp>
        <p:nvSpPr>
          <p:cNvPr id="25" name="Shape 22"/>
          <p:cNvSpPr/>
          <p:nvPr/>
        </p:nvSpPr>
        <p:spPr>
          <a:xfrm>
            <a:off x="12231336" y="5120640"/>
            <a:ext cx="0" cy="338328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7315200" y="5458968"/>
            <a:ext cx="491613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7" name="Text 24"/>
          <p:cNvSpPr/>
          <p:nvPr/>
        </p:nvSpPr>
        <p:spPr>
          <a:xfrm>
            <a:off x="6413157" y="5550408"/>
            <a:ext cx="6945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Retiro: Logistics solicita descuento a Inventory</a:t>
            </a:r>
            <a:endParaRPr lang="es-PE" sz="1700" dirty="0"/>
          </a:p>
        </p:txBody>
      </p:sp>
      <p:sp>
        <p:nvSpPr>
          <p:cNvPr id="28" name="Shape 25"/>
          <p:cNvSpPr/>
          <p:nvPr/>
        </p:nvSpPr>
        <p:spPr>
          <a:xfrm>
            <a:off x="13358890" y="5120640"/>
            <a:ext cx="0" cy="978408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H="1">
            <a:off x="2399064" y="6099048"/>
            <a:ext cx="10959825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2399064" y="5120640"/>
            <a:ext cx="0" cy="978408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1" name="Text 28"/>
          <p:cNvSpPr/>
          <p:nvPr/>
        </p:nvSpPr>
        <p:spPr>
          <a:xfrm>
            <a:off x="2804984" y="5760720"/>
            <a:ext cx="3247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Arribo: habilita recepción</a:t>
            </a:r>
            <a:endParaRPr lang="es-PE" sz="1700" dirty="0"/>
          </a:p>
        </p:txBody>
      </p:sp>
      <p:sp>
        <p:nvSpPr>
          <p:cNvPr id="32" name="Shape 29"/>
          <p:cNvSpPr/>
          <p:nvPr/>
        </p:nvSpPr>
        <p:spPr>
          <a:xfrm>
            <a:off x="640080" y="6318504"/>
            <a:ext cx="3788582" cy="123444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5386" y="6409944"/>
            <a:ext cx="351796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Territory</a:t>
            </a:r>
            <a:endParaRPr lang="es-PE" sz="2000" dirty="0"/>
          </a:p>
        </p:txBody>
      </p:sp>
      <p:sp>
        <p:nvSpPr>
          <p:cNvPr id="34" name="Text 31"/>
          <p:cNvSpPr/>
          <p:nvPr/>
        </p:nvSpPr>
        <p:spPr>
          <a:xfrm>
            <a:off x="775386" y="6858000"/>
            <a:ext cx="351796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Observaciones y riesgo con fuente y fecha.</a:t>
            </a:r>
            <a:endParaRPr lang="es-PE" sz="1800" dirty="0"/>
          </a:p>
        </p:txBody>
      </p:sp>
      <p:sp>
        <p:nvSpPr>
          <p:cNvPr id="35" name="Shape 32"/>
          <p:cNvSpPr/>
          <p:nvPr/>
        </p:nvSpPr>
        <p:spPr>
          <a:xfrm>
            <a:off x="5556216" y="6318504"/>
            <a:ext cx="8434104" cy="123444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691522" y="6409944"/>
            <a:ext cx="81634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 de supervisión</a:t>
            </a:r>
            <a:endParaRPr lang="es-PE" sz="2000" dirty="0"/>
          </a:p>
        </p:txBody>
      </p:sp>
      <p:sp>
        <p:nvSpPr>
          <p:cNvPr id="37" name="Text 34"/>
          <p:cNvSpPr/>
          <p:nvPr/>
        </p:nvSpPr>
        <p:spPr>
          <a:xfrm>
            <a:off x="5691522" y="6858000"/>
            <a:ext cx="81634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Combina Territory, Shelter y Logistics; excluye stock privado de ONG.</a:t>
            </a:r>
            <a:endParaRPr lang="es-PE" sz="1800" dirty="0"/>
          </a:p>
        </p:txBody>
      </p:sp>
      <p:sp>
        <p:nvSpPr>
          <p:cNvPr id="38" name="Shape 35"/>
          <p:cNvSpPr/>
          <p:nvPr/>
        </p:nvSpPr>
        <p:spPr>
          <a:xfrm>
            <a:off x="4491805" y="6839712"/>
            <a:ext cx="1001268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 llegar, Logistics habilita la recepción en Shelter. Los contratos evitan acceder a repositorios privados de otros módulos.</a:t>
            </a:r>
            <a:endParaRPr lang="es-PE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INFRAESTRUCTURA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Servidor web y topología cloud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Referencia propuesta: Vercel para Next.js, Render para NestJS y Supabase para PostgreSQL.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s-PE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688336"/>
            <a:ext cx="2029597" cy="109728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5386" y="2779776"/>
            <a:ext cx="1758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Navegador</a:t>
            </a:r>
            <a:endParaRPr lang="es-PE" sz="2000" dirty="0"/>
          </a:p>
        </p:txBody>
      </p:sp>
      <p:sp>
        <p:nvSpPr>
          <p:cNvPr id="10" name="Text 7"/>
          <p:cNvSpPr/>
          <p:nvPr/>
        </p:nvSpPr>
        <p:spPr>
          <a:xfrm>
            <a:off x="775386" y="3227832"/>
            <a:ext cx="175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Interfaz por rol.</a:t>
            </a:r>
            <a:endParaRPr lang="es-PE" sz="1800" dirty="0"/>
          </a:p>
        </p:txBody>
      </p:sp>
      <p:sp>
        <p:nvSpPr>
          <p:cNvPr id="11" name="Shape 8"/>
          <p:cNvSpPr/>
          <p:nvPr/>
        </p:nvSpPr>
        <p:spPr>
          <a:xfrm>
            <a:off x="3436414" y="1965960"/>
            <a:ext cx="4059195" cy="2212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6823" y="2112264"/>
            <a:ext cx="36532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3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</a:t>
            </a:r>
            <a:endParaRPr lang="es-PE" sz="2300" dirty="0"/>
          </a:p>
        </p:txBody>
      </p:sp>
      <p:sp>
        <p:nvSpPr>
          <p:cNvPr id="13" name="Shape 10"/>
          <p:cNvSpPr/>
          <p:nvPr/>
        </p:nvSpPr>
        <p:spPr>
          <a:xfrm>
            <a:off x="3661925" y="2688336"/>
            <a:ext cx="3608173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97231" y="2779776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</a:t>
            </a:r>
            <a:endParaRPr lang="es-PE" sz="2000" dirty="0"/>
          </a:p>
        </p:txBody>
      </p:sp>
      <p:sp>
        <p:nvSpPr>
          <p:cNvPr id="15" name="Text 12"/>
          <p:cNvSpPr/>
          <p:nvPr/>
        </p:nvSpPr>
        <p:spPr>
          <a:xfrm>
            <a:off x="3797231" y="32278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y proxy de servidor.</a:t>
            </a:r>
            <a:endParaRPr lang="es-PE" sz="1800" dirty="0"/>
          </a:p>
        </p:txBody>
      </p:sp>
      <p:sp>
        <p:nvSpPr>
          <p:cNvPr id="16" name="Shape 13"/>
          <p:cNvSpPr/>
          <p:nvPr/>
        </p:nvSpPr>
        <p:spPr>
          <a:xfrm>
            <a:off x="8307448" y="1965960"/>
            <a:ext cx="5682872" cy="2212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87856" y="2112264"/>
            <a:ext cx="52769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3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endParaRPr lang="es-PE" sz="2300" dirty="0"/>
          </a:p>
        </p:txBody>
      </p:sp>
      <p:sp>
        <p:nvSpPr>
          <p:cNvPr id="18" name="Shape 15"/>
          <p:cNvSpPr/>
          <p:nvPr/>
        </p:nvSpPr>
        <p:spPr>
          <a:xfrm>
            <a:off x="8532958" y="2688336"/>
            <a:ext cx="5231851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68265" y="2779776"/>
            <a:ext cx="49612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NestJS</a:t>
            </a:r>
            <a:endParaRPr lang="es-PE" sz="2000" dirty="0"/>
          </a:p>
        </p:txBody>
      </p:sp>
      <p:sp>
        <p:nvSpPr>
          <p:cNvPr id="20" name="Text 17"/>
          <p:cNvSpPr/>
          <p:nvPr/>
        </p:nvSpPr>
        <p:spPr>
          <a:xfrm>
            <a:off x="8668265" y="3227832"/>
            <a:ext cx="49612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REST y tareas internas idempotentes.</a:t>
            </a:r>
            <a:endParaRPr lang="es-PE" sz="1800" dirty="0"/>
          </a:p>
        </p:txBody>
      </p:sp>
      <p:sp>
        <p:nvSpPr>
          <p:cNvPr id="21" name="Shape 18"/>
          <p:cNvSpPr/>
          <p:nvPr/>
        </p:nvSpPr>
        <p:spPr>
          <a:xfrm>
            <a:off x="2732820" y="3236976"/>
            <a:ext cx="631430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558752" y="3236976"/>
            <a:ext cx="676532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2723800" y="2843784"/>
            <a:ext cx="685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</a:t>
            </a:r>
            <a:endParaRPr lang="es-PE" sz="1400" dirty="0"/>
          </a:p>
        </p:txBody>
      </p:sp>
      <p:sp>
        <p:nvSpPr>
          <p:cNvPr id="24" name="Text 21"/>
          <p:cNvSpPr/>
          <p:nvPr/>
        </p:nvSpPr>
        <p:spPr>
          <a:xfrm>
            <a:off x="7558752" y="2843784"/>
            <a:ext cx="68555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4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</a:t>
            </a:r>
            <a:endParaRPr lang="es-PE" sz="1400" dirty="0"/>
          </a:p>
        </p:txBody>
      </p:sp>
      <p:sp>
        <p:nvSpPr>
          <p:cNvPr id="25" name="Shape 22"/>
          <p:cNvSpPr/>
          <p:nvPr/>
        </p:nvSpPr>
        <p:spPr>
          <a:xfrm>
            <a:off x="8307448" y="5202936"/>
            <a:ext cx="5682872" cy="2029968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487856" y="5367528"/>
            <a:ext cx="52318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3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s-PE" sz="2300" dirty="0"/>
          </a:p>
        </p:txBody>
      </p:sp>
      <p:sp>
        <p:nvSpPr>
          <p:cNvPr id="27" name="Shape 24"/>
          <p:cNvSpPr/>
          <p:nvPr/>
        </p:nvSpPr>
        <p:spPr>
          <a:xfrm>
            <a:off x="8532958" y="5971032"/>
            <a:ext cx="2390415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668265" y="6062472"/>
            <a:ext cx="21198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s-PE" sz="2000" dirty="0"/>
          </a:p>
        </p:txBody>
      </p:sp>
      <p:sp>
        <p:nvSpPr>
          <p:cNvPr id="29" name="Text 26"/>
          <p:cNvSpPr/>
          <p:nvPr/>
        </p:nvSpPr>
        <p:spPr>
          <a:xfrm>
            <a:off x="8668265" y="6510528"/>
            <a:ext cx="211980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Datos operativos.</a:t>
            </a:r>
            <a:endParaRPr lang="es-PE" sz="1800" dirty="0"/>
          </a:p>
        </p:txBody>
      </p:sp>
      <p:sp>
        <p:nvSpPr>
          <p:cNvPr id="30" name="Shape 27"/>
          <p:cNvSpPr/>
          <p:nvPr/>
        </p:nvSpPr>
        <p:spPr>
          <a:xfrm>
            <a:off x="11193986" y="5971032"/>
            <a:ext cx="2570823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329292" y="6062472"/>
            <a:ext cx="23002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candidato</a:t>
            </a:r>
            <a:endParaRPr lang="es-PE" sz="2000" dirty="0"/>
          </a:p>
        </p:txBody>
      </p:sp>
      <p:sp>
        <p:nvSpPr>
          <p:cNvPr id="32" name="Text 29"/>
          <p:cNvSpPr/>
          <p:nvPr/>
        </p:nvSpPr>
        <p:spPr>
          <a:xfrm>
            <a:off x="11329292" y="6510528"/>
            <a:ext cx="230021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XLSX y PDF.</a:t>
            </a:r>
            <a:endParaRPr lang="es-PE" sz="1800" dirty="0"/>
          </a:p>
        </p:txBody>
      </p:sp>
      <p:sp>
        <p:nvSpPr>
          <p:cNvPr id="33" name="Shape 30"/>
          <p:cNvSpPr/>
          <p:nvPr/>
        </p:nvSpPr>
        <p:spPr>
          <a:xfrm>
            <a:off x="9750717" y="4242816"/>
            <a:ext cx="0" cy="896112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12456846" y="4242816"/>
            <a:ext cx="0" cy="896112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35" name="Text 32"/>
          <p:cNvSpPr/>
          <p:nvPr/>
        </p:nvSpPr>
        <p:spPr>
          <a:xfrm>
            <a:off x="9858962" y="4599432"/>
            <a:ext cx="13530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/ TLS</a:t>
            </a:r>
            <a:endParaRPr lang="es-PE" sz="1500" dirty="0"/>
          </a:p>
        </p:txBody>
      </p:sp>
      <p:sp>
        <p:nvSpPr>
          <p:cNvPr id="36" name="Text 33"/>
          <p:cNvSpPr/>
          <p:nvPr/>
        </p:nvSpPr>
        <p:spPr>
          <a:xfrm>
            <a:off x="12565092" y="4599432"/>
            <a:ext cx="139816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Acceso autorizado</a:t>
            </a:r>
            <a:endParaRPr lang="es-PE" sz="1500" dirty="0"/>
          </a:p>
        </p:txBody>
      </p:sp>
      <p:sp>
        <p:nvSpPr>
          <p:cNvPr id="37" name="Text 34"/>
          <p:cNvSpPr/>
          <p:nvPr/>
        </p:nvSpPr>
        <p:spPr>
          <a:xfrm>
            <a:off x="640080" y="4773168"/>
            <a:ext cx="68555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Publicación y operación</a:t>
            </a:r>
            <a:endParaRPr lang="es-PE" sz="2200" dirty="0"/>
          </a:p>
        </p:txBody>
      </p:sp>
      <p:sp>
        <p:nvSpPr>
          <p:cNvPr id="38" name="Text 35"/>
          <p:cNvSpPr/>
          <p:nvPr/>
        </p:nvSpPr>
        <p:spPr>
          <a:xfrm>
            <a:off x="640080" y="5294376"/>
            <a:ext cx="6855529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Repositorios Git separados y CI/CD permiten publicar frontend y API por separado. La operación requiere monitoreo, límites de conexión y capacidad medida.</a:t>
            </a:r>
            <a:endParaRPr lang="es-PE" sz="2100" dirty="0"/>
          </a:p>
        </p:txBody>
      </p:sp>
      <p:sp>
        <p:nvSpPr>
          <p:cNvPr id="39" name="Text 36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el backend guarda credenciales de datos e integraciones. La referencia no acredita un despliegue real ni una red privada contratada.</a:t>
            </a:r>
            <a:endParaRPr lang="es-PE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INFRAESTRUCTURA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Persistencia cloud, seguridad y recuperación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backend accede a PostgreSQL; la continuidad exige restaurar y conciliar los datos.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40591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Acceso y credenciales</a:t>
            </a:r>
            <a:endParaRPr lang="es-PE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2487168"/>
            <a:ext cx="405919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 es el ORM del backend. La conexión usa TLS, un pool dimensionado y privilegios mínimos; las cuentas de ejecución y migración son distintas.</a:t>
            </a:r>
            <a:endParaRPr lang="es-PE" sz="2100" dirty="0"/>
          </a:p>
        </p:txBody>
      </p:sp>
      <p:sp>
        <p:nvSpPr>
          <p:cNvPr id="10" name="Shape 7"/>
          <p:cNvSpPr/>
          <p:nvPr/>
        </p:nvSpPr>
        <p:spPr>
          <a:xfrm>
            <a:off x="5195398" y="1965960"/>
            <a:ext cx="4239603" cy="2953512"/>
          </a:xfrm>
          <a:prstGeom prst="can">
            <a:avLst/>
          </a:prstGeom>
          <a:solidFill>
            <a:srgbClr val="E4F5FA"/>
          </a:solidFill>
          <a:ln w="12700">
            <a:solidFill>
              <a:srgbClr val="007F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11114" y="2788920"/>
            <a:ext cx="36081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25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s-PE" sz="2500" dirty="0"/>
          </a:p>
          <a:p>
            <a:pPr algn="ctr" indent="0" marL="0">
              <a:buNone/>
            </a:pPr>
            <a:r>
              <a:rPr lang="es-PE" altLang="en-US" sz="25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s-PE" sz="2500" dirty="0"/>
          </a:p>
        </p:txBody>
      </p:sp>
      <p:sp>
        <p:nvSpPr>
          <p:cNvPr id="12" name="Text 9"/>
          <p:cNvSpPr/>
          <p:nvPr/>
        </p:nvSpPr>
        <p:spPr>
          <a:xfrm>
            <a:off x="5511114" y="3867912"/>
            <a:ext cx="36081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· shelter · inventory</a:t>
            </a:r>
            <a:endParaRPr lang="es-PE" sz="1800" dirty="0"/>
          </a:p>
          <a:p>
            <a:pPr algn="ctr"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 · territory</a:t>
            </a:r>
            <a:endParaRPr lang="es-PE" sz="1800" dirty="0"/>
          </a:p>
        </p:txBody>
      </p:sp>
      <p:sp>
        <p:nvSpPr>
          <p:cNvPr id="13" name="Text 10"/>
          <p:cNvSpPr/>
          <p:nvPr/>
        </p:nvSpPr>
        <p:spPr>
          <a:xfrm>
            <a:off x="10021330" y="1965960"/>
            <a:ext cx="39689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Restricciones y evolución</a:t>
            </a:r>
            <a:endParaRPr lang="es-PE" sz="2200" dirty="0"/>
          </a:p>
        </p:txBody>
      </p:sp>
      <p:sp>
        <p:nvSpPr>
          <p:cNvPr id="14" name="Text 11"/>
          <p:cNvSpPr/>
          <p:nvPr/>
        </p:nvSpPr>
        <p:spPr>
          <a:xfrm>
            <a:off x="10021330" y="2487168"/>
            <a:ext cx="396899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aplica FK, UNIQUE y CHECK. Prisma usa SQL en sus migraciones para índices parciales y restricciones.</a:t>
            </a:r>
            <a:endParaRPr lang="es-PE" sz="2100" dirty="0"/>
          </a:p>
        </p:txBody>
      </p:sp>
      <p:sp>
        <p:nvSpPr>
          <p:cNvPr id="15" name="Text 12"/>
          <p:cNvSpPr/>
          <p:nvPr/>
        </p:nvSpPr>
        <p:spPr>
          <a:xfrm>
            <a:off x="640080" y="5138928"/>
            <a:ext cx="640450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navegador no recibe credenciales SQL. Los documentos binarios quedan fuera de la base; se registran ubicación y checksum.</a:t>
            </a:r>
            <a:endParaRPr lang="es-PE" sz="2000" dirty="0"/>
          </a:p>
        </p:txBody>
      </p:sp>
      <p:sp>
        <p:nvSpPr>
          <p:cNvPr id="16" name="Text 13"/>
          <p:cNvSpPr/>
          <p:nvPr/>
        </p:nvSpPr>
        <p:spPr>
          <a:xfrm>
            <a:off x="7585813" y="5138928"/>
            <a:ext cx="640450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Respaldo diario, retención de 30 días,</a:t>
            </a:r>
            <a:endParaRPr lang="es-PE" sz="2000" dirty="0"/>
          </a:p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ensayo mensual. Pérdida máxima prevista:</a:t>
            </a:r>
            <a:endParaRPr lang="es-PE" sz="2000" dirty="0"/>
          </a:p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h de datos; recuperación del servicio: 8 h.</a:t>
            </a:r>
            <a:endParaRPr lang="es-PE" sz="2000" dirty="0"/>
          </a:p>
        </p:txBody>
      </p:sp>
      <p:sp>
        <p:nvSpPr>
          <p:cNvPr id="17" name="Shape 14"/>
          <p:cNvSpPr/>
          <p:nvPr/>
        </p:nvSpPr>
        <p:spPr>
          <a:xfrm>
            <a:off x="640080" y="6547104"/>
            <a:ext cx="2931641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8325" y="6656832"/>
            <a:ext cx="27151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Copia cifrada</a:t>
            </a:r>
            <a:endParaRPr lang="es-PE" sz="1700" dirty="0"/>
          </a:p>
        </p:txBody>
      </p:sp>
      <p:sp>
        <p:nvSpPr>
          <p:cNvPr id="19" name="Shape 16"/>
          <p:cNvSpPr/>
          <p:nvPr/>
        </p:nvSpPr>
        <p:spPr>
          <a:xfrm>
            <a:off x="3625843" y="6867144"/>
            <a:ext cx="423960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112946" y="6547104"/>
            <a:ext cx="2931641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21192" y="6656832"/>
            <a:ext cx="27151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Restaurar aislado</a:t>
            </a:r>
            <a:endParaRPr lang="es-PE" sz="1700" dirty="0"/>
          </a:p>
        </p:txBody>
      </p:sp>
      <p:sp>
        <p:nvSpPr>
          <p:cNvPr id="22" name="Shape 19"/>
          <p:cNvSpPr/>
          <p:nvPr/>
        </p:nvSpPr>
        <p:spPr>
          <a:xfrm>
            <a:off x="7098710" y="6867144"/>
            <a:ext cx="423960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585813" y="6547104"/>
            <a:ext cx="2931641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94058" y="6656832"/>
            <a:ext cx="27151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Conciliar datos y saldos</a:t>
            </a:r>
            <a:endParaRPr lang="es-PE" sz="1700" dirty="0"/>
          </a:p>
        </p:txBody>
      </p:sp>
      <p:sp>
        <p:nvSpPr>
          <p:cNvPr id="25" name="Shape 22"/>
          <p:cNvSpPr/>
          <p:nvPr/>
        </p:nvSpPr>
        <p:spPr>
          <a:xfrm>
            <a:off x="10571576" y="6867144"/>
            <a:ext cx="423960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1058679" y="6547104"/>
            <a:ext cx="2931641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166925" y="6656832"/>
            <a:ext cx="27151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7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Probar acceso y recepción</a:t>
            </a:r>
            <a:endParaRPr lang="es-PE" sz="1700" dirty="0"/>
          </a:p>
        </p:txBody>
      </p:sp>
      <p:sp>
        <p:nvSpPr>
          <p:cNvPr id="28" name="Text 25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 objetivos de diseño sujetos al plan y a pruebas. Iniciar el motor no basta para acreditar una recuperación correcta.</a:t>
            </a:r>
            <a:endParaRPr lang="es-PE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COMUNICACIONES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 navegador a una operación persistida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 protege el transporte; la API autentica, autoriza y valida antes de confirmar.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s-PE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965960"/>
            <a:ext cx="2976743" cy="54864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8325" y="2066544"/>
            <a:ext cx="2760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Navegador de Comuna</a:t>
            </a:r>
            <a:endParaRPr lang="es-PE" sz="1800" dirty="0"/>
          </a:p>
        </p:txBody>
      </p:sp>
      <p:sp>
        <p:nvSpPr>
          <p:cNvPr id="10" name="Shape 7"/>
          <p:cNvSpPr/>
          <p:nvPr/>
        </p:nvSpPr>
        <p:spPr>
          <a:xfrm>
            <a:off x="2128451" y="2560320"/>
            <a:ext cx="0" cy="3163824"/>
          </a:xfrm>
          <a:prstGeom prst="line">
            <a:avLst/>
          </a:prstGeom>
          <a:noFill/>
          <a:ln w="12700">
            <a:solidFill>
              <a:srgbClr val="D6E3E9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4094906" y="1965960"/>
            <a:ext cx="2976743" cy="54864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03151" y="2066544"/>
            <a:ext cx="2760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/ proxy</a:t>
            </a:r>
            <a:endParaRPr lang="es-PE" sz="1800" dirty="0"/>
          </a:p>
        </p:txBody>
      </p:sp>
      <p:sp>
        <p:nvSpPr>
          <p:cNvPr id="13" name="Shape 10"/>
          <p:cNvSpPr/>
          <p:nvPr/>
        </p:nvSpPr>
        <p:spPr>
          <a:xfrm>
            <a:off x="5583277" y="2560320"/>
            <a:ext cx="0" cy="3163824"/>
          </a:xfrm>
          <a:prstGeom prst="line">
            <a:avLst/>
          </a:prstGeom>
          <a:noFill/>
          <a:ln w="12700">
            <a:solidFill>
              <a:srgbClr val="D6E3E9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7549731" y="1965960"/>
            <a:ext cx="2976743" cy="54864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57976" y="2066544"/>
            <a:ext cx="2760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NestJS</a:t>
            </a:r>
            <a:endParaRPr lang="es-PE" sz="1800" dirty="0"/>
          </a:p>
        </p:txBody>
      </p:sp>
      <p:sp>
        <p:nvSpPr>
          <p:cNvPr id="16" name="Shape 13"/>
          <p:cNvSpPr/>
          <p:nvPr/>
        </p:nvSpPr>
        <p:spPr>
          <a:xfrm>
            <a:off x="9038103" y="2560320"/>
            <a:ext cx="0" cy="3163824"/>
          </a:xfrm>
          <a:prstGeom prst="line">
            <a:avLst/>
          </a:prstGeom>
          <a:noFill/>
          <a:ln w="12700">
            <a:solidFill>
              <a:srgbClr val="D6E3E9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11004557" y="1965960"/>
            <a:ext cx="2976743" cy="548640"/>
          </a:xfrm>
          <a:prstGeom prst="rect">
            <a:avLst/>
          </a:prstGeom>
          <a:solidFill>
            <a:srgbClr val="E4F5FA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112802" y="2066544"/>
            <a:ext cx="2760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s-PE" sz="1800" dirty="0"/>
          </a:p>
        </p:txBody>
      </p:sp>
      <p:sp>
        <p:nvSpPr>
          <p:cNvPr id="19" name="Shape 16"/>
          <p:cNvSpPr/>
          <p:nvPr/>
        </p:nvSpPr>
        <p:spPr>
          <a:xfrm>
            <a:off x="12492928" y="2560320"/>
            <a:ext cx="0" cy="3163824"/>
          </a:xfrm>
          <a:prstGeom prst="line">
            <a:avLst/>
          </a:prstGeom>
          <a:noFill/>
          <a:ln w="12700">
            <a:solidFill>
              <a:srgbClr val="D6E3E9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128451" y="2880360"/>
            <a:ext cx="345482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2263758" y="2569464"/>
            <a:ext cx="31571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 HTTPS · cookie protegida</a:t>
            </a:r>
            <a:endParaRPr lang="es-PE" sz="1500" dirty="0"/>
          </a:p>
        </p:txBody>
      </p:sp>
      <p:sp>
        <p:nvSpPr>
          <p:cNvPr id="22" name="Shape 19"/>
          <p:cNvSpPr/>
          <p:nvPr/>
        </p:nvSpPr>
        <p:spPr>
          <a:xfrm>
            <a:off x="5583277" y="3319272"/>
            <a:ext cx="345482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5691522" y="3017520"/>
            <a:ext cx="31571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 POST /v1/requests · JSON</a:t>
            </a:r>
            <a:endParaRPr lang="es-PE" sz="1500" dirty="0"/>
          </a:p>
        </p:txBody>
      </p:sp>
      <p:sp>
        <p:nvSpPr>
          <p:cNvPr id="24" name="Shape 21"/>
          <p:cNvSpPr/>
          <p:nvPr/>
        </p:nvSpPr>
        <p:spPr>
          <a:xfrm>
            <a:off x="7766222" y="3584448"/>
            <a:ext cx="2570823" cy="667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6E3E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74467" y="3703320"/>
            <a:ext cx="235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Sesión, rol, comunidad,</a:t>
            </a:r>
            <a:endParaRPr lang="es-PE" sz="1600" dirty="0"/>
          </a:p>
          <a:p>
            <a:pPr indent="0" marL="0">
              <a:buNone/>
            </a:pPr>
            <a:r>
              <a:rPr lang="es-PE" altLang="en-US" sz="16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productos y cantidades</a:t>
            </a:r>
            <a:endParaRPr lang="es-PE" sz="1600" dirty="0"/>
          </a:p>
        </p:txBody>
      </p:sp>
      <p:sp>
        <p:nvSpPr>
          <p:cNvPr id="26" name="Shape 23"/>
          <p:cNvSpPr/>
          <p:nvPr/>
        </p:nvSpPr>
        <p:spPr>
          <a:xfrm>
            <a:off x="9038103" y="4553712"/>
            <a:ext cx="345482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solid"/>
            <a:tailEnd type="triangle"/>
          </a:ln>
        </p:spPr>
      </p:sp>
      <p:sp>
        <p:nvSpPr>
          <p:cNvPr id="27" name="Text 24"/>
          <p:cNvSpPr/>
          <p:nvPr/>
        </p:nvSpPr>
        <p:spPr>
          <a:xfrm>
            <a:off x="9164389" y="4251960"/>
            <a:ext cx="31571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5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 Transacción validada</a:t>
            </a:r>
            <a:endParaRPr lang="es-PE" sz="1500" dirty="0"/>
          </a:p>
        </p:txBody>
      </p:sp>
      <p:sp>
        <p:nvSpPr>
          <p:cNvPr id="28" name="Shape 25"/>
          <p:cNvSpPr/>
          <p:nvPr/>
        </p:nvSpPr>
        <p:spPr>
          <a:xfrm flipH="1">
            <a:off x="9038103" y="5038344"/>
            <a:ext cx="345482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>
            <a:off x="5583277" y="5340096"/>
            <a:ext cx="345482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dash"/>
            <a:tailEnd type="triangle"/>
          </a:ln>
        </p:spPr>
      </p:sp>
      <p:sp>
        <p:nvSpPr>
          <p:cNvPr id="30" name="Shape 27"/>
          <p:cNvSpPr/>
          <p:nvPr/>
        </p:nvSpPr>
        <p:spPr>
          <a:xfrm flipH="1">
            <a:off x="2128451" y="5641848"/>
            <a:ext cx="3454826" cy="0"/>
          </a:xfrm>
          <a:prstGeom prst="line">
            <a:avLst/>
          </a:prstGeom>
          <a:noFill/>
          <a:ln w="17780">
            <a:solidFill>
              <a:srgbClr val="007F99"/>
            </a:solidFill>
            <a:prstDash val="dash"/>
            <a:tailEnd type="triangle"/>
          </a:ln>
        </p:spPr>
      </p:sp>
      <p:sp>
        <p:nvSpPr>
          <p:cNvPr id="31" name="Text 28"/>
          <p:cNvSpPr/>
          <p:nvPr/>
        </p:nvSpPr>
        <p:spPr>
          <a:xfrm>
            <a:off x="3707027" y="5760720"/>
            <a:ext cx="97420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 Resultado persistido; retorno hasta la interfaz</a:t>
            </a:r>
            <a:endParaRPr lang="es-PE" sz="1800" dirty="0"/>
          </a:p>
        </p:txBody>
      </p:sp>
      <p:sp>
        <p:nvSpPr>
          <p:cNvPr id="32" name="Text 29"/>
          <p:cNvSpPr/>
          <p:nvPr/>
        </p:nvSpPr>
        <p:spPr>
          <a:xfrm>
            <a:off x="640080" y="6382512"/>
            <a:ext cx="40140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Contrato REST</a:t>
            </a:r>
            <a:endParaRPr lang="es-PE" sz="2200" dirty="0"/>
          </a:p>
        </p:txBody>
      </p:sp>
      <p:sp>
        <p:nvSpPr>
          <p:cNvPr id="33" name="Text 30"/>
          <p:cNvSpPr/>
          <p:nvPr/>
        </p:nvSpPr>
        <p:spPr>
          <a:xfrm>
            <a:off x="640080" y="6903720"/>
            <a:ext cx="401409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UUID, UTC y decimales exactos. La comunidad proviene de la sesión.</a:t>
            </a:r>
            <a:endParaRPr lang="es-PE" sz="1800" dirty="0"/>
          </a:p>
        </p:txBody>
      </p:sp>
      <p:sp>
        <p:nvSpPr>
          <p:cNvPr id="34" name="Text 31"/>
          <p:cNvSpPr/>
          <p:nvPr/>
        </p:nvSpPr>
        <p:spPr>
          <a:xfrm>
            <a:off x="5240501" y="6382512"/>
            <a:ext cx="40140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Sesión y permisos</a:t>
            </a:r>
            <a:endParaRPr lang="es-PE" sz="2200" dirty="0"/>
          </a:p>
        </p:txBody>
      </p:sp>
      <p:sp>
        <p:nvSpPr>
          <p:cNvPr id="35" name="Text 32"/>
          <p:cNvSpPr/>
          <p:nvPr/>
        </p:nvSpPr>
        <p:spPr>
          <a:xfrm>
            <a:off x="5240501" y="6903720"/>
            <a:ext cx="401409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validado por API. Cookie HttpOnly, Secure y SameSite=Lax; CSRF. Rol y titularidad en servidor.</a:t>
            </a:r>
            <a:endParaRPr lang="es-PE" sz="1800" dirty="0"/>
          </a:p>
        </p:txBody>
      </p:sp>
      <p:sp>
        <p:nvSpPr>
          <p:cNvPr id="36" name="Text 33"/>
          <p:cNvSpPr/>
          <p:nvPr/>
        </p:nvSpPr>
        <p:spPr>
          <a:xfrm>
            <a:off x="9840921" y="6382512"/>
            <a:ext cx="414939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Confirmación o error</a:t>
            </a:r>
            <a:endParaRPr lang="es-PE" sz="2200" dirty="0"/>
          </a:p>
        </p:txBody>
      </p:sp>
      <p:sp>
        <p:nvSpPr>
          <p:cNvPr id="37" name="Text 34"/>
          <p:cNvSpPr/>
          <p:nvPr/>
        </p:nvSpPr>
        <p:spPr>
          <a:xfrm>
            <a:off x="9840921" y="6903720"/>
            <a:ext cx="4149399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 crea; 401/403 deniegan; 422 valida; 409: conflicto. Ante red incierta, consultar antes de repetir.</a:t>
            </a:r>
            <a:endParaRPr lang="es-PE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 INTERFAZ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visual y registro de Comuna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MK-02 · Jerarquía por rol, identidad vinculada y cantidades comparables.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s-PE" sz="1500" dirty="0"/>
          </a:p>
        </p:txBody>
      </p:sp>
      <p:pic>
        <p:nvPicPr>
          <p:cNvPr id="8" name="Image 0" descr="Recorte fiel de 01-solicitud/MK-02-registro-solic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8028185" cy="5928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19286" y="1965960"/>
            <a:ext cx="48710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visual compartido</a:t>
            </a:r>
            <a:endParaRPr lang="es-PE" sz="2200" dirty="0"/>
          </a:p>
        </p:txBody>
      </p:sp>
      <p:sp>
        <p:nvSpPr>
          <p:cNvPr id="10" name="Text 6"/>
          <p:cNvSpPr/>
          <p:nvPr/>
        </p:nvSpPr>
        <p:spPr>
          <a:xfrm>
            <a:off x="9119286" y="2487168"/>
            <a:ext cx="48710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Segoe UI · blanco · azul oscuro · cyan. El color acompaña etiquetas y estados explícitos.</a:t>
            </a:r>
            <a:endParaRPr lang="es-PE" sz="2000" dirty="0"/>
          </a:p>
        </p:txBody>
      </p:sp>
      <p:pic>
        <p:nvPicPr>
          <p:cNvPr id="11" name="Image 1" descr="Recorte fiel de 01-solicitud/MK-02-registro-solicit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9286" y="3502152"/>
            <a:ext cx="1984495" cy="200395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419497" y="3502152"/>
            <a:ext cx="25708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Navegación por rol y ubicación activa; los permisos se aplican en servidor.</a:t>
            </a:r>
            <a:endParaRPr lang="es-PE" sz="1800" dirty="0"/>
          </a:p>
        </p:txBody>
      </p:sp>
      <p:sp>
        <p:nvSpPr>
          <p:cNvPr id="13" name="Shape 8"/>
          <p:cNvSpPr/>
          <p:nvPr/>
        </p:nvSpPr>
        <p:spPr>
          <a:xfrm>
            <a:off x="9119286" y="5760720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19286" y="5774436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15" name="Text 10"/>
          <p:cNvSpPr/>
          <p:nvPr/>
        </p:nvSpPr>
        <p:spPr>
          <a:xfrm>
            <a:off x="9525206" y="5733288"/>
            <a:ext cx="4420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Identidad y cantidades</a:t>
            </a:r>
            <a:endParaRPr lang="es-PE" sz="2100" dirty="0"/>
          </a:p>
        </p:txBody>
      </p:sp>
      <p:sp>
        <p:nvSpPr>
          <p:cNvPr id="16" name="Text 11"/>
          <p:cNvSpPr/>
          <p:nvPr/>
        </p:nvSpPr>
        <p:spPr>
          <a:xfrm>
            <a:off x="9119286" y="6291072"/>
            <a:ext cx="487103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cuenta fija la comunidad. Producto, unidad y cantidad se validan juntos: sin duplicados ni valores no positivos.</a:t>
            </a:r>
            <a:endParaRPr lang="es-PE" sz="2000" dirty="0"/>
          </a:p>
        </p:txBody>
      </p:sp>
      <p:sp>
        <p:nvSpPr>
          <p:cNvPr id="17" name="Text 12"/>
          <p:cNvSpPr/>
          <p:nvPr/>
        </p:nvSpPr>
        <p:spPr>
          <a:xfrm>
            <a:off x="9119286" y="7461504"/>
            <a:ext cx="4871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Tras confirmar, la solicitud ya no se edita.</a:t>
            </a:r>
            <a:endParaRPr lang="es-PE" sz="1900" dirty="0"/>
          </a:p>
        </p:txBody>
      </p:sp>
      <p:sp>
        <p:nvSpPr>
          <p:cNvPr id="18" name="Shape 13"/>
          <p:cNvSpPr/>
          <p:nvPr/>
        </p:nvSpPr>
        <p:spPr>
          <a:xfrm>
            <a:off x="8262345" y="5230368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62345" y="5244084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 INTERFAZ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ONG: evaluar el matching y autorizar la salida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MK-04 + MK-05 · Aceptar una propuesta y comprometer stock son decisiones distintas.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80281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MK-04 · Evaluación de la propuesta</a:t>
            </a:r>
            <a:endParaRPr lang="es-PE" sz="2100" dirty="0"/>
          </a:p>
        </p:txBody>
      </p:sp>
      <p:pic>
        <p:nvPicPr>
          <p:cNvPr id="9" name="Image 0" descr="Recorte fiel de 02-matching/MK-04-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87168"/>
            <a:ext cx="7712470" cy="54032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893776" y="1965960"/>
            <a:ext cx="509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Confirmar el aporte</a:t>
            </a:r>
            <a:endParaRPr lang="es-PE" sz="2200" dirty="0"/>
          </a:p>
        </p:txBody>
      </p:sp>
      <p:sp>
        <p:nvSpPr>
          <p:cNvPr id="11" name="Text 7"/>
          <p:cNvSpPr/>
          <p:nvPr/>
        </p:nvSpPr>
        <p:spPr>
          <a:xfrm>
            <a:off x="8893776" y="2514600"/>
            <a:ext cx="509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ONG comprueba destino, lotes y cantidades. Confirmar o reducir no reserva existencias.</a:t>
            </a:r>
            <a:endParaRPr lang="es-PE" sz="2000" dirty="0"/>
          </a:p>
        </p:txBody>
      </p:sp>
      <p:sp>
        <p:nvSpPr>
          <p:cNvPr id="12" name="Text 8"/>
          <p:cNvSpPr/>
          <p:nvPr/>
        </p:nvSpPr>
        <p:spPr>
          <a:xfrm>
            <a:off x="8893776" y="3794760"/>
            <a:ext cx="509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Autorizar la salida</a:t>
            </a:r>
            <a:endParaRPr lang="es-PE" sz="2200" dirty="0"/>
          </a:p>
        </p:txBody>
      </p:sp>
      <p:sp>
        <p:nvSpPr>
          <p:cNvPr id="13" name="Text 9"/>
          <p:cNvSpPr/>
          <p:nvPr/>
        </p:nvSpPr>
        <p:spPr>
          <a:xfrm>
            <a:off x="8893776" y="4343400"/>
            <a:ext cx="509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Revalida disponibilidad y demanda; registra el compromiso. El descuento físico ocurre al retirar.</a:t>
            </a:r>
            <a:endParaRPr lang="es-PE" sz="2000" dirty="0"/>
          </a:p>
        </p:txBody>
      </p:sp>
      <p:sp>
        <p:nvSpPr>
          <p:cNvPr id="14" name="Text 10"/>
          <p:cNvSpPr/>
          <p:nvPr/>
        </p:nvSpPr>
        <p:spPr>
          <a:xfrm>
            <a:off x="8893776" y="5623560"/>
            <a:ext cx="509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MK-05 · Verificación y confirmación</a:t>
            </a:r>
            <a:endParaRPr lang="es-PE" sz="1800" dirty="0"/>
          </a:p>
        </p:txBody>
      </p:sp>
      <p:pic>
        <p:nvPicPr>
          <p:cNvPr id="15" name="Image 1" descr="Recorte fiel de 03-autorizacion/MK-05-autoriza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3776" y="6108192"/>
            <a:ext cx="5096544" cy="1002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893776" y="7388352"/>
            <a:ext cx="509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Conserva lo confirmado; exige cotejo final.</a:t>
            </a:r>
            <a:endParaRPr lang="es-PE" sz="1900" dirty="0"/>
          </a:p>
        </p:txBody>
      </p:sp>
      <p:sp>
        <p:nvSpPr>
          <p:cNvPr id="17" name="Shape 12"/>
          <p:cNvSpPr/>
          <p:nvPr/>
        </p:nvSpPr>
        <p:spPr>
          <a:xfrm>
            <a:off x="7901528" y="6812280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901528" y="6825996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19" name="Shape 14"/>
          <p:cNvSpPr/>
          <p:nvPr/>
        </p:nvSpPr>
        <p:spPr>
          <a:xfrm>
            <a:off x="13584401" y="7086600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3584401" y="7100316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s-PE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 INTERFAZ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Brigada y Comuna: del traslado a la recepción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MK-07 + MK-08 · Una llegada registrada habilita la verificación comunitaria.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s-PE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77124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1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MK-07 · Ruta y traslado</a:t>
            </a:r>
            <a:endParaRPr lang="es-PE" sz="2100" dirty="0"/>
          </a:p>
        </p:txBody>
      </p:sp>
      <p:pic>
        <p:nvPicPr>
          <p:cNvPr id="9" name="Image 0" descr="Recorte fiel de 04-traslado/MK-07-ruta-trasl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87168"/>
            <a:ext cx="6765324" cy="52441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946630" y="1965960"/>
            <a:ext cx="60436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Brigada: retirar y registrar llegada</a:t>
            </a:r>
            <a:endParaRPr lang="es-PE" sz="2200" dirty="0"/>
          </a:p>
        </p:txBody>
      </p:sp>
      <p:sp>
        <p:nvSpPr>
          <p:cNvPr id="11" name="Text 7"/>
          <p:cNvSpPr/>
          <p:nvPr/>
        </p:nvSpPr>
        <p:spPr>
          <a:xfrm>
            <a:off x="7946630" y="2514600"/>
            <a:ext cx="6043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Ruta vigente, sin UNKNOWN ni IMPASSABLE.</a:t>
            </a:r>
            <a:endParaRPr lang="es-PE" sz="2000" dirty="0"/>
          </a:p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retiro es completo; registrar llegada</a:t>
            </a:r>
            <a:endParaRPr lang="es-PE" sz="2000" dirty="0"/>
          </a:p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acredita una recepción conforme.</a:t>
            </a:r>
            <a:endParaRPr lang="es-PE" sz="2000" dirty="0"/>
          </a:p>
        </p:txBody>
      </p:sp>
      <p:sp>
        <p:nvSpPr>
          <p:cNvPr id="12" name="Text 8"/>
          <p:cNvSpPr/>
          <p:nvPr/>
        </p:nvSpPr>
        <p:spPr>
          <a:xfrm>
            <a:off x="7946630" y="3785616"/>
            <a:ext cx="60436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2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Comuna: verificar lo recibido</a:t>
            </a:r>
            <a:endParaRPr lang="es-PE" sz="2200" dirty="0"/>
          </a:p>
        </p:txBody>
      </p:sp>
      <p:sp>
        <p:nvSpPr>
          <p:cNvPr id="13" name="Text 9"/>
          <p:cNvSpPr/>
          <p:nvPr/>
        </p:nvSpPr>
        <p:spPr>
          <a:xfrm>
            <a:off x="7946630" y="4343400"/>
            <a:ext cx="60436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MK-08 · Enviado, recibido y conforme</a:t>
            </a:r>
            <a:endParaRPr lang="es-PE" sz="1800" dirty="0"/>
          </a:p>
        </p:txBody>
      </p:sp>
      <p:pic>
        <p:nvPicPr>
          <p:cNvPr id="14" name="Image 1" descr="Recorte fiel de 05-recepcion/MK-08-recepcion-varia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630" y="4828032"/>
            <a:ext cx="6043690" cy="12588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946630" y="6355080"/>
            <a:ext cx="6043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Faltan 2 bidones; 2 frazadas llegan dañadas. La recepción registra y justifica ambas diferencias.</a:t>
            </a:r>
            <a:endParaRPr lang="es-PE" sz="2000" dirty="0"/>
          </a:p>
        </p:txBody>
      </p:sp>
      <p:sp>
        <p:nvSpPr>
          <p:cNvPr id="16" name="Text 11"/>
          <p:cNvSpPr/>
          <p:nvPr/>
        </p:nvSpPr>
        <p:spPr>
          <a:xfrm>
            <a:off x="7946630" y="7424928"/>
            <a:ext cx="60436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ruta se verifica antes del retiro; el mapa es un esquema sin escala ni GPS.</a:t>
            </a:r>
            <a:endParaRPr lang="es-PE" sz="1800" dirty="0"/>
          </a:p>
        </p:txBody>
      </p:sp>
      <p:sp>
        <p:nvSpPr>
          <p:cNvPr id="17" name="Shape 12"/>
          <p:cNvSpPr/>
          <p:nvPr/>
        </p:nvSpPr>
        <p:spPr>
          <a:xfrm>
            <a:off x="6909281" y="2880360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909281" y="2894076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19" name="Shape 14"/>
          <p:cNvSpPr/>
          <p:nvPr/>
        </p:nvSpPr>
        <p:spPr>
          <a:xfrm>
            <a:off x="13584401" y="5806440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3584401" y="5820156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s-PE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 INTERFAZ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Defensa Civil: supervisión territorial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MK-09 · Riesgo, atención y evidencia se consultan como dimensiones independientes.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s-PE" sz="1500" dirty="0"/>
          </a:p>
        </p:txBody>
      </p:sp>
      <p:pic>
        <p:nvPicPr>
          <p:cNvPr id="8" name="Image 0" descr="Recorte fiel de 06-supervision/MK-09-mapa-terri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5412259" cy="740044"/>
          </a:xfrm>
          <a:prstGeom prst="rect">
            <a:avLst/>
          </a:prstGeom>
        </p:spPr>
      </p:pic>
      <p:pic>
        <p:nvPicPr>
          <p:cNvPr id="9" name="Image 1" descr="Recorte fiel de 06-supervision/MK-09-mapa-territor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8920"/>
            <a:ext cx="10373497" cy="460870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509701" y="2103120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11509701" y="2116836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12" name="Text 7"/>
          <p:cNvSpPr/>
          <p:nvPr/>
        </p:nvSpPr>
        <p:spPr>
          <a:xfrm>
            <a:off x="11906600" y="2093976"/>
            <a:ext cx="2083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Fenómeno y capas</a:t>
            </a:r>
            <a:endParaRPr lang="es-PE" sz="1800" dirty="0"/>
          </a:p>
        </p:txBody>
      </p:sp>
      <p:sp>
        <p:nvSpPr>
          <p:cNvPr id="13" name="Text 8"/>
          <p:cNvSpPr/>
          <p:nvPr/>
        </p:nvSpPr>
        <p:spPr>
          <a:xfrm>
            <a:off x="11509701" y="2807208"/>
            <a:ext cx="248061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Filtrar evita mezclar evaluaciones de desastres distintos.</a:t>
            </a:r>
            <a:endParaRPr lang="es-PE" sz="1800" dirty="0"/>
          </a:p>
        </p:txBody>
      </p:sp>
      <p:sp>
        <p:nvSpPr>
          <p:cNvPr id="14" name="Shape 9"/>
          <p:cNvSpPr/>
          <p:nvPr/>
        </p:nvSpPr>
        <p:spPr>
          <a:xfrm>
            <a:off x="3905232" y="3632548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3905232" y="3646264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16" name="Shape 11"/>
          <p:cNvSpPr/>
          <p:nvPr/>
        </p:nvSpPr>
        <p:spPr>
          <a:xfrm>
            <a:off x="11509701" y="3950208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1509701" y="3963924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s-PE" sz="1400" dirty="0"/>
          </a:p>
        </p:txBody>
      </p:sp>
      <p:sp>
        <p:nvSpPr>
          <p:cNvPr id="18" name="Text 13"/>
          <p:cNvSpPr/>
          <p:nvPr/>
        </p:nvSpPr>
        <p:spPr>
          <a:xfrm>
            <a:off x="11906600" y="3941064"/>
            <a:ext cx="2083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Atención independiente</a:t>
            </a:r>
            <a:endParaRPr lang="es-PE" sz="1800" dirty="0"/>
          </a:p>
        </p:txBody>
      </p:sp>
      <p:sp>
        <p:nvSpPr>
          <p:cNvPr id="19" name="Text 14"/>
          <p:cNvSpPr/>
          <p:nvPr/>
        </p:nvSpPr>
        <p:spPr>
          <a:xfrm>
            <a:off x="11509701" y="4654296"/>
            <a:ext cx="248061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Recibir ayuda no reduce el nivel registrado de inundación.</a:t>
            </a:r>
            <a:endParaRPr lang="es-PE" sz="1800" dirty="0"/>
          </a:p>
        </p:txBody>
      </p:sp>
      <p:sp>
        <p:nvSpPr>
          <p:cNvPr id="20" name="Shape 15"/>
          <p:cNvSpPr/>
          <p:nvPr/>
        </p:nvSpPr>
        <p:spPr>
          <a:xfrm>
            <a:off x="10154327" y="4648026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0154327" y="4661742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s-PE" sz="1400" dirty="0"/>
          </a:p>
        </p:txBody>
      </p:sp>
      <p:sp>
        <p:nvSpPr>
          <p:cNvPr id="22" name="Shape 17"/>
          <p:cNvSpPr/>
          <p:nvPr/>
        </p:nvSpPr>
        <p:spPr>
          <a:xfrm>
            <a:off x="11509701" y="5797296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1509701" y="5811012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s-PE" sz="1400" dirty="0"/>
          </a:p>
        </p:txBody>
      </p:sp>
      <p:sp>
        <p:nvSpPr>
          <p:cNvPr id="24" name="Text 19"/>
          <p:cNvSpPr/>
          <p:nvPr/>
        </p:nvSpPr>
        <p:spPr>
          <a:xfrm>
            <a:off x="11906600" y="5788152"/>
            <a:ext cx="2083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Fuente y vigencia</a:t>
            </a:r>
            <a:endParaRPr lang="es-PE" sz="1800" dirty="0"/>
          </a:p>
        </p:txBody>
      </p:sp>
      <p:sp>
        <p:nvSpPr>
          <p:cNvPr id="25" name="Text 20"/>
          <p:cNvSpPr/>
          <p:nvPr/>
        </p:nvSpPr>
        <p:spPr>
          <a:xfrm>
            <a:off x="11509701" y="6501384"/>
            <a:ext cx="248061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Fuente, fecha y verificación permiten valorar la evidencia disponible.</a:t>
            </a:r>
            <a:endParaRPr lang="es-PE" sz="1800" dirty="0"/>
          </a:p>
        </p:txBody>
      </p:sp>
      <p:sp>
        <p:nvSpPr>
          <p:cNvPr id="26" name="Shape 21"/>
          <p:cNvSpPr/>
          <p:nvPr/>
        </p:nvSpPr>
        <p:spPr>
          <a:xfrm>
            <a:off x="10154327" y="6288413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10154327" y="6302129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s-PE" sz="1400" dirty="0"/>
          </a:p>
        </p:txBody>
      </p:sp>
      <p:sp>
        <p:nvSpPr>
          <p:cNvPr id="28" name="Text 23"/>
          <p:cNvSpPr/>
          <p:nvPr/>
        </p:nvSpPr>
        <p:spPr>
          <a:xfrm>
            <a:off x="640080" y="7754112"/>
            <a:ext cx="1335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6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Defensa Civil consulta sin modificar operaciones. Las observaciones externas no equivalen a una declaración oficial de emergencia.</a:t>
            </a:r>
            <a:endParaRPr lang="es-PE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26286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9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RESULTADOS</a:t>
            </a:r>
            <a:endParaRPr lang="es-PE" sz="19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335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3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 final y conclusión</a:t>
            </a:r>
            <a:endParaRPr lang="es-PE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335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4B66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MK-10 · La instantánea de cierre conserva lo entregado y las brechas de satisfacción.</a:t>
            </a:r>
            <a:endParaRPr lang="es-PE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92224"/>
            <a:ext cx="13350240" cy="0"/>
          </a:xfrm>
          <a:prstGeom prst="line">
            <a:avLst/>
          </a:prstGeom>
          <a:noFill/>
          <a:ln w="10160">
            <a:solidFill>
              <a:srgbClr val="D6E3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656564" y="256032"/>
            <a:ext cx="333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PE" altLang="en-US" sz="1500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s-PE" sz="1500" dirty="0"/>
          </a:p>
        </p:txBody>
      </p:sp>
      <p:pic>
        <p:nvPicPr>
          <p:cNvPr id="8" name="Image 0" descr="Recorte fiel de 06-supervision/MK-10-informe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373497" cy="51398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509701" y="2103120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509701" y="2116836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11" name="Text 7"/>
          <p:cNvSpPr/>
          <p:nvPr/>
        </p:nvSpPr>
        <p:spPr>
          <a:xfrm>
            <a:off x="11906600" y="2093976"/>
            <a:ext cx="2083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Cantidades conciliadas</a:t>
            </a:r>
            <a:endParaRPr lang="es-PE" sz="1800" dirty="0"/>
          </a:p>
        </p:txBody>
      </p:sp>
      <p:sp>
        <p:nvSpPr>
          <p:cNvPr id="12" name="Text 8"/>
          <p:cNvSpPr/>
          <p:nvPr/>
        </p:nvSpPr>
        <p:spPr>
          <a:xfrm>
            <a:off x="11509701" y="2807208"/>
            <a:ext cx="248061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118/120 bidones y</a:t>
            </a:r>
            <a:endParaRPr lang="es-PE" sz="1800" dirty="0"/>
          </a:p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78/80 frazadas conformes.</a:t>
            </a:r>
            <a:endParaRPr lang="es-PE" sz="1800" dirty="0"/>
          </a:p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despachos finalizados.</a:t>
            </a:r>
            <a:endParaRPr lang="es-PE" sz="1800" dirty="0"/>
          </a:p>
        </p:txBody>
      </p:sp>
      <p:sp>
        <p:nvSpPr>
          <p:cNvPr id="13" name="Shape 9"/>
          <p:cNvSpPr/>
          <p:nvPr/>
        </p:nvSpPr>
        <p:spPr>
          <a:xfrm>
            <a:off x="6482984" y="4785864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82984" y="4799580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s-PE" sz="1400" dirty="0"/>
          </a:p>
        </p:txBody>
      </p:sp>
      <p:sp>
        <p:nvSpPr>
          <p:cNvPr id="15" name="Shape 11"/>
          <p:cNvSpPr/>
          <p:nvPr/>
        </p:nvSpPr>
        <p:spPr>
          <a:xfrm>
            <a:off x="11509701" y="3950208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509701" y="3963924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s-PE" sz="1400" dirty="0"/>
          </a:p>
        </p:txBody>
      </p:sp>
      <p:sp>
        <p:nvSpPr>
          <p:cNvPr id="17" name="Text 13"/>
          <p:cNvSpPr/>
          <p:nvPr/>
        </p:nvSpPr>
        <p:spPr>
          <a:xfrm>
            <a:off x="11906600" y="3941064"/>
            <a:ext cx="2083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Brechas diferentes</a:t>
            </a:r>
            <a:endParaRPr lang="es-PE" sz="1800" dirty="0"/>
          </a:p>
        </p:txBody>
      </p:sp>
      <p:sp>
        <p:nvSpPr>
          <p:cNvPr id="18" name="Text 14"/>
          <p:cNvSpPr/>
          <p:nvPr/>
        </p:nvSpPr>
        <p:spPr>
          <a:xfrm>
            <a:off x="11509701" y="4654296"/>
            <a:ext cx="248061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autorizar: 0.</a:t>
            </a:r>
            <a:endParaRPr lang="es-PE" sz="1800" dirty="0"/>
          </a:p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Brecha de satisfacción:</a:t>
            </a:r>
            <a:endParaRPr lang="es-PE" sz="1800" dirty="0"/>
          </a:p>
          <a:p>
            <a:pPr indent="0" marL="0">
              <a:buNone/>
            </a:pPr>
            <a:r>
              <a:rPr lang="es-PE" altLang="en-US" sz="1800" dirty="0">
                <a:solidFill>
                  <a:srgbClr val="183B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por producto.</a:t>
            </a:r>
            <a:endParaRPr lang="es-PE" sz="1800" dirty="0"/>
          </a:p>
        </p:txBody>
      </p:sp>
      <p:sp>
        <p:nvSpPr>
          <p:cNvPr id="19" name="Shape 15"/>
          <p:cNvSpPr/>
          <p:nvPr/>
        </p:nvSpPr>
        <p:spPr>
          <a:xfrm>
            <a:off x="10154327" y="5098319"/>
            <a:ext cx="288654" cy="28865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7F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154327" y="5112035"/>
            <a:ext cx="2886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PE" altLang="en-US" sz="1400" b="1" dirty="0">
                <a:solidFill>
                  <a:srgbClr val="007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s-PE" sz="1400" dirty="0"/>
          </a:p>
        </p:txBody>
      </p:sp>
      <p:sp>
        <p:nvSpPr>
          <p:cNvPr id="21" name="Text 17"/>
          <p:cNvSpPr/>
          <p:nvPr/>
        </p:nvSpPr>
        <p:spPr>
          <a:xfrm>
            <a:off x="640080" y="7388352"/>
            <a:ext cx="1335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PE" altLang="en-US" sz="2000" b="1" dirty="0">
                <a:solidFill>
                  <a:srgbClr val="123D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Alivía vincula necesidades, decisiones y entregas para reconstruir quién aportó, qué se trasladó y qué recibió conforme cada comunidad.</a:t>
            </a:r>
            <a:endParaRPr lang="es-PE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Universidad Nacional de Piura (UNP)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Alivía — Análisis y diseño del sistema · Revisión v3</dc:title>
  <dc:subject>Ingeniería de Software</dc:subject>
  <dc:creator>Equipo Alivía · Universidad Nacional de Piura</dc:creator>
  <cp:lastModifiedBy>Equipo Alivía · Universidad Nacional de Piura</cp:lastModifiedBy>
  <cp:revision>1</cp:revision>
  <dcterms:created xsi:type="dcterms:W3CDTF">2026-10-19T13:19:00Z</dcterms:created>
  <dcterms:modified xsi:type="dcterms:W3CDTF">2026-10-19T13:19:00Z</dcterms:modified>
</cp:coreProperties>
</file>